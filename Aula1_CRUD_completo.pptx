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</p:sldIdLst>
  <p:notesMasterIdLst>
    <p:notesMasterId r:id="rId24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Abertura" id="{91552a1a-ccf3-ad75-d043-391c999aebf1}">
          <p14:sldIdLst>
            <p14:sldId id="256"/>
            <p14:sldId id="257"/>
            <p14:sldId id="258"/>
            <p14:sldId id="259"/>
          </p14:sldIdLst>
        </p14:section>
        <p14:section name="Exposição" id="{9ef482ed-0c4d-239c-6a89-625e6a364c35}">
          <p14:sldIdLst>
            <p14:sldId id="260"/>
            <p14:sldId id="261"/>
            <p14:sldId id="262"/>
            <p14:sldId id="263"/>
            <p14:sldId id="264"/>
            <p14:sldId id="265"/>
            <p14:sldId id="266"/>
            <p14:sldId id="267"/>
            <p14:sldId id="268"/>
            <p14:sldId id="269"/>
            <p14:sldId id="270"/>
            <p14:sldId id="271"/>
          </p14:sldIdLst>
        </p14:section>
        <p14:section name="Prática" id="{997b8c51-189f-e9bd-4525-fa2b397b08de}">
          <p14:sldIdLst>
            <p14:sldId id="272"/>
            <p14:sldId id="273"/>
            <p14:sldId id="274"/>
            <p14:sldId id="275"/>
            <p14:sldId id="276"/>
            <p14:sldId id="277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notesMaster" Target="notesMasters/notesMaster1.xml"/><Relationship Id="rId25" Type="http://schemas.openxmlformats.org/officeDocument/2006/relationships/presProps" Target="presProps.xml"/><Relationship Id="rId26" Type="http://schemas.openxmlformats.org/officeDocument/2006/relationships/viewProps" Target="viewProps.xml"/><Relationship Id="rId27" Type="http://schemas.openxmlformats.org/officeDocument/2006/relationships/theme" Target="theme/theme1.xml"/><Relationship Id="rId2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Abertura. Esta aula continua de onde a aula de Django parou: os grupos saíram com os TODOs 1 a 3 (modelos) para fechar em casa. Hoje: regras de negócio (onde cada uma mora), formulários que validam e o CRUD de aluno completo.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≈ 4 min. Leia os quatro incidentes e pergunte à turma, antes de explicar: algum deles é erro de SQL? Não. São decisões de projeto que ficaram sem dono. Volte a este slide no fim da exposição e peça para a turma dizer qual camada resolve cada incidente: F5 → POST/Redirect/GET (view); e-mail → instance= (view); notas sumiram → on_delete=PROTECT (modelo/banco); nota 11 → validators (modelo) + mensagem (form).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≈ 1 min.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50 minutos de exposição com demonstração, depois laboratório até o fim da aula.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≈ 4 min. Correção coletiva do dever de casa (TODOs 1 a 3). Peça para cada grupo conferir item a item. Quem não terminou usa este slide como referência e migra antes do laboratório. Lembre: fazer os três modelos juntos e migrar uma vez só evita a pergunta de default para coluna nova.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≈ 3 min. Pergunte antes de revelar: um aluno tirou 0 e 8; que média aparece? Resposta: None (a célula fica vazia). Em Python, 0 é falso, então `not self.nota1` é True para a nota zero. Correção: comparar com None explicitamente (`if self.nota1 is None or self.nota2 is None`). Está em material/09-erros-comuns.md e os testes do verificar.py conferem.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≈ 5 min. A ideia central da aula. Leia de baixo para cima: o banco é a última barreira (vale até para quem grava pelo shell); o modelo carrega a regra de negócio (vale para tela, admin e seed); o formulário traduz em mensagem e normaliza; a view só orquestra. Conecte com o requisito 5 da entrega: a regra de negócio mora no modelo.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≈ 5 min. Percorra a tabela ligando cada linha às camadas do slide anterior. Destaque a matrícula única: checar com `if Aluno.objects.filter(...)` não basta, porque duas abas podem salvar ao mesmo tempo; quem garante é o UNIQUE do banco, e o ModelForm só traduz o erro. Esta tabela é praticamente o que o bônus de validação pede no README.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≈ 6 min. Demonstração ao vivo: cadastre uma disciplina com código ' ara0095 ' e carga 0. Mostre o erro aparecendo embaixo do campo e o código salvo normalizado. Depois apague o `return` do clean_codigo e mostre o NOT NULL constraint failed: o campo virou None. É o erro mais comum desta parte (material/09).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≈ 4 min. Desenhe o fluxo antes de mostrar código. Os dois caminhos que voltam para a tela (GET e POST inválido) usam o mesmo render; o único caminho que sai é o POST válido, e ele sai com redirect. Peça para a turma abrir contas/views.py, usuario_novo, e achar cada caixa do diagrama no código.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≈ 3 min. Demonstração: troque temporariamente o redirect por um render da lista, cadastre um aluno e aperte F5. O navegador pergunta se quer reenviar o formulário; confirme e mostre a duplicata (ou o erro de UNIQUE). Volte o redirect e repita: o F5 só repete o GET.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≈ 4 min. É a pergunta 6 da arguição (material/07): qual a única diferença entre criar e editar? Resposta: buscar o objeto e passar instance=. Sem instance o save() faz INSERT e cria outro aluno (o chamado do e-mail). Com instance vira UPDATE ... WHERE id = %s, o WHERE obrigatório do item 4 da rubrica. Mostre também /academico/alunos/999/editar/ devolvendo 404.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≈ 4 min. GET precisa ser seguro: robôs de busca, pré-carregadores e o histórico do navegador visitam URLs sozinhos. Por isso o GET só mostra a confirmação, e o POST (com csrf_token) executa. Demonstração: tente excluir um aluno que tem inscrição; com PROTECT o banco recusa, e o try/except transforma o ProtectedError em mensagem.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≈ 5 min. Abra para debate antes de mostrar as colunas: num sistema acadêmico, apagar ou desativar? O app contas usa soft delete (usuario_excluir) e explica por quê no docstring: o registro tem valor histórico. Não existe resposta única; o bônus (+0,5) vale pela justificativa no README, com o que se ganha e o que se perde.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≈ 3 min. Requisito 9 da entrega: duplicidade vira mensagem, não traceback. Generalize: todo erro que dá para prever tem uma resposta na tela. Lembre que o DEBUG=True mostra a página amarela para estudar; em produção, o usuário veria um erro 500 genérico.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≈ 1 min. Se der tempo, volte ao slide 2 e peça para a turma resolver cada chamado com o que viu.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Início do laboratório.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Em duplas, 10 min. Cada trecho tem um defeito que já apareceu em trabalhos. Respostas: A) falta instance=aluno: o save() cria outro aluno. B) apaga no GET, sem confirmação: qualquer robô ou pré-carregador exclui alunos. C) falta o return: o código vira None e o banco reclama de NOT NULL. D) sem redirect: o F5 reenvia o POST e duplica o cadastro. Atividade verificadora: cada dupla diz o defeito e a correção de um trecho sorteado.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≈ 20 min. Os três forms são rápidos (uma lista de campos no Meta). Quem já terminou em casa adianta as validações do bônus. Circule pelos grupos conferindo o widget de data: sem format='%Y-%m-%d' a data some ao editar.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Até o fim da aula. É o bloco que mais vale (item 2 da rubrica) e o resto do trabalho repete este padrão. Sugira que cada integrante implemente uma view e explique para os outros antes de seguir.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Atividade verificadora da aula: antes de sair, cada grupo mostra ao professor pelo menos três destes testes funcionando. O verificar.py confere o código; estes testes conferem a experiência de quem usa.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Próxima aula: inscrições e notas (N:N), problema N+1, design de interface e admin.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UDO">
    <p:bg>
      <p:bgPr>
        <a:solidFill>
          <a:schemeClr val="bg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82880"/>
          </a:xfrm>
          <a:prstGeom prst="rect">
            <a:avLst/>
          </a:prstGeom>
          <a:solidFill>
            <a:schemeClr val="bg2"/>
          </a:solidFill>
          <a:ln/>
        </p:spPr>
      </p:sp>
      <p:sp>
        <p:nvSpPr>
          <p:cNvPr id="3" name="Shape 1"/>
          <p:cNvSpPr/>
          <p:nvPr/>
        </p:nvSpPr>
        <p:spPr>
          <a:xfrm>
            <a:off x="219456" y="676656"/>
            <a:ext cx="384048" cy="0"/>
          </a:xfrm>
          <a:prstGeom prst="line">
            <a:avLst/>
          </a:prstGeom>
          <a:noFill/>
          <a:ln w="38100">
            <a:solidFill>
              <a:schemeClr val="tx2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4901184"/>
            <a:ext cx="7498080" cy="242316"/>
          </a:xfrm>
          <a:prstGeom prst="rect">
            <a:avLst/>
          </a:prstGeom>
          <a:solidFill>
            <a:schemeClr val="tx2"/>
          </a:solidFill>
          <a:ln/>
        </p:spPr>
      </p:sp>
      <p:sp>
        <p:nvSpPr>
          <p:cNvPr id="5" name="Shape 3"/>
          <p:cNvSpPr/>
          <p:nvPr/>
        </p:nvSpPr>
        <p:spPr>
          <a:xfrm>
            <a:off x="7498080" y="4901184"/>
            <a:ext cx="1581912" cy="242316"/>
          </a:xfrm>
          <a:prstGeom prst="rect">
            <a:avLst/>
          </a:prstGeom>
          <a:solidFill>
            <a:schemeClr val="accent1"/>
          </a:solidFill>
          <a:ln/>
        </p:spPr>
      </p:sp>
      <p:sp>
        <p:nvSpPr>
          <p:cNvPr id="6" name="Shape 4"/>
          <p:cNvSpPr/>
          <p:nvPr/>
        </p:nvSpPr>
        <p:spPr>
          <a:xfrm>
            <a:off x="9079992" y="4901184"/>
            <a:ext cx="64008" cy="242316"/>
          </a:xfrm>
          <a:prstGeom prst="rect">
            <a:avLst/>
          </a:prstGeom>
          <a:solidFill>
            <a:schemeClr val="accent2"/>
          </a:solidFill>
          <a:ln/>
        </p:spPr>
      </p:sp>
      <p:sp>
        <p:nvSpPr>
          <p:cNvPr id="7" name="Text 5"/>
          <p:cNvSpPr/>
          <p:nvPr>
            <p:ph idx="105" type="title" hasCustomPrompt="1"/>
          </p:nvPr>
        </p:nvSpPr>
        <p:spPr>
          <a:xfrm>
            <a:off x="786384" y="329184"/>
            <a:ext cx="7589520" cy="603504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200" dirty="0">
                <a:solidFill>
                  <a:schemeClr val="tx2"/>
                </a:solidFill>
              </a:defRPr>
            </a:lvl1pPr>
          </a:lstStyle>
          <a:p>
            <a:pPr algn="l" indent="0" marL="0">
              <a:buNone/>
            </a:pPr>
            <a:endParaRPr lang="en-US" sz="320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APA">
    <p:bg>
      <p:bgPr>
        <a:solidFill>
          <a:schemeClr val="accen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68096" cy="5143500"/>
          </a:xfrm>
          <a:prstGeom prst="rect">
            <a:avLst/>
          </a:prstGeom>
          <a:solidFill>
            <a:schemeClr val="tx2"/>
          </a:solidFill>
          <a:ln/>
        </p:spPr>
      </p:sp>
      <p:sp>
        <p:nvSpPr>
          <p:cNvPr id="3" name="Shape 1"/>
          <p:cNvSpPr/>
          <p:nvPr/>
        </p:nvSpPr>
        <p:spPr>
          <a:xfrm>
            <a:off x="768096" y="0"/>
            <a:ext cx="5349240" cy="5143500"/>
          </a:xfrm>
          <a:prstGeom prst="rect">
            <a:avLst/>
          </a:prstGeom>
          <a:solidFill>
            <a:schemeClr val="accent1"/>
          </a:solidFill>
          <a:ln/>
        </p:spPr>
      </p:sp>
      <p:sp>
        <p:nvSpPr>
          <p:cNvPr id="4" name="Shape 2"/>
          <p:cNvSpPr/>
          <p:nvPr/>
        </p:nvSpPr>
        <p:spPr>
          <a:xfrm>
            <a:off x="6117336" y="0"/>
            <a:ext cx="3026664" cy="5143500"/>
          </a:xfrm>
          <a:prstGeom prst="rect">
            <a:avLst/>
          </a:prstGeom>
          <a:solidFill>
            <a:schemeClr val="accent3"/>
          </a:solidFill>
          <a:ln/>
        </p:spPr>
      </p:sp>
      <p:sp>
        <p:nvSpPr>
          <p:cNvPr id="5" name="Text 3"/>
          <p:cNvSpPr/>
          <p:nvPr/>
        </p:nvSpPr>
        <p:spPr>
          <a:xfrm>
            <a:off x="996696" y="502920"/>
            <a:ext cx="4937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chemeClr val="accent5"/>
                </a:solidFill>
              </a:rPr>
              <a:t>ARA0095 · Desenvolvimento Rápido de Aplicações em Python</a:t>
            </a:r>
            <a:endParaRPr lang="en-US" sz="1200" dirty="0"/>
          </a:p>
        </p:txBody>
      </p:sp>
      <p:sp>
        <p:nvSpPr>
          <p:cNvPr id="6" name="Text 4"/>
          <p:cNvSpPr/>
          <p:nvPr>
            <p:ph idx="104" type="title" hasCustomPrompt="1"/>
          </p:nvPr>
        </p:nvSpPr>
        <p:spPr>
          <a:xfrm>
            <a:off x="996696" y="1325880"/>
            <a:ext cx="4434840" cy="169164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000" dirty="0">
                <a:solidFill>
                  <a:schemeClr val="bg1"/>
                </a:solidFill>
              </a:defRPr>
            </a:lvl1pPr>
          </a:lstStyle>
          <a:p>
            <a:pPr algn="l" indent="0" marL="0">
              <a:buNone/>
            </a:pPr>
            <a:endParaRPr lang="en-US" sz="4000" dirty="0"/>
          </a:p>
        </p:txBody>
      </p:sp>
      <p:sp>
        <p:nvSpPr>
          <p:cNvPr id="7" name="Text 4"/>
          <p:cNvSpPr/>
          <p:nvPr>
            <p:ph idx="105" type="body" hasCustomPrompt="1"/>
          </p:nvPr>
        </p:nvSpPr>
        <p:spPr>
          <a:xfrm>
            <a:off x="996696" y="3200400"/>
            <a:ext cx="4434840" cy="10972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1600" dirty="0">
                <a:solidFill>
                  <a:schemeClr val="bg2"/>
                </a:solidFill>
              </a:defRPr>
            </a:lvl1pPr>
          </a:lstStyle>
          <a:p>
            <a:pPr algn="l" indent="0" marL="0">
              <a:buNone/>
            </a:pPr>
            <a:endParaRPr lang="en-US" sz="1600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IVISOR">
    <p:bg>
      <p:bgPr>
        <a:solidFill>
          <a:schemeClr val="accen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68096" cy="5143500"/>
          </a:xfrm>
          <a:prstGeom prst="rect">
            <a:avLst/>
          </a:prstGeom>
          <a:solidFill>
            <a:schemeClr val="tx2"/>
          </a:solidFill>
          <a:ln/>
        </p:spPr>
      </p:sp>
      <p:sp>
        <p:nvSpPr>
          <p:cNvPr id="3" name="Shape 1"/>
          <p:cNvSpPr/>
          <p:nvPr/>
        </p:nvSpPr>
        <p:spPr>
          <a:xfrm>
            <a:off x="768096" y="0"/>
            <a:ext cx="5349240" cy="5143500"/>
          </a:xfrm>
          <a:prstGeom prst="rect">
            <a:avLst/>
          </a:prstGeom>
          <a:solidFill>
            <a:schemeClr val="accent1"/>
          </a:solidFill>
          <a:ln/>
        </p:spPr>
      </p:sp>
      <p:sp>
        <p:nvSpPr>
          <p:cNvPr id="4" name="Shape 2"/>
          <p:cNvSpPr/>
          <p:nvPr/>
        </p:nvSpPr>
        <p:spPr>
          <a:xfrm>
            <a:off x="6117336" y="0"/>
            <a:ext cx="3026664" cy="5143500"/>
          </a:xfrm>
          <a:prstGeom prst="rect">
            <a:avLst/>
          </a:prstGeom>
          <a:solidFill>
            <a:schemeClr val="accent3"/>
          </a:solidFill>
          <a:ln/>
        </p:spPr>
      </p:sp>
      <p:sp>
        <p:nvSpPr>
          <p:cNvPr id="5" name="Text 3"/>
          <p:cNvSpPr/>
          <p:nvPr/>
        </p:nvSpPr>
        <p:spPr>
          <a:xfrm>
            <a:off x="996696" y="502920"/>
            <a:ext cx="4937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chemeClr val="accent5"/>
                </a:solidFill>
              </a:rPr>
              <a:t>ARA0095 · Desenvolvimento Rápido de Aplicações em Python</a:t>
            </a:r>
            <a:endParaRPr lang="en-US" sz="1200" dirty="0"/>
          </a:p>
        </p:txBody>
      </p:sp>
      <p:sp>
        <p:nvSpPr>
          <p:cNvPr id="6" name="Text 4"/>
          <p:cNvSpPr/>
          <p:nvPr>
            <p:ph idx="104" type="title" hasCustomPrompt="1"/>
          </p:nvPr>
        </p:nvSpPr>
        <p:spPr>
          <a:xfrm>
            <a:off x="996696" y="1737360"/>
            <a:ext cx="4434840" cy="146304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000" dirty="0">
                <a:solidFill>
                  <a:schemeClr val="bg1"/>
                </a:solidFill>
              </a:defRPr>
            </a:lvl1pPr>
          </a:lstStyle>
          <a:p>
            <a:pPr algn="l" indent="0" marL="0">
              <a:buNone/>
            </a:pPr>
            <a:endParaRPr lang="en-US" sz="4000" dirty="0"/>
          </a:p>
        </p:txBody>
      </p:sp>
      <p:sp>
        <p:nvSpPr>
          <p:cNvPr id="7" name="Text 4"/>
          <p:cNvSpPr/>
          <p:nvPr>
            <p:ph idx="105" type="body" hasCustomPrompt="1"/>
          </p:nvPr>
        </p:nvSpPr>
        <p:spPr>
          <a:xfrm>
            <a:off x="996696" y="3246120"/>
            <a:ext cx="4434840" cy="82296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1600" dirty="0">
                <a:solidFill>
                  <a:schemeClr val="bg2"/>
                </a:solidFill>
              </a:defRPr>
            </a:lvl1pPr>
          </a:lstStyle>
          <a:p>
            <a:pPr algn="l" indent="0" marL="0">
              <a:buNone/>
            </a:pPr>
            <a:endParaRPr lang="en-US" sz="1600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slideLayout" Target="../slideLayouts/slideLayout2.xml"/><Relationship Id="rId6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slideLayout" Target="../slideLayouts/slideLayout2.xml"/><Relationship Id="rId5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image" Target="../media/image-5-4.png"/><Relationship Id="rId5" Type="http://schemas.openxmlformats.org/officeDocument/2006/relationships/image" Target="../media/image-5-5.png"/><Relationship Id="rId6" Type="http://schemas.openxmlformats.org/officeDocument/2006/relationships/image" Target="../media/image-5-6.png"/><Relationship Id="rId7" Type="http://schemas.openxmlformats.org/officeDocument/2006/relationships/slideLayout" Target="../slideLayouts/slideLayout2.xml"/><Relationship Id="rId8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image" Target="../media/image-11-2.png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image" Target="../media/image-13-2.png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image" Target="../media/image-14-2.png"/><Relationship Id="rId3" Type="http://schemas.openxmlformats.org/officeDocument/2006/relationships/image" Target="../media/image-14-3.png"/><Relationship Id="rId4" Type="http://schemas.openxmlformats.org/officeDocument/2006/relationships/image" Target="../media/image-14-4.png"/><Relationship Id="rId5" Type="http://schemas.openxmlformats.org/officeDocument/2006/relationships/image" Target="../media/image-14-5.png"/><Relationship Id="rId6" Type="http://schemas.openxmlformats.org/officeDocument/2006/relationships/image" Target="../media/image-14-6.png"/><Relationship Id="rId7" Type="http://schemas.openxmlformats.org/officeDocument/2006/relationships/image" Target="../media/image-14-7.png"/><Relationship Id="rId8" Type="http://schemas.openxmlformats.org/officeDocument/2006/relationships/image" Target="../media/image-14-8.png"/><Relationship Id="rId9" Type="http://schemas.openxmlformats.org/officeDocument/2006/relationships/slideLayout" Target="../slideLayouts/slideLayout2.xml"/><Relationship Id="rId10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9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0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1-1.png"/><Relationship Id="rId2" Type="http://schemas.openxmlformats.org/officeDocument/2006/relationships/image" Target="../media/image-21-2.png"/><Relationship Id="rId3" Type="http://schemas.openxmlformats.org/officeDocument/2006/relationships/image" Target="../media/image-21-3.png"/><Relationship Id="rId4" Type="http://schemas.openxmlformats.org/officeDocument/2006/relationships/image" Target="../media/image-21-4.png"/><Relationship Id="rId5" Type="http://schemas.openxmlformats.org/officeDocument/2006/relationships/image" Target="../media/image-21-5.png"/><Relationship Id="rId6" Type="http://schemas.openxmlformats.org/officeDocument/2006/relationships/image" Target="../media/image-21-6.png"/><Relationship Id="rId7" Type="http://schemas.openxmlformats.org/officeDocument/2006/relationships/slideLayout" Target="../slideLayouts/slideLayout2.xml"/><Relationship Id="rId8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2-1.png"/><Relationship Id="rId2" Type="http://schemas.openxmlformats.org/officeDocument/2006/relationships/image" Target="../media/image-22-2.png"/><Relationship Id="rId3" Type="http://schemas.openxmlformats.org/officeDocument/2006/relationships/image" Target="../media/image-22-3.png"/><Relationship Id="rId4" Type="http://schemas.openxmlformats.org/officeDocument/2006/relationships/image" Target="../media/image-22-4.png"/><Relationship Id="rId5" Type="http://schemas.openxmlformats.org/officeDocument/2006/relationships/slideLayout" Target="../slideLayouts/slideLayout2.xml"/><Relationship Id="rId6" Type="http://schemas.openxmlformats.org/officeDocument/2006/relationships/notesSlide" Target="../notesSlides/notesSlide2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4"/>
          <p:cNvSpPr/>
          <p:nvPr>
            <p:ph idx="104" type="title" hasCustomPrompt="1"/>
          </p:nvPr>
        </p:nvSpPr>
        <p:spPr>
          <a:xfrm>
            <a:off x="996696" y="1325880"/>
            <a:ext cx="4434840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4000" dirty="0">
                <a:solidFill>
                  <a:schemeClr val="bg1"/>
                </a:solidFill>
              </a:rPr>
              <a:t>CRUD completo: editar, excluir e validar</a:t>
            </a:r>
            <a:endParaRPr lang="en-US" sz="4000" dirty="0"/>
          </a:p>
        </p:txBody>
      </p:sp>
      <p:sp>
        <p:nvSpPr>
          <p:cNvPr id="3" name="Text 4"/>
          <p:cNvSpPr/>
          <p:nvPr>
            <p:ph idx="105" type="body" hasCustomPrompt="1"/>
          </p:nvPr>
        </p:nvSpPr>
        <p:spPr>
          <a:xfrm>
            <a:off x="996696" y="3200400"/>
            <a:ext cx="44348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dirty="0">
                <a:solidFill>
                  <a:schemeClr val="bg2"/>
                </a:solidFill>
              </a:rPr>
              <a:t>Aula 1 de 3 · Tema 5, Aplicando RAD</a:t>
            </a:r>
            <a:endParaRPr lang="en-US" sz="1600" dirty="0"/>
          </a:p>
          <a:p>
            <a:pPr algn="l" indent="0" marL="0">
              <a:buNone/>
            </a:pPr>
            <a:r>
              <a:rPr lang="en-US" sz="1600" dirty="0">
                <a:solidFill>
                  <a:schemeClr val="bg2"/>
                </a:solidFill>
              </a:rPr>
              <a:t>Modelagem de negócios e dados: onde mora cada regra</a:t>
            </a:r>
            <a:endParaRPr lang="en-US" sz="1600" dirty="0"/>
          </a:p>
        </p:txBody>
      </p:sp>
      <p:sp>
        <p:nvSpPr>
          <p:cNvPr id="4" name="capa fundo"/>
          <p:cNvSpPr/>
          <p:nvPr/>
        </p:nvSpPr>
        <p:spPr>
          <a:xfrm>
            <a:off x="5669280" y="1666608"/>
            <a:ext cx="3246120" cy="1810283"/>
          </a:xfrm>
          <a:prstGeom prst="roundRect">
            <a:avLst>
              <a:gd name="adj" fmla="val 4041"/>
            </a:avLst>
          </a:prstGeom>
          <a:solidFill>
            <a:srgbClr val="1E2433"/>
          </a:solidFill>
          <a:ln w="12700">
            <a:solidFill>
              <a:srgbClr val="1E2433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833872" y="1785480"/>
            <a:ext cx="91440" cy="91440"/>
          </a:xfrm>
          <a:prstGeom prst="ellipse">
            <a:avLst/>
          </a:prstGeom>
          <a:solidFill>
            <a:srgbClr val="FF5F57"/>
          </a:solidFill>
          <a:ln w="12700">
            <a:solidFill>
              <a:srgbClr val="FF5F57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980176" y="1785480"/>
            <a:ext cx="91440" cy="91440"/>
          </a:xfrm>
          <a:prstGeom prst="ellipse">
            <a:avLst/>
          </a:prstGeom>
          <a:solidFill>
            <a:srgbClr val="FEBC2E"/>
          </a:solidFill>
          <a:ln w="12700">
            <a:solidFill>
              <a:srgbClr val="FEBC2E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6126480" y="1785480"/>
            <a:ext cx="91440" cy="91440"/>
          </a:xfrm>
          <a:prstGeom prst="ellipse">
            <a:avLst/>
          </a:prstGeom>
          <a:solidFill>
            <a:srgbClr val="28C840"/>
          </a:solidFill>
          <a:ln w="12700">
            <a:solidFill>
              <a:srgbClr val="28C840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6327648" y="1721472"/>
            <a:ext cx="24231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academico/views.py · TODO 9a</a:t>
            </a:r>
            <a:endParaRPr lang="en-US" sz="900" dirty="0"/>
          </a:p>
        </p:txBody>
      </p:sp>
      <p:sp>
        <p:nvSpPr>
          <p:cNvPr id="9" name="capa texto"/>
          <p:cNvSpPr txBox="1"/>
          <p:nvPr/>
        </p:nvSpPr>
        <p:spPr>
          <a:xfrm>
            <a:off x="5888736" y="2050656"/>
            <a:ext cx="2880360" cy="133479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aluno = get_object_or_404(Aluno, pk=pk)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form = AlunoForm(request.POST,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     instance=aluno)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7DC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if</a:t>
            </a:r>
            <a:pPr indent="0" marL="0">
              <a:buNone/>
            </a:pPr>
            <a:r>
              <a:rPr lang="en-US" sz="10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form.is_valid():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form.save()  </a:t>
            </a:r>
            <a:pPr indent="0" marL="0">
              <a:buNone/>
            </a:pPr>
            <a:r>
              <a:rPr lang="en-US" sz="1000" i="1" dirty="0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UPDATE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</a:t>
            </a:r>
            <a:pPr indent="0" marL="0">
              <a:buNone/>
            </a:pPr>
            <a:r>
              <a:rPr lang="en-US" sz="1000" dirty="0">
                <a:solidFill>
                  <a:srgbClr val="7DC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return</a:t>
            </a:r>
            <a:pPr indent="0" marL="0">
              <a:buNone/>
            </a:pPr>
            <a:r>
              <a:rPr lang="en-US" sz="10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redirect(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</a:t>
            </a:r>
            <a:pPr indent="0" marL="0">
              <a:buNone/>
            </a:pPr>
            <a:r>
              <a:rPr lang="en-US" sz="1000" dirty="0">
                <a:solidFill>
                  <a:srgbClr val="F0C67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"academico:aluno_lista"</a:t>
            </a:r>
            <a:pPr indent="0" marL="0">
              <a:buNone/>
            </a:pPr>
            <a:r>
              <a:rPr lang="en-US" sz="10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5"/>
          <p:cNvSpPr/>
          <p:nvPr>
            <p:ph idx="105" type="title" hasCustomPrompt="1"/>
          </p:nvPr>
        </p:nvSpPr>
        <p:spPr>
          <a:xfrm>
            <a:off x="786384" y="329184"/>
            <a:ext cx="758952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dirty="0">
                <a:solidFill>
                  <a:schemeClr val="tx2"/>
                </a:solidFill>
              </a:rPr>
              <a:t>Situação-problema</a:t>
            </a:r>
            <a:endParaRPr lang="en-US" sz="3200" dirty="0"/>
          </a:p>
        </p:txBody>
      </p:sp>
      <p:sp>
        <p:nvSpPr>
          <p:cNvPr id="4" name="Text 1"/>
          <p:cNvSpPr txBox="1"/>
          <p:nvPr/>
        </p:nvSpPr>
        <p:spPr>
          <a:xfrm>
            <a:off x="768096" y="1078992"/>
            <a:ext cx="760780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3A3F44"/>
                </a:solidFill>
              </a:rPr>
              <a:t>Primeira semana do sistema no ar. A secretaria abre quatro chamados:</a:t>
            </a:r>
            <a:endParaRPr lang="en-US" sz="1600" dirty="0"/>
          </a:p>
        </p:txBody>
      </p:sp>
      <p:sp>
        <p:nvSpPr>
          <p:cNvPr id="5" name="card “Apertei F5 e o aluno apareceu duas vezes”"/>
          <p:cNvSpPr/>
          <p:nvPr/>
        </p:nvSpPr>
        <p:spPr>
          <a:xfrm>
            <a:off x="768096" y="1572768"/>
            <a:ext cx="3712464" cy="1207008"/>
          </a:xfrm>
          <a:prstGeom prst="roundRect">
            <a:avLst>
              <a:gd name="adj" fmla="val 4545"/>
            </a:avLst>
          </a:prstGeom>
          <a:solidFill>
            <a:srgbClr val="E3EFF1"/>
          </a:solidFill>
          <a:ln w="12700">
            <a:solidFill>
              <a:srgbClr val="E3EFF1"/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>
            <a:off x="969264" y="1755648"/>
            <a:ext cx="512064" cy="512064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92159" y="1878543"/>
            <a:ext cx="266273" cy="266273"/>
          </a:xfrm>
          <a:prstGeom prst="rect">
            <a:avLst/>
          </a:prstGeom>
        </p:spPr>
      </p:pic>
      <p:sp>
        <p:nvSpPr>
          <p:cNvPr id="8" name="Text 4"/>
          <p:cNvSpPr txBox="1"/>
          <p:nvPr/>
        </p:nvSpPr>
        <p:spPr>
          <a:xfrm>
            <a:off x="1636776" y="1755648"/>
            <a:ext cx="266090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0397B"/>
                </a:solidFill>
              </a:rPr>
              <a:t>“Apertei F5 e o aluno apareceu duas vezes”</a:t>
            </a:r>
            <a:endParaRPr lang="en-US" sz="1500" dirty="0"/>
          </a:p>
        </p:txBody>
      </p:sp>
      <p:sp>
        <p:nvSpPr>
          <p:cNvPr id="9" name="Text 5"/>
          <p:cNvSpPr txBox="1"/>
          <p:nvPr/>
        </p:nvSpPr>
        <p:spPr>
          <a:xfrm>
            <a:off x="996696" y="2377440"/>
            <a:ext cx="330098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rgbClr val="3A3F44"/>
                </a:solidFill>
              </a:rPr>
              <a:t>Ou, com o UNIQUE, uma tela amarela de erro.</a:t>
            </a:r>
            <a:endParaRPr lang="en-US" sz="1400" dirty="0"/>
          </a:p>
        </p:txBody>
      </p:sp>
      <p:sp>
        <p:nvSpPr>
          <p:cNvPr id="10" name="card “Editei o e-mail e surgiu outro aluno”"/>
          <p:cNvSpPr/>
          <p:nvPr/>
        </p:nvSpPr>
        <p:spPr>
          <a:xfrm>
            <a:off x="4663440" y="1572768"/>
            <a:ext cx="3712464" cy="1207008"/>
          </a:xfrm>
          <a:prstGeom prst="roundRect">
            <a:avLst>
              <a:gd name="adj" fmla="val 4545"/>
            </a:avLst>
          </a:prstGeom>
          <a:solidFill>
            <a:srgbClr val="E3EFF1"/>
          </a:solidFill>
          <a:ln w="12700">
            <a:solidFill>
              <a:srgbClr val="E3EFF1"/>
            </a:solidFill>
            <a:prstDash val="solid"/>
          </a:ln>
        </p:spPr>
      </p:sp>
      <p:sp>
        <p:nvSpPr>
          <p:cNvPr id="11" name="Shape 7"/>
          <p:cNvSpPr/>
          <p:nvPr/>
        </p:nvSpPr>
        <p:spPr>
          <a:xfrm>
            <a:off x="4864608" y="1755648"/>
            <a:ext cx="512064" cy="512064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87503" y="1878543"/>
            <a:ext cx="266273" cy="266273"/>
          </a:xfrm>
          <a:prstGeom prst="rect">
            <a:avLst/>
          </a:prstGeom>
        </p:spPr>
      </p:pic>
      <p:sp>
        <p:nvSpPr>
          <p:cNvPr id="13" name="Text 8"/>
          <p:cNvSpPr txBox="1"/>
          <p:nvPr/>
        </p:nvSpPr>
        <p:spPr>
          <a:xfrm>
            <a:off x="5532120" y="1755648"/>
            <a:ext cx="266090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0397B"/>
                </a:solidFill>
              </a:rPr>
              <a:t>“Editei o e-mail e surgiu outro aluno”</a:t>
            </a:r>
            <a:endParaRPr lang="en-US" sz="1500" dirty="0"/>
          </a:p>
        </p:txBody>
      </p:sp>
      <p:sp>
        <p:nvSpPr>
          <p:cNvPr id="14" name="Text 9"/>
          <p:cNvSpPr txBox="1"/>
          <p:nvPr/>
        </p:nvSpPr>
        <p:spPr>
          <a:xfrm>
            <a:off x="4892040" y="2377440"/>
            <a:ext cx="330098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rgbClr val="3A3F44"/>
                </a:solidFill>
              </a:rPr>
              <a:t>O original continua lá, com o e-mail antigo.</a:t>
            </a:r>
            <a:endParaRPr lang="en-US" sz="1400" dirty="0"/>
          </a:p>
        </p:txBody>
      </p:sp>
      <p:sp>
        <p:nvSpPr>
          <p:cNvPr id="15" name="card “Excluí um aluno e as notas sumiram”"/>
          <p:cNvSpPr/>
          <p:nvPr/>
        </p:nvSpPr>
        <p:spPr>
          <a:xfrm>
            <a:off x="768096" y="2944368"/>
            <a:ext cx="3712464" cy="1207008"/>
          </a:xfrm>
          <a:prstGeom prst="roundRect">
            <a:avLst>
              <a:gd name="adj" fmla="val 4545"/>
            </a:avLst>
          </a:prstGeom>
          <a:solidFill>
            <a:srgbClr val="E3EFF1"/>
          </a:solidFill>
          <a:ln w="12700">
            <a:solidFill>
              <a:srgbClr val="E3EFF1"/>
            </a:solidFill>
            <a:prstDash val="solid"/>
          </a:ln>
        </p:spPr>
      </p:sp>
      <p:sp>
        <p:nvSpPr>
          <p:cNvPr id="16" name="Shape 11"/>
          <p:cNvSpPr/>
          <p:nvPr/>
        </p:nvSpPr>
        <p:spPr>
          <a:xfrm>
            <a:off x="969264" y="3127248"/>
            <a:ext cx="512064" cy="512064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pic>
        <p:nvPicPr>
          <p:cNvPr id="1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92159" y="3250143"/>
            <a:ext cx="266273" cy="266273"/>
          </a:xfrm>
          <a:prstGeom prst="rect">
            <a:avLst/>
          </a:prstGeom>
        </p:spPr>
      </p:pic>
      <p:sp>
        <p:nvSpPr>
          <p:cNvPr id="18" name="Text 12"/>
          <p:cNvSpPr txBox="1"/>
          <p:nvPr/>
        </p:nvSpPr>
        <p:spPr>
          <a:xfrm>
            <a:off x="1636776" y="3127248"/>
            <a:ext cx="266090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0397B"/>
                </a:solidFill>
              </a:rPr>
              <a:t>“Excluí um aluno e as notas sumiram”</a:t>
            </a:r>
            <a:endParaRPr lang="en-US" sz="1500" dirty="0"/>
          </a:p>
        </p:txBody>
      </p:sp>
      <p:sp>
        <p:nvSpPr>
          <p:cNvPr id="19" name="Text 13"/>
          <p:cNvSpPr txBox="1"/>
          <p:nvPr/>
        </p:nvSpPr>
        <p:spPr>
          <a:xfrm>
            <a:off x="996696" y="3749040"/>
            <a:ext cx="330098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rgbClr val="3A3F44"/>
                </a:solidFill>
              </a:rPr>
              <a:t>O histórico do semestre foi junto, sem aviso.</a:t>
            </a:r>
            <a:endParaRPr lang="en-US" sz="1400" dirty="0"/>
          </a:p>
        </p:txBody>
      </p:sp>
      <p:sp>
        <p:nvSpPr>
          <p:cNvPr id="20" name="card “O sistema aceitou nota 11”"/>
          <p:cNvSpPr/>
          <p:nvPr/>
        </p:nvSpPr>
        <p:spPr>
          <a:xfrm>
            <a:off x="4663440" y="2944368"/>
            <a:ext cx="3712464" cy="1207008"/>
          </a:xfrm>
          <a:prstGeom prst="roundRect">
            <a:avLst>
              <a:gd name="adj" fmla="val 4545"/>
            </a:avLst>
          </a:prstGeom>
          <a:solidFill>
            <a:srgbClr val="E3EFF1"/>
          </a:solidFill>
          <a:ln w="12700">
            <a:solidFill>
              <a:srgbClr val="E3EFF1"/>
            </a:solidFill>
            <a:prstDash val="solid"/>
          </a:ln>
        </p:spPr>
      </p:sp>
      <p:sp>
        <p:nvSpPr>
          <p:cNvPr id="21" name="Shape 15"/>
          <p:cNvSpPr/>
          <p:nvPr/>
        </p:nvSpPr>
        <p:spPr>
          <a:xfrm>
            <a:off x="4864608" y="3127248"/>
            <a:ext cx="512064" cy="512064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pic>
        <p:nvPicPr>
          <p:cNvPr id="22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987503" y="3250143"/>
            <a:ext cx="266273" cy="266273"/>
          </a:xfrm>
          <a:prstGeom prst="rect">
            <a:avLst/>
          </a:prstGeom>
        </p:spPr>
      </p:pic>
      <p:sp>
        <p:nvSpPr>
          <p:cNvPr id="23" name="Text 16"/>
          <p:cNvSpPr txBox="1"/>
          <p:nvPr/>
        </p:nvSpPr>
        <p:spPr>
          <a:xfrm>
            <a:off x="5532120" y="3127248"/>
            <a:ext cx="266090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0397B"/>
                </a:solidFill>
              </a:rPr>
              <a:t>“O sistema aceitou nota 11”</a:t>
            </a:r>
            <a:endParaRPr lang="en-US" sz="1500" dirty="0"/>
          </a:p>
        </p:txBody>
      </p:sp>
      <p:sp>
        <p:nvSpPr>
          <p:cNvPr id="24" name="Text 17"/>
          <p:cNvSpPr txBox="1"/>
          <p:nvPr/>
        </p:nvSpPr>
        <p:spPr>
          <a:xfrm>
            <a:off x="4892040" y="3749040"/>
            <a:ext cx="330098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rgbClr val="3A3F44"/>
                </a:solidFill>
              </a:rPr>
              <a:t>Ninguém percebeu até o boletim sair.</a:t>
            </a:r>
            <a:endParaRPr lang="en-US" sz="1400" dirty="0"/>
          </a:p>
        </p:txBody>
      </p:sp>
      <p:sp>
        <p:nvSpPr>
          <p:cNvPr id="25" name="Text 18"/>
          <p:cNvSpPr txBox="1"/>
          <p:nvPr/>
        </p:nvSpPr>
        <p:spPr>
          <a:xfrm>
            <a:off x="768096" y="4443984"/>
            <a:ext cx="760780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1185AA"/>
                </a:solidFill>
              </a:rPr>
              <a:t>Nenhum é erro de SQL. São decisões de projeto. Onde mora cada uma?</a:t>
            </a:r>
            <a:endParaRPr lang="en-US" sz="15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5"/>
          <p:cNvSpPr/>
          <p:nvPr>
            <p:ph idx="105" type="title" hasCustomPrompt="1"/>
          </p:nvPr>
        </p:nvSpPr>
        <p:spPr>
          <a:xfrm>
            <a:off x="786384" y="329184"/>
            <a:ext cx="758952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dirty="0">
                <a:solidFill>
                  <a:schemeClr val="tx2"/>
                </a:solidFill>
              </a:rPr>
              <a:t>Objetivos da aula</a:t>
            </a:r>
            <a:endParaRPr lang="en-US" sz="3200" dirty="0"/>
          </a:p>
        </p:txBody>
      </p:sp>
      <p:sp>
        <p:nvSpPr>
          <p:cNvPr id="4" name="card Decidir onde mora cada regra"/>
          <p:cNvSpPr/>
          <p:nvPr/>
        </p:nvSpPr>
        <p:spPr>
          <a:xfrm>
            <a:off x="768096" y="1371600"/>
            <a:ext cx="2414016" cy="2926080"/>
          </a:xfrm>
          <a:prstGeom prst="roundRect">
            <a:avLst>
              <a:gd name="adj" fmla="val 2273"/>
            </a:avLst>
          </a:prstGeom>
          <a:solidFill>
            <a:srgbClr val="E3EFF1"/>
          </a:solidFill>
          <a:ln w="12700">
            <a:solidFill>
              <a:srgbClr val="E3EFF1"/>
            </a:solidFill>
            <a:prstDash val="solid"/>
          </a:ln>
        </p:spPr>
      </p:sp>
      <p:sp>
        <p:nvSpPr>
          <p:cNvPr id="5" name="Shape 2"/>
          <p:cNvSpPr/>
          <p:nvPr/>
        </p:nvSpPr>
        <p:spPr>
          <a:xfrm>
            <a:off x="996696" y="1600200"/>
            <a:ext cx="621792" cy="621792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45926" y="1749430"/>
            <a:ext cx="323332" cy="323332"/>
          </a:xfrm>
          <a:prstGeom prst="rect">
            <a:avLst/>
          </a:prstGeom>
        </p:spPr>
      </p:pic>
      <p:sp>
        <p:nvSpPr>
          <p:cNvPr id="7" name="Text 3"/>
          <p:cNvSpPr txBox="1"/>
          <p:nvPr/>
        </p:nvSpPr>
        <p:spPr>
          <a:xfrm>
            <a:off x="996696" y="2359152"/>
            <a:ext cx="2002536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00397B"/>
                </a:solidFill>
              </a:rPr>
              <a:t>Decidir onde mora cada regra</a:t>
            </a:r>
            <a:endParaRPr lang="en-US" sz="1600" dirty="0"/>
          </a:p>
        </p:txBody>
      </p:sp>
      <p:sp>
        <p:nvSpPr>
          <p:cNvPr id="8" name="Text 4"/>
          <p:cNvSpPr txBox="1"/>
          <p:nvPr/>
        </p:nvSpPr>
        <p:spPr>
          <a:xfrm>
            <a:off x="996696" y="2944368"/>
            <a:ext cx="2002536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rgbClr val="3A3F44"/>
                </a:solidFill>
              </a:rPr>
              <a:t>Integridade no modelo e no banco, mensagem no formulário, fluxo na view.</a:t>
            </a:r>
            <a:endParaRPr lang="en-US" sz="1400" dirty="0"/>
          </a:p>
        </p:txBody>
      </p:sp>
      <p:sp>
        <p:nvSpPr>
          <p:cNvPr id="9" name="card Completar o CRUD"/>
          <p:cNvSpPr/>
          <p:nvPr/>
        </p:nvSpPr>
        <p:spPr>
          <a:xfrm>
            <a:off x="3364992" y="1371600"/>
            <a:ext cx="2414016" cy="2926080"/>
          </a:xfrm>
          <a:prstGeom prst="roundRect">
            <a:avLst>
              <a:gd name="adj" fmla="val 2273"/>
            </a:avLst>
          </a:prstGeom>
          <a:solidFill>
            <a:srgbClr val="E3EFF1"/>
          </a:solidFill>
          <a:ln w="12700">
            <a:solidFill>
              <a:srgbClr val="E3EFF1"/>
            </a:solidFill>
            <a:prstDash val="solid"/>
          </a:ln>
        </p:spPr>
      </p:sp>
      <p:sp>
        <p:nvSpPr>
          <p:cNvPr id="10" name="Shape 6"/>
          <p:cNvSpPr/>
          <p:nvPr/>
        </p:nvSpPr>
        <p:spPr>
          <a:xfrm>
            <a:off x="3593592" y="1600200"/>
            <a:ext cx="621792" cy="621792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42822" y="1749430"/>
            <a:ext cx="323332" cy="323332"/>
          </a:xfrm>
          <a:prstGeom prst="rect">
            <a:avLst/>
          </a:prstGeom>
        </p:spPr>
      </p:pic>
      <p:sp>
        <p:nvSpPr>
          <p:cNvPr id="12" name="Text 7"/>
          <p:cNvSpPr txBox="1"/>
          <p:nvPr/>
        </p:nvSpPr>
        <p:spPr>
          <a:xfrm>
            <a:off x="3593592" y="2359152"/>
            <a:ext cx="2002536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00397B"/>
                </a:solidFill>
              </a:rPr>
              <a:t>Completar o CRUD</a:t>
            </a:r>
            <a:endParaRPr lang="en-US" sz="1600" dirty="0"/>
          </a:p>
        </p:txBody>
      </p:sp>
      <p:sp>
        <p:nvSpPr>
          <p:cNvPr id="13" name="Text 8"/>
          <p:cNvSpPr txBox="1"/>
          <p:nvPr/>
        </p:nvSpPr>
        <p:spPr>
          <a:xfrm>
            <a:off x="3593592" y="2944368"/>
            <a:ext cx="2002536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rgbClr val="3A3F44"/>
                </a:solidFill>
              </a:rPr>
              <a:t>Editar com </a:t>
            </a:r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rgbClr val="00397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instance=</a:t>
            </a:r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rgbClr val="3A3F44"/>
                </a:solidFill>
              </a:rPr>
              <a:t>, excluir em duas requisições e redirecionar depois de salvar.</a:t>
            </a:r>
            <a:endParaRPr lang="en-US" sz="1400" dirty="0"/>
          </a:p>
        </p:txBody>
      </p:sp>
      <p:sp>
        <p:nvSpPr>
          <p:cNvPr id="14" name="card Transformar erro em mensagem"/>
          <p:cNvSpPr/>
          <p:nvPr/>
        </p:nvSpPr>
        <p:spPr>
          <a:xfrm>
            <a:off x="5961888" y="1371600"/>
            <a:ext cx="2414016" cy="2926080"/>
          </a:xfrm>
          <a:prstGeom prst="roundRect">
            <a:avLst>
              <a:gd name="adj" fmla="val 2273"/>
            </a:avLst>
          </a:prstGeom>
          <a:solidFill>
            <a:srgbClr val="E3EFF1"/>
          </a:solidFill>
          <a:ln w="12700">
            <a:solidFill>
              <a:srgbClr val="E3EFF1"/>
            </a:solidFill>
            <a:prstDash val="solid"/>
          </a:ln>
        </p:spPr>
      </p:sp>
      <p:sp>
        <p:nvSpPr>
          <p:cNvPr id="15" name="Shape 10"/>
          <p:cNvSpPr/>
          <p:nvPr/>
        </p:nvSpPr>
        <p:spPr>
          <a:xfrm>
            <a:off x="6190488" y="1600200"/>
            <a:ext cx="621792" cy="621792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39718" y="1749430"/>
            <a:ext cx="323332" cy="323332"/>
          </a:xfrm>
          <a:prstGeom prst="rect">
            <a:avLst/>
          </a:prstGeom>
        </p:spPr>
      </p:pic>
      <p:sp>
        <p:nvSpPr>
          <p:cNvPr id="17" name="Text 11"/>
          <p:cNvSpPr txBox="1"/>
          <p:nvPr/>
        </p:nvSpPr>
        <p:spPr>
          <a:xfrm>
            <a:off x="6190488" y="2359152"/>
            <a:ext cx="2002536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00397B"/>
                </a:solidFill>
              </a:rPr>
              <a:t>Transformar erro em mensagem</a:t>
            </a:r>
            <a:endParaRPr lang="en-US" sz="1600" dirty="0"/>
          </a:p>
        </p:txBody>
      </p:sp>
      <p:sp>
        <p:nvSpPr>
          <p:cNvPr id="18" name="Text 12"/>
          <p:cNvSpPr txBox="1"/>
          <p:nvPr/>
        </p:nvSpPr>
        <p:spPr>
          <a:xfrm>
            <a:off x="6190488" y="2944368"/>
            <a:ext cx="2002536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rgbClr val="3A3F44"/>
                </a:solidFill>
              </a:rPr>
              <a:t>Duplicidade, </a:t>
            </a:r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rgbClr val="00397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ProtectedError</a:t>
            </a:r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rgbClr val="3A3F44"/>
                </a:solidFill>
              </a:rPr>
              <a:t> e validação viram aviso na tela, não traceback.</a:t>
            </a:r>
            <a:endParaRPr lang="en-US" sz="14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5"/>
          <p:cNvSpPr/>
          <p:nvPr>
            <p:ph idx="105" type="title" hasCustomPrompt="1"/>
          </p:nvPr>
        </p:nvSpPr>
        <p:spPr>
          <a:xfrm>
            <a:off x="786384" y="329184"/>
            <a:ext cx="758952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dirty="0">
                <a:solidFill>
                  <a:schemeClr val="tx2"/>
                </a:solidFill>
              </a:rPr>
              <a:t>Roteiro da aula</a:t>
            </a:r>
            <a:endParaRPr lang="en-US" sz="3200" dirty="0"/>
          </a:p>
        </p:txBody>
      </p:sp>
      <p:sp>
        <p:nvSpPr>
          <p:cNvPr id="4" name="Shape 1"/>
          <p:cNvSpPr/>
          <p:nvPr/>
        </p:nvSpPr>
        <p:spPr>
          <a:xfrm>
            <a:off x="960120" y="1700784"/>
            <a:ext cx="7150608" cy="0"/>
          </a:xfrm>
          <a:prstGeom prst="line">
            <a:avLst/>
          </a:prstGeom>
          <a:noFill/>
          <a:ln w="25400">
            <a:solidFill>
              <a:srgbClr val="C9D6DD"/>
            </a:solidFill>
            <a:prstDash val="solid"/>
          </a:ln>
        </p:spPr>
      </p:sp>
      <p:sp>
        <p:nvSpPr>
          <p:cNvPr id="5" name="Shape 2"/>
          <p:cNvSpPr/>
          <p:nvPr/>
        </p:nvSpPr>
        <p:spPr>
          <a:xfrm>
            <a:off x="768096" y="1508760"/>
            <a:ext cx="384048" cy="384048"/>
          </a:xfrm>
          <a:prstGeom prst="ellipse">
            <a:avLst/>
          </a:prstGeom>
          <a:solidFill>
            <a:srgbClr val="1185AA"/>
          </a:solidFill>
          <a:ln w="12700">
            <a:solidFill>
              <a:srgbClr val="1185AA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768096" y="150876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1</a:t>
            </a:r>
            <a:endParaRPr lang="en-US" sz="1400" dirty="0"/>
          </a:p>
        </p:txBody>
      </p:sp>
      <p:sp>
        <p:nvSpPr>
          <p:cNvPr id="7" name="Text 4"/>
          <p:cNvSpPr txBox="1"/>
          <p:nvPr/>
        </p:nvSpPr>
        <p:spPr>
          <a:xfrm>
            <a:off x="768096" y="2011680"/>
            <a:ext cx="138440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185AA"/>
                </a:solidFill>
              </a:rPr>
              <a:t>0 a 8 min</a:t>
            </a:r>
            <a:endParaRPr lang="en-US" sz="1100" dirty="0"/>
          </a:p>
        </p:txBody>
      </p:sp>
      <p:sp>
        <p:nvSpPr>
          <p:cNvPr id="8" name="Text 5"/>
          <p:cNvSpPr txBox="1"/>
          <p:nvPr/>
        </p:nvSpPr>
        <p:spPr>
          <a:xfrm>
            <a:off x="768096" y="2276856"/>
            <a:ext cx="138440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00397B"/>
                </a:solidFill>
              </a:rPr>
              <a:t>Abertura</a:t>
            </a:r>
            <a:endParaRPr lang="en-US" sz="1500" dirty="0"/>
          </a:p>
        </p:txBody>
      </p:sp>
      <p:sp>
        <p:nvSpPr>
          <p:cNvPr id="9" name="Text 6"/>
          <p:cNvSpPr txBox="1"/>
          <p:nvPr/>
        </p:nvSpPr>
        <p:spPr>
          <a:xfrm>
            <a:off x="768096" y="2807208"/>
            <a:ext cx="133868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3A3F44"/>
                </a:solidFill>
              </a:rPr>
              <a:t>Os quatro chamados e a conferência dos TODOs 1 a 3.</a:t>
            </a:r>
            <a:endParaRPr lang="en-US" sz="1300" dirty="0"/>
          </a:p>
        </p:txBody>
      </p:sp>
      <p:sp>
        <p:nvSpPr>
          <p:cNvPr id="10" name="Shape 7"/>
          <p:cNvSpPr/>
          <p:nvPr/>
        </p:nvSpPr>
        <p:spPr>
          <a:xfrm>
            <a:off x="2289658" y="1508760"/>
            <a:ext cx="384048" cy="384048"/>
          </a:xfrm>
          <a:prstGeom prst="ellipse">
            <a:avLst/>
          </a:prstGeom>
          <a:solidFill>
            <a:srgbClr val="1185AA"/>
          </a:solidFill>
          <a:ln w="12700">
            <a:solidFill>
              <a:srgbClr val="1185AA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2289658" y="150876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2</a:t>
            </a:r>
            <a:endParaRPr lang="en-US" sz="1400" dirty="0"/>
          </a:p>
        </p:txBody>
      </p:sp>
      <p:sp>
        <p:nvSpPr>
          <p:cNvPr id="12" name="Text 9"/>
          <p:cNvSpPr txBox="1"/>
          <p:nvPr/>
        </p:nvSpPr>
        <p:spPr>
          <a:xfrm>
            <a:off x="2289658" y="2011680"/>
            <a:ext cx="138440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185AA"/>
                </a:solidFill>
              </a:rPr>
              <a:t>8 a 18 min</a:t>
            </a:r>
            <a:endParaRPr lang="en-US" sz="1100" dirty="0"/>
          </a:p>
        </p:txBody>
      </p:sp>
      <p:sp>
        <p:nvSpPr>
          <p:cNvPr id="13" name="Text 10"/>
          <p:cNvSpPr txBox="1"/>
          <p:nvPr/>
        </p:nvSpPr>
        <p:spPr>
          <a:xfrm>
            <a:off x="2289658" y="2276856"/>
            <a:ext cx="138440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00397B"/>
                </a:solidFill>
              </a:rPr>
              <a:t>Onde mora a regra</a:t>
            </a:r>
            <a:endParaRPr lang="en-US" sz="1500" dirty="0"/>
          </a:p>
        </p:txBody>
      </p:sp>
      <p:sp>
        <p:nvSpPr>
          <p:cNvPr id="14" name="Text 11"/>
          <p:cNvSpPr txBox="1"/>
          <p:nvPr/>
        </p:nvSpPr>
        <p:spPr>
          <a:xfrm>
            <a:off x="2289658" y="2807208"/>
            <a:ext cx="133868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3A3F44"/>
                </a:solidFill>
              </a:rPr>
              <a:t>Banco, modelo, formulário e view: quem garante o quê.</a:t>
            </a:r>
            <a:endParaRPr lang="en-US" sz="1300" dirty="0"/>
          </a:p>
        </p:txBody>
      </p:sp>
      <p:sp>
        <p:nvSpPr>
          <p:cNvPr id="15" name="Shape 12"/>
          <p:cNvSpPr/>
          <p:nvPr/>
        </p:nvSpPr>
        <p:spPr>
          <a:xfrm>
            <a:off x="3811219" y="1508760"/>
            <a:ext cx="384048" cy="384048"/>
          </a:xfrm>
          <a:prstGeom prst="ellipse">
            <a:avLst/>
          </a:prstGeom>
          <a:solidFill>
            <a:srgbClr val="1185AA"/>
          </a:solidFill>
          <a:ln w="12700">
            <a:solidFill>
              <a:srgbClr val="1185AA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3811219" y="150876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3</a:t>
            </a:r>
            <a:endParaRPr lang="en-US" sz="1400" dirty="0"/>
          </a:p>
        </p:txBody>
      </p:sp>
      <p:sp>
        <p:nvSpPr>
          <p:cNvPr id="17" name="Text 14"/>
          <p:cNvSpPr txBox="1"/>
          <p:nvPr/>
        </p:nvSpPr>
        <p:spPr>
          <a:xfrm>
            <a:off x="3811219" y="2011680"/>
            <a:ext cx="138440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185AA"/>
                </a:solidFill>
              </a:rPr>
              <a:t>18 a 30 min</a:t>
            </a:r>
            <a:endParaRPr lang="en-US" sz="1100" dirty="0"/>
          </a:p>
        </p:txBody>
      </p:sp>
      <p:sp>
        <p:nvSpPr>
          <p:cNvPr id="18" name="Text 15"/>
          <p:cNvSpPr txBox="1"/>
          <p:nvPr/>
        </p:nvSpPr>
        <p:spPr>
          <a:xfrm>
            <a:off x="3811219" y="2276856"/>
            <a:ext cx="138440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00397B"/>
                </a:solidFill>
              </a:rPr>
              <a:t>Forms que validam</a:t>
            </a:r>
            <a:endParaRPr lang="en-US" sz="1500" dirty="0"/>
          </a:p>
        </p:txBody>
      </p:sp>
      <p:sp>
        <p:nvSpPr>
          <p:cNvPr id="19" name="Text 16"/>
          <p:cNvSpPr txBox="1"/>
          <p:nvPr/>
        </p:nvSpPr>
        <p:spPr>
          <a:xfrm>
            <a:off x="3811219" y="2807208"/>
            <a:ext cx="133868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00397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clean_&lt;campo&gt;</a:t>
            </a:r>
            <a:pPr indent="0" marL="0">
              <a:buNone/>
            </a:pPr>
            <a:r>
              <a:rPr lang="en-US" sz="1300" dirty="0">
                <a:solidFill>
                  <a:srgbClr val="3A3F44"/>
                </a:solidFill>
              </a:rPr>
              <a:t>, normalização e mensagens.</a:t>
            </a:r>
            <a:endParaRPr lang="en-US" sz="1300" dirty="0"/>
          </a:p>
        </p:txBody>
      </p:sp>
      <p:sp>
        <p:nvSpPr>
          <p:cNvPr id="20" name="Shape 17"/>
          <p:cNvSpPr/>
          <p:nvPr/>
        </p:nvSpPr>
        <p:spPr>
          <a:xfrm>
            <a:off x="5332781" y="1508760"/>
            <a:ext cx="384048" cy="384048"/>
          </a:xfrm>
          <a:prstGeom prst="ellipse">
            <a:avLst/>
          </a:prstGeom>
          <a:solidFill>
            <a:srgbClr val="1185AA"/>
          </a:solidFill>
          <a:ln w="12700">
            <a:solidFill>
              <a:srgbClr val="1185AA"/>
            </a:solidFill>
            <a:prstDash val="solid"/>
          </a:ln>
        </p:spPr>
      </p:sp>
      <p:sp>
        <p:nvSpPr>
          <p:cNvPr id="21" name="Text 18"/>
          <p:cNvSpPr txBox="1"/>
          <p:nvPr/>
        </p:nvSpPr>
        <p:spPr>
          <a:xfrm>
            <a:off x="5332781" y="150876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4</a:t>
            </a:r>
            <a:endParaRPr lang="en-US" sz="1400" dirty="0"/>
          </a:p>
        </p:txBody>
      </p:sp>
      <p:sp>
        <p:nvSpPr>
          <p:cNvPr id="22" name="Text 19"/>
          <p:cNvSpPr txBox="1"/>
          <p:nvPr/>
        </p:nvSpPr>
        <p:spPr>
          <a:xfrm>
            <a:off x="5332781" y="2011680"/>
            <a:ext cx="138440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185AA"/>
                </a:solidFill>
              </a:rPr>
              <a:t>30 a 42 min</a:t>
            </a:r>
            <a:endParaRPr lang="en-US" sz="1100" dirty="0"/>
          </a:p>
        </p:txBody>
      </p:sp>
      <p:sp>
        <p:nvSpPr>
          <p:cNvPr id="23" name="Text 20"/>
          <p:cNvSpPr txBox="1"/>
          <p:nvPr/>
        </p:nvSpPr>
        <p:spPr>
          <a:xfrm>
            <a:off x="5332781" y="2276856"/>
            <a:ext cx="138440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00397B"/>
                </a:solidFill>
              </a:rPr>
              <a:t>Editar e excluir</a:t>
            </a:r>
            <a:endParaRPr lang="en-US" sz="1500" dirty="0"/>
          </a:p>
        </p:txBody>
      </p:sp>
      <p:sp>
        <p:nvSpPr>
          <p:cNvPr id="24" name="Text 21"/>
          <p:cNvSpPr txBox="1"/>
          <p:nvPr/>
        </p:nvSpPr>
        <p:spPr>
          <a:xfrm>
            <a:off x="5332781" y="2807208"/>
            <a:ext cx="133868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00397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instance=</a:t>
            </a:r>
            <a:pPr indent="0" marL="0">
              <a:buNone/>
            </a:pPr>
            <a:r>
              <a:rPr lang="en-US" sz="1300" dirty="0">
                <a:solidFill>
                  <a:srgbClr val="3A3F44"/>
                </a:solidFill>
              </a:rPr>
              <a:t>, POST/Redirect/GET e as duas requisições.</a:t>
            </a:r>
            <a:endParaRPr lang="en-US" sz="1300" dirty="0"/>
          </a:p>
        </p:txBody>
      </p:sp>
      <p:sp>
        <p:nvSpPr>
          <p:cNvPr id="25" name="Shape 22"/>
          <p:cNvSpPr/>
          <p:nvPr/>
        </p:nvSpPr>
        <p:spPr>
          <a:xfrm>
            <a:off x="6854342" y="1508760"/>
            <a:ext cx="384048" cy="384048"/>
          </a:xfrm>
          <a:prstGeom prst="ellipse">
            <a:avLst/>
          </a:prstGeom>
          <a:solidFill>
            <a:srgbClr val="1185AA"/>
          </a:solidFill>
          <a:ln w="12700">
            <a:solidFill>
              <a:srgbClr val="1185AA"/>
            </a:solidFill>
            <a:prstDash val="solid"/>
          </a:ln>
        </p:spPr>
      </p:sp>
      <p:sp>
        <p:nvSpPr>
          <p:cNvPr id="26" name="Text 23"/>
          <p:cNvSpPr txBox="1"/>
          <p:nvPr/>
        </p:nvSpPr>
        <p:spPr>
          <a:xfrm>
            <a:off x="6854342" y="150876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5</a:t>
            </a:r>
            <a:endParaRPr lang="en-US" sz="1400" dirty="0"/>
          </a:p>
        </p:txBody>
      </p:sp>
      <p:sp>
        <p:nvSpPr>
          <p:cNvPr id="27" name="Text 24"/>
          <p:cNvSpPr txBox="1"/>
          <p:nvPr/>
        </p:nvSpPr>
        <p:spPr>
          <a:xfrm>
            <a:off x="6854342" y="2011680"/>
            <a:ext cx="138440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185AA"/>
                </a:solidFill>
              </a:rPr>
              <a:t>42 a 50 min</a:t>
            </a:r>
            <a:endParaRPr lang="en-US" sz="1100" dirty="0"/>
          </a:p>
        </p:txBody>
      </p:sp>
      <p:sp>
        <p:nvSpPr>
          <p:cNvPr id="28" name="Text 25"/>
          <p:cNvSpPr txBox="1"/>
          <p:nvPr/>
        </p:nvSpPr>
        <p:spPr>
          <a:xfrm>
            <a:off x="6854342" y="2276856"/>
            <a:ext cx="138440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00397B"/>
                </a:solidFill>
              </a:rPr>
              <a:t>Decisão de projeto</a:t>
            </a:r>
            <a:endParaRPr lang="en-US" sz="1500" dirty="0"/>
          </a:p>
        </p:txBody>
      </p:sp>
      <p:sp>
        <p:nvSpPr>
          <p:cNvPr id="29" name="Text 26"/>
          <p:cNvSpPr txBox="1"/>
          <p:nvPr/>
        </p:nvSpPr>
        <p:spPr>
          <a:xfrm>
            <a:off x="6854342" y="2807208"/>
            <a:ext cx="133868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3A3F44"/>
                </a:solidFill>
              </a:rPr>
              <a:t>Delete ou soft delete? </a:t>
            </a:r>
            <a:pPr indent="0" marL="0">
              <a:buNone/>
            </a:pPr>
            <a:r>
              <a:rPr lang="en-US" sz="1300" dirty="0">
                <a:solidFill>
                  <a:srgbClr val="00397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PROTECT</a:t>
            </a:r>
            <a:pPr indent="0" marL="0">
              <a:buNone/>
            </a:pPr>
            <a:r>
              <a:rPr lang="en-US" sz="1300" dirty="0">
                <a:solidFill>
                  <a:srgbClr val="3A3F44"/>
                </a:solidFill>
              </a:rPr>
              <a:t> em ação.</a:t>
            </a:r>
            <a:endParaRPr lang="en-US" sz="1300" dirty="0"/>
          </a:p>
        </p:txBody>
      </p:sp>
      <p:sp>
        <p:nvSpPr>
          <p:cNvPr id="30" name="destaque"/>
          <p:cNvSpPr/>
          <p:nvPr/>
        </p:nvSpPr>
        <p:spPr>
          <a:xfrm>
            <a:off x="768096" y="3794760"/>
            <a:ext cx="7607808" cy="658368"/>
          </a:xfrm>
          <a:prstGeom prst="roundRect">
            <a:avLst>
              <a:gd name="adj" fmla="val 8333"/>
            </a:avLst>
          </a:prstGeom>
          <a:solidFill>
            <a:srgbClr val="E3EFF1"/>
          </a:solidFill>
          <a:ln w="12700">
            <a:solidFill>
              <a:srgbClr val="E3EFF1"/>
            </a:solidFill>
            <a:prstDash val="solid"/>
          </a:ln>
        </p:spPr>
      </p:sp>
      <p:sp>
        <p:nvSpPr>
          <p:cNvPr id="31" name="Shape 28"/>
          <p:cNvSpPr/>
          <p:nvPr/>
        </p:nvSpPr>
        <p:spPr>
          <a:xfrm>
            <a:off x="950976" y="3895344"/>
            <a:ext cx="457200" cy="45720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pic>
        <p:nvPicPr>
          <p:cNvPr id="3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60704" y="4005072"/>
            <a:ext cx="237744" cy="237744"/>
          </a:xfrm>
          <a:prstGeom prst="rect">
            <a:avLst/>
          </a:prstGeom>
        </p:spPr>
      </p:pic>
      <p:sp>
        <p:nvSpPr>
          <p:cNvPr id="33" name="Text 29"/>
          <p:cNvSpPr txBox="1"/>
          <p:nvPr/>
        </p:nvSpPr>
        <p:spPr>
          <a:xfrm>
            <a:off x="1572768" y="3794760"/>
            <a:ext cx="664768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0397B"/>
                </a:solidFill>
              </a:rPr>
              <a:t>Depois da exposição: </a:t>
            </a:r>
            <a:pPr indent="0" marL="0">
              <a:buNone/>
            </a:pPr>
            <a:r>
              <a:rPr lang="en-US" sz="1500" dirty="0">
                <a:solidFill>
                  <a:srgbClr val="3A3F44"/>
                </a:solidFill>
              </a:rPr>
              <a:t>laboratório. Ache o erro, formulários (TODOs 4 a 6) e CRUD de aluno (TODOs 7 a 9).</a:t>
            </a:r>
            <a:endParaRPr lang="en-US" sz="15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5"/>
          <p:cNvSpPr/>
          <p:nvPr>
            <p:ph idx="105" type="title" hasCustomPrompt="1"/>
          </p:nvPr>
        </p:nvSpPr>
        <p:spPr>
          <a:xfrm>
            <a:off x="786384" y="329184"/>
            <a:ext cx="758952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dirty="0">
                <a:solidFill>
                  <a:schemeClr val="tx2"/>
                </a:solidFill>
              </a:rPr>
              <a:t>Conferência: o modelo de vocês está assim?</a:t>
            </a:r>
            <a:endParaRPr lang="en-US" sz="3200" dirty="0"/>
          </a:p>
        </p:txBody>
      </p:sp>
      <p:sp>
        <p:nvSpPr>
          <p:cNvPr id="4" name="codigo fundo"/>
          <p:cNvSpPr/>
          <p:nvPr/>
        </p:nvSpPr>
        <p:spPr>
          <a:xfrm>
            <a:off x="768096" y="1188720"/>
            <a:ext cx="4983480" cy="3429000"/>
          </a:xfrm>
          <a:prstGeom prst="roundRect">
            <a:avLst>
              <a:gd name="adj" fmla="val 2133"/>
            </a:avLst>
          </a:prstGeom>
          <a:solidFill>
            <a:srgbClr val="1E2433"/>
          </a:solidFill>
          <a:ln w="12700">
            <a:solidFill>
              <a:srgbClr val="1E2433"/>
            </a:solidFill>
            <a:prstDash val="solid"/>
          </a:ln>
        </p:spPr>
      </p:sp>
      <p:sp>
        <p:nvSpPr>
          <p:cNvPr id="5" name="Shape 2"/>
          <p:cNvSpPr/>
          <p:nvPr/>
        </p:nvSpPr>
        <p:spPr>
          <a:xfrm>
            <a:off x="932688" y="1307592"/>
            <a:ext cx="91440" cy="91440"/>
          </a:xfrm>
          <a:prstGeom prst="ellipse">
            <a:avLst/>
          </a:prstGeom>
          <a:solidFill>
            <a:srgbClr val="FF5F57"/>
          </a:solidFill>
          <a:ln w="12700">
            <a:solidFill>
              <a:srgbClr val="FF5F57"/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>
            <a:off x="1078992" y="1307592"/>
            <a:ext cx="91440" cy="91440"/>
          </a:xfrm>
          <a:prstGeom prst="ellipse">
            <a:avLst/>
          </a:prstGeom>
          <a:solidFill>
            <a:srgbClr val="FEBC2E"/>
          </a:solidFill>
          <a:ln w="12700">
            <a:solidFill>
              <a:srgbClr val="FEBC2E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1225296" y="1307592"/>
            <a:ext cx="91440" cy="91440"/>
          </a:xfrm>
          <a:prstGeom prst="ellipse">
            <a:avLst/>
          </a:prstGeom>
          <a:solidFill>
            <a:srgbClr val="28C840"/>
          </a:solidFill>
          <a:ln w="12700">
            <a:solidFill>
              <a:srgbClr val="28C840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1426464" y="1243584"/>
            <a:ext cx="41605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academico/models.py · TODO 3</a:t>
            </a:r>
            <a:endParaRPr lang="en-US" sz="900" dirty="0"/>
          </a:p>
        </p:txBody>
      </p:sp>
      <p:sp>
        <p:nvSpPr>
          <p:cNvPr id="9" name="codigo texto"/>
          <p:cNvSpPr txBox="1"/>
          <p:nvPr/>
        </p:nvSpPr>
        <p:spPr>
          <a:xfrm>
            <a:off x="987552" y="1572768"/>
            <a:ext cx="4617720" cy="29535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7DC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class</a:t>
            </a:r>
            <a:pPr indent="0" marL="0">
              <a:buNone/>
            </a:pPr>
            <a:r>
              <a:rPr lang="en-US" sz="11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Inscricao(models.Model):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aluno = models.ForeignKey(Aluno,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on_delete=models.PROTECT,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related_name=</a:t>
            </a:r>
            <a:pPr indent="0" marL="0">
              <a:buNone/>
            </a:pPr>
            <a:r>
              <a:rPr lang="en-US" sz="1100" dirty="0">
                <a:solidFill>
                  <a:srgbClr val="F0C67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"inscricoes"</a:t>
            </a:r>
            <a:pPr indent="0" marL="0">
              <a:buNone/>
            </a:pPr>
            <a:r>
              <a:rPr lang="en-US" sz="11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disciplina = models.ForeignKey(Disciplina,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on_delete=models.PROTECT)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nota1 = models.DecimalField(max_digits=</a:t>
            </a:r>
            <a:pPr indent="0" marL="0">
              <a:buNone/>
            </a:pPr>
            <a:r>
              <a:rPr lang="en-US" sz="1100" dirty="0">
                <a:solidFill>
                  <a:srgbClr val="F78C6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4</a:t>
            </a:r>
            <a:pPr indent="0" marL="0">
              <a:buNone/>
            </a:pPr>
            <a:r>
              <a:rPr lang="en-US" sz="11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decimal_places=</a:t>
            </a:r>
            <a:pPr indent="0" marL="0">
              <a:buNone/>
            </a:pPr>
            <a:r>
              <a:rPr lang="en-US" sz="1100" dirty="0">
                <a:solidFill>
                  <a:srgbClr val="F78C6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</a:t>
            </a:r>
            <a:pPr indent="0" marL="0">
              <a:buNone/>
            </a:pPr>
            <a:r>
              <a:rPr lang="en-US" sz="11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 null=</a:t>
            </a:r>
            <a:pPr indent="0" marL="0">
              <a:buNone/>
            </a:pPr>
            <a:r>
              <a:rPr lang="en-US" sz="1100" dirty="0">
                <a:solidFill>
                  <a:srgbClr val="7DC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True</a:t>
            </a:r>
            <a:pPr indent="0" marL="0">
              <a:buNone/>
            </a:pPr>
            <a:r>
              <a:rPr lang="en-US" sz="11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 blank=</a:t>
            </a:r>
            <a:pPr indent="0" marL="0">
              <a:buNone/>
            </a:pPr>
            <a:r>
              <a:rPr lang="en-US" sz="1100" dirty="0">
                <a:solidFill>
                  <a:srgbClr val="7DC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True</a:t>
            </a:r>
            <a:pPr indent="0" marL="0">
              <a:buNone/>
            </a:pPr>
            <a:r>
              <a:rPr lang="en-US" sz="11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validators=[MinValueValidator(</a:t>
            </a:r>
            <a:pPr indent="0" marL="0">
              <a:buNone/>
            </a:pPr>
            <a:r>
              <a:rPr lang="en-US" sz="1100" dirty="0">
                <a:solidFill>
                  <a:srgbClr val="F78C6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</a:t>
            </a:r>
            <a:pPr indent="0" marL="0">
              <a:buNone/>
            </a:pPr>
            <a:r>
              <a:rPr lang="en-US" sz="11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),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        MaxValueValidator(</a:t>
            </a:r>
            <a:pPr indent="0" marL="0">
              <a:buNone/>
            </a:pPr>
            <a:r>
              <a:rPr lang="en-US" sz="1100" dirty="0">
                <a:solidFill>
                  <a:srgbClr val="F78C6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10</a:t>
            </a:r>
            <a:pPr indent="0" marL="0">
              <a:buNone/>
            </a:pPr>
            <a:r>
              <a:rPr lang="en-US" sz="11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)])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</a:t>
            </a:r>
            <a:pPr indent="0" marL="0">
              <a:buNone/>
            </a:pPr>
            <a:r>
              <a:rPr lang="en-US" sz="1100" i="1" dirty="0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nota2: igual à nota1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</a:t>
            </a:r>
            <a:pPr indent="0" marL="0">
              <a:buNone/>
            </a:pPr>
            <a:r>
              <a:rPr lang="en-US" sz="1100" dirty="0">
                <a:solidFill>
                  <a:srgbClr val="7DC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class</a:t>
            </a:r>
            <a:pPr indent="0" marL="0">
              <a:buNone/>
            </a:pPr>
            <a:r>
              <a:rPr lang="en-US" sz="11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Meta: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db_table = </a:t>
            </a:r>
            <a:pPr indent="0" marL="0">
              <a:buNone/>
            </a:pPr>
            <a:r>
              <a:rPr lang="en-US" sz="1100" dirty="0">
                <a:solidFill>
                  <a:srgbClr val="F0C67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"inscricao"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constraints = [models.UniqueConstraint(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fields=[</a:t>
            </a:r>
            <a:pPr indent="0" marL="0">
              <a:buNone/>
            </a:pPr>
            <a:r>
              <a:rPr lang="en-US" sz="1100" dirty="0">
                <a:solidFill>
                  <a:srgbClr val="F0C67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"aluno"</a:t>
            </a:r>
            <a:pPr indent="0" marL="0">
              <a:buNone/>
            </a:pPr>
            <a:r>
              <a:rPr lang="en-US" sz="11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 </a:t>
            </a:r>
            <a:pPr indent="0" marL="0">
              <a:buNone/>
            </a:pPr>
            <a:r>
              <a:rPr lang="en-US" sz="1100" dirty="0">
                <a:solidFill>
                  <a:srgbClr val="F0C67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"disciplina"</a:t>
            </a:r>
            <a:pPr indent="0" marL="0">
              <a:buNone/>
            </a:pPr>
            <a:r>
              <a:rPr lang="en-US" sz="11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],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name=</a:t>
            </a:r>
            <a:pPr indent="0" marL="0">
              <a:buNone/>
            </a:pPr>
            <a:r>
              <a:rPr lang="en-US" sz="1100" dirty="0">
                <a:solidFill>
                  <a:srgbClr val="F0C67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"inscricao_unica_por_aluno_disciplina"</a:t>
            </a:r>
            <a:pPr indent="0" marL="0">
              <a:buNone/>
            </a:pPr>
            <a:r>
              <a:rPr lang="en-US" sz="11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)]</a:t>
            </a:r>
            <a:endParaRPr lang="en-US" sz="1100" dirty="0"/>
          </a:p>
        </p:txBody>
      </p:sp>
      <p:sp>
        <p:nvSpPr>
          <p:cNvPr id="10" name="checklist"/>
          <p:cNvSpPr/>
          <p:nvPr/>
        </p:nvSpPr>
        <p:spPr>
          <a:xfrm>
            <a:off x="5897880" y="1188720"/>
            <a:ext cx="2478024" cy="3429000"/>
          </a:xfrm>
          <a:prstGeom prst="roundRect">
            <a:avLst>
              <a:gd name="adj" fmla="val 2214"/>
            </a:avLst>
          </a:prstGeom>
          <a:solidFill>
            <a:srgbClr val="E3EFF1"/>
          </a:solidFill>
          <a:ln w="12700">
            <a:solidFill>
              <a:srgbClr val="E3EFF1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6080760" y="132588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0397B"/>
                </a:solidFill>
              </a:rPr>
              <a:t>Confiram</a:t>
            </a:r>
            <a:endParaRPr lang="en-US" sz="1600" dirty="0"/>
          </a:p>
        </p:txBody>
      </p:sp>
      <p:pic>
        <p:nvPicPr>
          <p:cNvPr id="1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080760" y="1847088"/>
            <a:ext cx="182880" cy="182880"/>
          </a:xfrm>
          <a:prstGeom prst="rect">
            <a:avLst/>
          </a:prstGeom>
        </p:spPr>
      </p:pic>
      <p:sp>
        <p:nvSpPr>
          <p:cNvPr id="13" name="Text 9"/>
          <p:cNvSpPr txBox="1"/>
          <p:nvPr/>
        </p:nvSpPr>
        <p:spPr>
          <a:xfrm>
            <a:off x="6382512" y="1773936"/>
            <a:ext cx="1920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397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unique=True</a:t>
            </a:r>
            <a:pPr indent="0" marL="0">
              <a:buNone/>
            </a:pPr>
            <a:r>
              <a:rPr lang="en-US" sz="1300" dirty="0">
                <a:solidFill>
                  <a:srgbClr val="3A3F44"/>
                </a:solidFill>
              </a:rPr>
              <a:t> na matrícula e no código</a:t>
            </a:r>
            <a:endParaRPr lang="en-US" sz="1300" dirty="0"/>
          </a:p>
        </p:txBody>
      </p:sp>
      <p:pic>
        <p:nvPicPr>
          <p:cNvPr id="14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80760" y="2286000"/>
            <a:ext cx="182880" cy="182880"/>
          </a:xfrm>
          <a:prstGeom prst="rect">
            <a:avLst/>
          </a:prstGeom>
        </p:spPr>
      </p:pic>
      <p:sp>
        <p:nvSpPr>
          <p:cNvPr id="15" name="Text 10"/>
          <p:cNvSpPr txBox="1"/>
          <p:nvPr/>
        </p:nvSpPr>
        <p:spPr>
          <a:xfrm>
            <a:off x="6382512" y="2212848"/>
            <a:ext cx="1920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397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null=True</a:t>
            </a:r>
            <a:pPr indent="0" marL="0">
              <a:buNone/>
            </a:pPr>
            <a:r>
              <a:rPr lang="en-US" sz="1300" dirty="0">
                <a:solidFill>
                  <a:srgbClr val="3A3F44"/>
                </a:solidFill>
              </a:rPr>
              <a:t> só em data e número</a:t>
            </a:r>
            <a:endParaRPr lang="en-US" sz="1300" dirty="0"/>
          </a:p>
        </p:txBody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80760" y="2724912"/>
            <a:ext cx="182880" cy="182880"/>
          </a:xfrm>
          <a:prstGeom prst="rect">
            <a:avLst/>
          </a:prstGeom>
        </p:spPr>
      </p:pic>
      <p:sp>
        <p:nvSpPr>
          <p:cNvPr id="17" name="Text 11"/>
          <p:cNvSpPr txBox="1"/>
          <p:nvPr/>
        </p:nvSpPr>
        <p:spPr>
          <a:xfrm>
            <a:off x="6382512" y="2651760"/>
            <a:ext cx="1920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397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PROTECT</a:t>
            </a:r>
            <a:pPr indent="0" marL="0">
              <a:buNone/>
            </a:pPr>
            <a:r>
              <a:rPr lang="en-US" sz="1300" dirty="0">
                <a:solidFill>
                  <a:srgbClr val="3A3F44"/>
                </a:solidFill>
              </a:rPr>
              <a:t> nas duas chaves estrangeiras</a:t>
            </a:r>
            <a:endParaRPr lang="en-US" sz="1300" dirty="0"/>
          </a:p>
        </p:txBody>
      </p:sp>
      <p:pic>
        <p:nvPicPr>
          <p:cNvPr id="18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80760" y="3163824"/>
            <a:ext cx="182880" cy="182880"/>
          </a:xfrm>
          <a:prstGeom prst="rect">
            <a:avLst/>
          </a:prstGeom>
        </p:spPr>
      </p:pic>
      <p:sp>
        <p:nvSpPr>
          <p:cNvPr id="19" name="Text 12"/>
          <p:cNvSpPr txBox="1"/>
          <p:nvPr/>
        </p:nvSpPr>
        <p:spPr>
          <a:xfrm>
            <a:off x="6382512" y="3090672"/>
            <a:ext cx="1920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397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UniqueConstraint</a:t>
            </a:r>
            <a:pPr indent="0" marL="0">
              <a:buNone/>
            </a:pPr>
            <a:r>
              <a:rPr lang="en-US" sz="1300" dirty="0">
                <a:solidFill>
                  <a:srgbClr val="3A3F44"/>
                </a:solidFill>
              </a:rPr>
              <a:t> no </a:t>
            </a:r>
            <a:pPr indent="0" marL="0">
              <a:buNone/>
            </a:pPr>
            <a:r>
              <a:rPr lang="en-US" sz="1300" dirty="0">
                <a:solidFill>
                  <a:srgbClr val="00397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Meta</a:t>
            </a:r>
            <a:endParaRPr lang="en-US" sz="1300" dirty="0"/>
          </a:p>
        </p:txBody>
      </p:sp>
      <p:pic>
        <p:nvPicPr>
          <p:cNvPr id="20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080760" y="3602736"/>
            <a:ext cx="182880" cy="182880"/>
          </a:xfrm>
          <a:prstGeom prst="rect">
            <a:avLst/>
          </a:prstGeom>
        </p:spPr>
      </p:pic>
      <p:sp>
        <p:nvSpPr>
          <p:cNvPr id="21" name="Text 13"/>
          <p:cNvSpPr txBox="1"/>
          <p:nvPr/>
        </p:nvSpPr>
        <p:spPr>
          <a:xfrm>
            <a:off x="6382512" y="3529584"/>
            <a:ext cx="1920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397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ordering</a:t>
            </a:r>
            <a:pPr indent="0" marL="0">
              <a:buNone/>
            </a:pPr>
            <a:r>
              <a:rPr lang="en-US" sz="1300" dirty="0">
                <a:solidFill>
                  <a:srgbClr val="3A3F44"/>
                </a:solidFill>
              </a:rPr>
              <a:t> descomentado nos três</a:t>
            </a:r>
            <a:endParaRPr lang="en-US" sz="1300" dirty="0"/>
          </a:p>
        </p:txBody>
      </p:sp>
      <p:pic>
        <p:nvPicPr>
          <p:cNvPr id="22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080760" y="4041648"/>
            <a:ext cx="182880" cy="182880"/>
          </a:xfrm>
          <a:prstGeom prst="rect">
            <a:avLst/>
          </a:prstGeom>
        </p:spPr>
      </p:pic>
      <p:sp>
        <p:nvSpPr>
          <p:cNvPr id="23" name="Text 14"/>
          <p:cNvSpPr txBox="1"/>
          <p:nvPr/>
        </p:nvSpPr>
        <p:spPr>
          <a:xfrm>
            <a:off x="6382512" y="3968496"/>
            <a:ext cx="1920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397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__str__</a:t>
            </a:r>
            <a:pPr indent="0" marL="0">
              <a:buNone/>
            </a:pPr>
            <a:r>
              <a:rPr lang="en-US" sz="1300" dirty="0">
                <a:solidFill>
                  <a:srgbClr val="3A3F44"/>
                </a:solidFill>
              </a:rPr>
              <a:t> legível nos três</a:t>
            </a:r>
            <a:endParaRPr lang="en-US" sz="13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5"/>
          <p:cNvSpPr/>
          <p:nvPr>
            <p:ph idx="105" type="title" hasCustomPrompt="1"/>
          </p:nvPr>
        </p:nvSpPr>
        <p:spPr>
          <a:xfrm>
            <a:off x="786384" y="329184"/>
            <a:ext cx="758952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dirty="0">
                <a:solidFill>
                  <a:schemeClr val="tx2"/>
                </a:solidFill>
              </a:rPr>
              <a:t>Ache o erro: a média</a:t>
            </a:r>
            <a:endParaRPr lang="en-US" sz="3200" dirty="0"/>
          </a:p>
        </p:txBody>
      </p:sp>
      <p:sp>
        <p:nvSpPr>
          <p:cNvPr id="4" name="codigo fundo"/>
          <p:cNvSpPr/>
          <p:nvPr/>
        </p:nvSpPr>
        <p:spPr>
          <a:xfrm>
            <a:off x="768096" y="1280160"/>
            <a:ext cx="4480560" cy="2057400"/>
          </a:xfrm>
          <a:prstGeom prst="roundRect">
            <a:avLst>
              <a:gd name="adj" fmla="val 3556"/>
            </a:avLst>
          </a:prstGeom>
          <a:solidFill>
            <a:srgbClr val="1E2433"/>
          </a:solidFill>
          <a:ln w="12700">
            <a:solidFill>
              <a:srgbClr val="1E2433"/>
            </a:solidFill>
            <a:prstDash val="solid"/>
          </a:ln>
        </p:spPr>
      </p:sp>
      <p:sp>
        <p:nvSpPr>
          <p:cNvPr id="5" name="Shape 2"/>
          <p:cNvSpPr/>
          <p:nvPr/>
        </p:nvSpPr>
        <p:spPr>
          <a:xfrm>
            <a:off x="932688" y="1399032"/>
            <a:ext cx="91440" cy="91440"/>
          </a:xfrm>
          <a:prstGeom prst="ellipse">
            <a:avLst/>
          </a:prstGeom>
          <a:solidFill>
            <a:srgbClr val="FF5F57"/>
          </a:solidFill>
          <a:ln w="12700">
            <a:solidFill>
              <a:srgbClr val="FF5F57"/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>
            <a:off x="1078992" y="1399032"/>
            <a:ext cx="91440" cy="91440"/>
          </a:xfrm>
          <a:prstGeom prst="ellipse">
            <a:avLst/>
          </a:prstGeom>
          <a:solidFill>
            <a:srgbClr val="FEBC2E"/>
          </a:solidFill>
          <a:ln w="12700">
            <a:solidFill>
              <a:srgbClr val="FEBC2E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1225296" y="1399032"/>
            <a:ext cx="91440" cy="91440"/>
          </a:xfrm>
          <a:prstGeom prst="ellipse">
            <a:avLst/>
          </a:prstGeom>
          <a:solidFill>
            <a:srgbClr val="28C840"/>
          </a:solidFill>
          <a:ln w="12700">
            <a:solidFill>
              <a:srgbClr val="28C840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1426464" y="1335024"/>
            <a:ext cx="3657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academico/models.py · TODO 3c</a:t>
            </a:r>
            <a:endParaRPr lang="en-US" sz="900" dirty="0"/>
          </a:p>
        </p:txBody>
      </p:sp>
      <p:sp>
        <p:nvSpPr>
          <p:cNvPr id="9" name="codigo texto"/>
          <p:cNvSpPr txBox="1"/>
          <p:nvPr/>
        </p:nvSpPr>
        <p:spPr>
          <a:xfrm>
            <a:off x="987552" y="1664208"/>
            <a:ext cx="4114800" cy="1581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C3A6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@property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7DC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def</a:t>
            </a:r>
            <a:pPr indent="0" marL="0">
              <a:buNone/>
            </a:pPr>
            <a:r>
              <a:rPr lang="en-US" sz="13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media(self):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</a:t>
            </a:r>
            <a:pPr indent="0" marL="0">
              <a:buNone/>
            </a:pPr>
            <a:r>
              <a:rPr lang="en-US" sz="1300" dirty="0">
                <a:solidFill>
                  <a:srgbClr val="7DC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if</a:t>
            </a:r>
            <a:pPr indent="0" marL="0">
              <a:buNone/>
            </a:pPr>
            <a:r>
              <a:rPr lang="en-US" sz="13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buNone/>
            </a:pPr>
            <a:r>
              <a:rPr lang="en-US" sz="1300" dirty="0">
                <a:solidFill>
                  <a:srgbClr val="7DC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not</a:t>
            </a:r>
            <a:pPr indent="0" marL="0">
              <a:buNone/>
            </a:pPr>
            <a:r>
              <a:rPr lang="en-US" sz="13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self.nota1 </a:t>
            </a:r>
            <a:pPr indent="0" marL="0">
              <a:buNone/>
            </a:pPr>
            <a:r>
              <a:rPr lang="en-US" sz="1300" dirty="0">
                <a:solidFill>
                  <a:srgbClr val="7DC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or</a:t>
            </a:r>
            <a:pPr indent="0" marL="0">
              <a:buNone/>
            </a:pPr>
            <a:r>
              <a:rPr lang="en-US" sz="13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buNone/>
            </a:pPr>
            <a:r>
              <a:rPr lang="en-US" sz="1300" dirty="0">
                <a:solidFill>
                  <a:srgbClr val="7DC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not</a:t>
            </a:r>
            <a:pPr indent="0" marL="0">
              <a:buNone/>
            </a:pPr>
            <a:r>
              <a:rPr lang="en-US" sz="13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self.nota2: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</a:t>
            </a:r>
            <a:pPr indent="0" marL="0">
              <a:buNone/>
            </a:pPr>
            <a:r>
              <a:rPr lang="en-US" sz="1300" dirty="0">
                <a:solidFill>
                  <a:srgbClr val="7DC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return</a:t>
            </a:r>
            <a:pPr indent="0" marL="0">
              <a:buNone/>
            </a:pPr>
            <a:r>
              <a:rPr lang="en-US" sz="13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buNone/>
            </a:pPr>
            <a:r>
              <a:rPr lang="en-US" sz="1300" dirty="0">
                <a:solidFill>
                  <a:srgbClr val="7DC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None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</a:t>
            </a:r>
            <a:pPr indent="0" marL="0">
              <a:buNone/>
            </a:pPr>
            <a:r>
              <a:rPr lang="en-US" sz="1300" dirty="0">
                <a:solidFill>
                  <a:srgbClr val="7DC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return</a:t>
            </a:r>
            <a:pPr indent="0" marL="0">
              <a:buNone/>
            </a:pPr>
            <a:r>
              <a:rPr lang="en-US" sz="13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(self.nota1 + self.nota2) / </a:t>
            </a:r>
            <a:pPr indent="0" marL="0">
              <a:buNone/>
            </a:pPr>
            <a:r>
              <a:rPr lang="en-US" sz="1300" dirty="0">
                <a:solidFill>
                  <a:srgbClr val="F78C6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</a:t>
            </a:r>
            <a:endParaRPr lang="en-US" sz="1300" dirty="0"/>
          </a:p>
        </p:txBody>
      </p:sp>
      <p:sp>
        <p:nvSpPr>
          <p:cNvPr id="10" name="pergunta"/>
          <p:cNvSpPr/>
          <p:nvPr/>
        </p:nvSpPr>
        <p:spPr>
          <a:xfrm>
            <a:off x="5486400" y="1280160"/>
            <a:ext cx="2889504" cy="2057400"/>
          </a:xfrm>
          <a:prstGeom prst="roundRect">
            <a:avLst>
              <a:gd name="adj" fmla="val 2667"/>
            </a:avLst>
          </a:prstGeom>
          <a:solidFill>
            <a:srgbClr val="E3EFF1"/>
          </a:solidFill>
          <a:ln w="12700">
            <a:solidFill>
              <a:srgbClr val="E3EFF1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5687568" y="1463040"/>
            <a:ext cx="512064" cy="512064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pic>
        <p:nvPicPr>
          <p:cNvPr id="1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810463" y="1585935"/>
            <a:ext cx="266273" cy="266273"/>
          </a:xfrm>
          <a:prstGeom prst="rect">
            <a:avLst/>
          </a:prstGeom>
        </p:spPr>
      </p:pic>
      <p:sp>
        <p:nvSpPr>
          <p:cNvPr id="13" name="Text 9"/>
          <p:cNvSpPr txBox="1"/>
          <p:nvPr/>
        </p:nvSpPr>
        <p:spPr>
          <a:xfrm>
            <a:off x="6355080" y="1463040"/>
            <a:ext cx="192024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0397B"/>
                </a:solidFill>
              </a:rPr>
              <a:t>A turma decide</a:t>
            </a:r>
            <a:endParaRPr lang="en-US" sz="1600" dirty="0"/>
          </a:p>
        </p:txBody>
      </p:sp>
      <p:sp>
        <p:nvSpPr>
          <p:cNvPr id="14" name="Text 10"/>
          <p:cNvSpPr txBox="1"/>
          <p:nvPr/>
        </p:nvSpPr>
        <p:spPr>
          <a:xfrm>
            <a:off x="5687568" y="2148840"/>
            <a:ext cx="25603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400" dirty="0">
                <a:solidFill>
                  <a:srgbClr val="3A3F44"/>
                </a:solidFill>
              </a:rPr>
              <a:t>Um aluno tirou </a:t>
            </a:r>
            <a:pPr indent="0" marL="0">
              <a:spcAft>
                <a:spcPts val="600"/>
              </a:spcAft>
              <a:buNone/>
            </a:pPr>
            <a:r>
              <a:rPr lang="en-US" sz="1400" b="1" dirty="0">
                <a:solidFill>
                  <a:srgbClr val="3A3F44"/>
                </a:solidFill>
              </a:rPr>
              <a:t>0</a:t>
            </a:r>
            <a:pPr indent="0" marL="0">
              <a:spcAft>
                <a:spcPts val="600"/>
              </a:spcAft>
              <a:buNone/>
            </a:pPr>
            <a:r>
              <a:rPr lang="en-US" sz="1400" dirty="0">
                <a:solidFill>
                  <a:srgbClr val="3A3F44"/>
                </a:solidFill>
              </a:rPr>
              <a:t> na primeira prova e </a:t>
            </a:r>
            <a:pPr indent="0" marL="0">
              <a:spcAft>
                <a:spcPts val="600"/>
              </a:spcAft>
              <a:buNone/>
            </a:pPr>
            <a:r>
              <a:rPr lang="en-US" sz="1400" b="1" dirty="0">
                <a:solidFill>
                  <a:srgbClr val="3A3F44"/>
                </a:solidFill>
              </a:rPr>
              <a:t>8</a:t>
            </a:r>
            <a:pPr indent="0" marL="0">
              <a:spcAft>
                <a:spcPts val="600"/>
              </a:spcAft>
              <a:buNone/>
            </a:pPr>
            <a:r>
              <a:rPr lang="en-US" sz="1400" dirty="0">
                <a:solidFill>
                  <a:srgbClr val="3A3F44"/>
                </a:solidFill>
              </a:rPr>
              <a:t> na segunda.</a:t>
            </a:r>
            <a:endParaRPr lang="en-US" sz="14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400" dirty="0">
                <a:solidFill>
                  <a:srgbClr val="3A3F44"/>
                </a:solidFill>
              </a:rPr>
              <a:t>Que média aparece na lista?</a:t>
            </a:r>
            <a:endParaRPr lang="en-US" sz="1400" dirty="0"/>
          </a:p>
        </p:txBody>
      </p:sp>
      <p:sp>
        <p:nvSpPr>
          <p:cNvPr id="15" name="destaque"/>
          <p:cNvSpPr/>
          <p:nvPr/>
        </p:nvSpPr>
        <p:spPr>
          <a:xfrm>
            <a:off x="768096" y="3657600"/>
            <a:ext cx="7607808" cy="731520"/>
          </a:xfrm>
          <a:prstGeom prst="roundRect">
            <a:avLst>
              <a:gd name="adj" fmla="val 7500"/>
            </a:avLst>
          </a:prstGeom>
          <a:solidFill>
            <a:srgbClr val="E3EFF1"/>
          </a:solidFill>
          <a:ln w="12700">
            <a:solidFill>
              <a:srgbClr val="E3EFF1"/>
            </a:solidFill>
            <a:prstDash val="solid"/>
          </a:ln>
        </p:spPr>
      </p:sp>
      <p:sp>
        <p:nvSpPr>
          <p:cNvPr id="16" name="Shape 12"/>
          <p:cNvSpPr/>
          <p:nvPr/>
        </p:nvSpPr>
        <p:spPr>
          <a:xfrm>
            <a:off x="950976" y="3794760"/>
            <a:ext cx="457200" cy="45720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pic>
        <p:nvPicPr>
          <p:cNvPr id="17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60704" y="3904488"/>
            <a:ext cx="237744" cy="237744"/>
          </a:xfrm>
          <a:prstGeom prst="rect">
            <a:avLst/>
          </a:prstGeom>
        </p:spPr>
      </p:pic>
      <p:sp>
        <p:nvSpPr>
          <p:cNvPr id="18" name="Text 13"/>
          <p:cNvSpPr txBox="1"/>
          <p:nvPr/>
        </p:nvSpPr>
        <p:spPr>
          <a:xfrm>
            <a:off x="1572768" y="3657600"/>
            <a:ext cx="664768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0397B"/>
                </a:solidFill>
              </a:rPr>
              <a:t>Por que importa: </a:t>
            </a:r>
            <a:pPr indent="0" marL="0">
              <a:buNone/>
            </a:pPr>
            <a:r>
              <a:rPr lang="en-US" sz="1500" dirty="0">
                <a:solidFill>
                  <a:srgbClr val="3A3F44"/>
                </a:solidFill>
              </a:rPr>
              <a:t>zero é uma nota válida. Uma regra de negócio errada no modelo vale para todas as telas, o admin e o boletim.</a:t>
            </a:r>
            <a:endParaRPr lang="en-US" sz="15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5"/>
          <p:cNvSpPr/>
          <p:nvPr>
            <p:ph idx="105" type="title" hasCustomPrompt="1"/>
          </p:nvPr>
        </p:nvSpPr>
        <p:spPr>
          <a:xfrm>
            <a:off x="786384" y="329184"/>
            <a:ext cx="758952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dirty="0">
                <a:solidFill>
                  <a:schemeClr val="tx2"/>
                </a:solidFill>
              </a:rPr>
              <a:t>Onde mora cada regra</a:t>
            </a:r>
            <a:endParaRPr lang="en-US" sz="3200" dirty="0"/>
          </a:p>
        </p:txBody>
      </p:sp>
      <p:sp>
        <p:nvSpPr>
          <p:cNvPr id="4" name="camada View"/>
          <p:cNvSpPr/>
          <p:nvPr/>
        </p:nvSpPr>
        <p:spPr>
          <a:xfrm>
            <a:off x="768096" y="1188720"/>
            <a:ext cx="1828800" cy="658368"/>
          </a:xfrm>
          <a:prstGeom prst="roundRect">
            <a:avLst>
              <a:gd name="adj" fmla="val 8333"/>
            </a:avLst>
          </a:prstGeom>
          <a:solidFill>
            <a:srgbClr val="54C8E1"/>
          </a:solidFill>
          <a:ln w="12700">
            <a:solidFill>
              <a:srgbClr val="54C8E1"/>
            </a:solidFill>
            <a:prstDash val="solid"/>
          </a:ln>
        </p:spPr>
      </p:sp>
      <p:sp>
        <p:nvSpPr>
          <p:cNvPr id="5" name="Text 2"/>
          <p:cNvSpPr txBox="1"/>
          <p:nvPr/>
        </p:nvSpPr>
        <p:spPr>
          <a:xfrm>
            <a:off x="768096" y="1188720"/>
            <a:ext cx="18288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00397B"/>
                </a:solidFill>
              </a:rPr>
              <a:t>View</a:t>
            </a:r>
            <a:endParaRPr lang="en-US" sz="1700" dirty="0"/>
          </a:p>
        </p:txBody>
      </p:sp>
      <p:sp>
        <p:nvSpPr>
          <p:cNvPr id="6" name="descricao View"/>
          <p:cNvSpPr/>
          <p:nvPr/>
        </p:nvSpPr>
        <p:spPr>
          <a:xfrm>
            <a:off x="2743200" y="1188720"/>
            <a:ext cx="5632704" cy="658368"/>
          </a:xfrm>
          <a:prstGeom prst="roundRect">
            <a:avLst>
              <a:gd name="adj" fmla="val 8333"/>
            </a:avLst>
          </a:prstGeom>
          <a:solidFill>
            <a:srgbClr val="E3EFF1"/>
          </a:solidFill>
          <a:ln w="12700">
            <a:solidFill>
              <a:srgbClr val="E3EFF1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2926080" y="1188720"/>
            <a:ext cx="53035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00397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@login_required</a:t>
            </a:r>
            <a:pPr indent="0" marL="0">
              <a:buNone/>
            </a:pPr>
            <a:r>
              <a:rPr lang="en-US" sz="1400" dirty="0">
                <a:solidFill>
                  <a:srgbClr val="3A3F44"/>
                </a:solidFill>
              </a:rPr>
              <a:t>, </a:t>
            </a:r>
            <a:pPr indent="0" marL="0">
              <a:buNone/>
            </a:pPr>
            <a:r>
              <a:rPr lang="en-US" sz="1400" dirty="0">
                <a:solidFill>
                  <a:srgbClr val="00397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is_valid()</a:t>
            </a:r>
            <a:pPr indent="0" marL="0">
              <a:buNone/>
            </a:pPr>
            <a:r>
              <a:rPr lang="en-US" sz="1400" dirty="0">
                <a:solidFill>
                  <a:srgbClr val="3A3F44"/>
                </a:solidFill>
              </a:rPr>
              <a:t>, </a:t>
            </a:r>
            <a:pPr indent="0" marL="0">
              <a:buNone/>
            </a:pPr>
            <a:r>
              <a:rPr lang="en-US" sz="1400" dirty="0">
                <a:solidFill>
                  <a:srgbClr val="00397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redirect</a:t>
            </a:r>
            <a:pPr indent="0" marL="0">
              <a:buNone/>
            </a:pPr>
            <a:r>
              <a:rPr lang="en-US" sz="1400" dirty="0">
                <a:solidFill>
                  <a:srgbClr val="3A3F44"/>
                </a:solidFill>
              </a:rPr>
              <a:t>. Orquestra o fluxo. Não valida dado e não monta HTML.</a:t>
            </a:r>
            <a:endParaRPr lang="en-US" sz="1400" dirty="0"/>
          </a:p>
        </p:txBody>
      </p:sp>
      <p:sp>
        <p:nvSpPr>
          <p:cNvPr id="8" name="camada Formulário"/>
          <p:cNvSpPr/>
          <p:nvPr/>
        </p:nvSpPr>
        <p:spPr>
          <a:xfrm>
            <a:off x="768096" y="1975104"/>
            <a:ext cx="1828800" cy="658368"/>
          </a:xfrm>
          <a:prstGeom prst="roundRect">
            <a:avLst>
              <a:gd name="adj" fmla="val 8333"/>
            </a:avLst>
          </a:prstGeom>
          <a:solidFill>
            <a:srgbClr val="1185AA"/>
          </a:solidFill>
          <a:ln w="12700">
            <a:solidFill>
              <a:srgbClr val="1185AA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768096" y="1975104"/>
            <a:ext cx="18288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</a:rPr>
              <a:t>Formulário</a:t>
            </a:r>
            <a:endParaRPr lang="en-US" sz="1700" dirty="0"/>
          </a:p>
        </p:txBody>
      </p:sp>
      <p:sp>
        <p:nvSpPr>
          <p:cNvPr id="10" name="descricao Formulário"/>
          <p:cNvSpPr/>
          <p:nvPr/>
        </p:nvSpPr>
        <p:spPr>
          <a:xfrm>
            <a:off x="2743200" y="1975104"/>
            <a:ext cx="5632704" cy="658368"/>
          </a:xfrm>
          <a:prstGeom prst="roundRect">
            <a:avLst>
              <a:gd name="adj" fmla="val 8333"/>
            </a:avLst>
          </a:prstGeom>
          <a:solidFill>
            <a:srgbClr val="E3EFF1"/>
          </a:solidFill>
          <a:ln w="12700">
            <a:solidFill>
              <a:srgbClr val="E3EFF1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2926080" y="1975104"/>
            <a:ext cx="53035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00397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clean_&lt;campo&gt;</a:t>
            </a:r>
            <a:pPr indent="0" marL="0">
              <a:buNone/>
            </a:pPr>
            <a:r>
              <a:rPr lang="en-US" sz="1400" dirty="0">
                <a:solidFill>
                  <a:srgbClr val="3A3F44"/>
                </a:solidFill>
              </a:rPr>
              <a:t>, </a:t>
            </a:r>
            <a:pPr indent="0" marL="0">
              <a:buNone/>
            </a:pPr>
            <a:r>
              <a:rPr lang="en-US" sz="1400" dirty="0">
                <a:solidFill>
                  <a:srgbClr val="00397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error_messages</a:t>
            </a:r>
            <a:pPr indent="0" marL="0">
              <a:buNone/>
            </a:pPr>
            <a:r>
              <a:rPr lang="en-US" sz="1400" dirty="0">
                <a:solidFill>
                  <a:srgbClr val="3A3F44"/>
                </a:solidFill>
              </a:rPr>
              <a:t>, </a:t>
            </a:r>
            <a:pPr indent="0" marL="0">
              <a:buNone/>
            </a:pPr>
            <a:r>
              <a:rPr lang="en-US" sz="1400" dirty="0">
                <a:solidFill>
                  <a:srgbClr val="00397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queryset</a:t>
            </a:r>
            <a:pPr indent="0" marL="0">
              <a:buNone/>
            </a:pPr>
            <a:r>
              <a:rPr lang="en-US" sz="1400" dirty="0">
                <a:solidFill>
                  <a:srgbClr val="3A3F44"/>
                </a:solidFill>
              </a:rPr>
              <a:t>. Normaliza a entrada e traduz a regra em mensagem.</a:t>
            </a:r>
            <a:endParaRPr lang="en-US" sz="1400" dirty="0"/>
          </a:p>
        </p:txBody>
      </p:sp>
      <p:sp>
        <p:nvSpPr>
          <p:cNvPr id="12" name="camada Modelo"/>
          <p:cNvSpPr/>
          <p:nvPr/>
        </p:nvSpPr>
        <p:spPr>
          <a:xfrm>
            <a:off x="768096" y="2761488"/>
            <a:ext cx="1828800" cy="658368"/>
          </a:xfrm>
          <a:prstGeom prst="roundRect">
            <a:avLst>
              <a:gd name="adj" fmla="val 8333"/>
            </a:avLst>
          </a:prstGeom>
          <a:solidFill>
            <a:srgbClr val="0B5E8A"/>
          </a:solidFill>
          <a:ln w="12700">
            <a:solidFill>
              <a:srgbClr val="0B5E8A"/>
            </a:solidFill>
            <a:prstDash val="solid"/>
          </a:ln>
        </p:spPr>
      </p:sp>
      <p:sp>
        <p:nvSpPr>
          <p:cNvPr id="13" name="Text 10"/>
          <p:cNvSpPr txBox="1"/>
          <p:nvPr/>
        </p:nvSpPr>
        <p:spPr>
          <a:xfrm>
            <a:off x="768096" y="2761488"/>
            <a:ext cx="18288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</a:rPr>
              <a:t>Modelo</a:t>
            </a:r>
            <a:endParaRPr lang="en-US" sz="1700" dirty="0"/>
          </a:p>
        </p:txBody>
      </p:sp>
      <p:sp>
        <p:nvSpPr>
          <p:cNvPr id="14" name="descricao Modelo"/>
          <p:cNvSpPr/>
          <p:nvPr/>
        </p:nvSpPr>
        <p:spPr>
          <a:xfrm>
            <a:off x="2743200" y="2761488"/>
            <a:ext cx="5632704" cy="658368"/>
          </a:xfrm>
          <a:prstGeom prst="roundRect">
            <a:avLst>
              <a:gd name="adj" fmla="val 8333"/>
            </a:avLst>
          </a:prstGeom>
          <a:solidFill>
            <a:srgbClr val="E3EFF1"/>
          </a:solidFill>
          <a:ln w="12700">
            <a:solidFill>
              <a:srgbClr val="E3EFF1"/>
            </a:solidFill>
            <a:prstDash val="solid"/>
          </a:ln>
        </p:spPr>
      </p:sp>
      <p:sp>
        <p:nvSpPr>
          <p:cNvPr id="15" name="Text 12"/>
          <p:cNvSpPr txBox="1"/>
          <p:nvPr/>
        </p:nvSpPr>
        <p:spPr>
          <a:xfrm>
            <a:off x="2926080" y="2761488"/>
            <a:ext cx="53035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00397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validators</a:t>
            </a:r>
            <a:pPr indent="0" marL="0">
              <a:buNone/>
            </a:pPr>
            <a:r>
              <a:rPr lang="en-US" sz="1400" dirty="0">
                <a:solidFill>
                  <a:srgbClr val="3A3F44"/>
                </a:solidFill>
              </a:rPr>
              <a:t>, </a:t>
            </a:r>
            <a:pPr indent="0" marL="0">
              <a:buNone/>
            </a:pPr>
            <a:r>
              <a:rPr lang="en-US" sz="1400" dirty="0">
                <a:solidFill>
                  <a:srgbClr val="00397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on_delete</a:t>
            </a:r>
            <a:pPr indent="0" marL="0">
              <a:buNone/>
            </a:pPr>
            <a:r>
              <a:rPr lang="en-US" sz="1400" dirty="0">
                <a:solidFill>
                  <a:srgbClr val="3A3F44"/>
                </a:solidFill>
              </a:rPr>
              <a:t>, </a:t>
            </a:r>
            <a:pPr indent="0" marL="0">
              <a:buNone/>
            </a:pPr>
            <a:r>
              <a:rPr lang="en-US" sz="1400" dirty="0">
                <a:solidFill>
                  <a:srgbClr val="00397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media</a:t>
            </a:r>
            <a:pPr indent="0" marL="0">
              <a:buNone/>
            </a:pPr>
            <a:r>
              <a:rPr lang="en-US" sz="1400" dirty="0">
                <a:solidFill>
                  <a:srgbClr val="3A3F44"/>
                </a:solidFill>
              </a:rPr>
              <a:t>. A regra de negócio, válida em qualquer caminho: tela, admin, seed.</a:t>
            </a:r>
            <a:endParaRPr lang="en-US" sz="1400" dirty="0"/>
          </a:p>
        </p:txBody>
      </p:sp>
      <p:sp>
        <p:nvSpPr>
          <p:cNvPr id="16" name="camada Banco"/>
          <p:cNvSpPr/>
          <p:nvPr/>
        </p:nvSpPr>
        <p:spPr>
          <a:xfrm>
            <a:off x="768096" y="3547872"/>
            <a:ext cx="1828800" cy="658368"/>
          </a:xfrm>
          <a:prstGeom prst="roundRect">
            <a:avLst>
              <a:gd name="adj" fmla="val 8333"/>
            </a:avLst>
          </a:prstGeom>
          <a:solidFill>
            <a:srgbClr val="00397B"/>
          </a:solidFill>
          <a:ln w="12700">
            <a:solidFill>
              <a:srgbClr val="00397B"/>
            </a:solidFill>
            <a:prstDash val="solid"/>
          </a:ln>
        </p:spPr>
      </p:sp>
      <p:sp>
        <p:nvSpPr>
          <p:cNvPr id="17" name="Text 14"/>
          <p:cNvSpPr txBox="1"/>
          <p:nvPr/>
        </p:nvSpPr>
        <p:spPr>
          <a:xfrm>
            <a:off x="768096" y="3547872"/>
            <a:ext cx="18288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</a:rPr>
              <a:t>Banco</a:t>
            </a:r>
            <a:endParaRPr lang="en-US" sz="1700" dirty="0"/>
          </a:p>
        </p:txBody>
      </p:sp>
      <p:sp>
        <p:nvSpPr>
          <p:cNvPr id="18" name="descricao Banco"/>
          <p:cNvSpPr/>
          <p:nvPr/>
        </p:nvSpPr>
        <p:spPr>
          <a:xfrm>
            <a:off x="2743200" y="3547872"/>
            <a:ext cx="5632704" cy="658368"/>
          </a:xfrm>
          <a:prstGeom prst="roundRect">
            <a:avLst>
              <a:gd name="adj" fmla="val 8333"/>
            </a:avLst>
          </a:prstGeom>
          <a:solidFill>
            <a:srgbClr val="E3EFF1"/>
          </a:solidFill>
          <a:ln w="12700">
            <a:solidFill>
              <a:srgbClr val="E3EFF1"/>
            </a:solidFill>
            <a:prstDash val="solid"/>
          </a:ln>
        </p:spPr>
      </p:sp>
      <p:sp>
        <p:nvSpPr>
          <p:cNvPr id="19" name="Text 16"/>
          <p:cNvSpPr txBox="1"/>
          <p:nvPr/>
        </p:nvSpPr>
        <p:spPr>
          <a:xfrm>
            <a:off x="2926080" y="3547872"/>
            <a:ext cx="53035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00397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UNIQUE</a:t>
            </a:r>
            <a:pPr indent="0" marL="0">
              <a:buNone/>
            </a:pPr>
            <a:r>
              <a:rPr lang="en-US" sz="1400" dirty="0">
                <a:solidFill>
                  <a:srgbClr val="3A3F44"/>
                </a:solidFill>
              </a:rPr>
              <a:t>, </a:t>
            </a:r>
            <a:pPr indent="0" marL="0">
              <a:buNone/>
            </a:pPr>
            <a:r>
              <a:rPr lang="en-US" sz="1400" dirty="0">
                <a:solidFill>
                  <a:srgbClr val="00397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FOREIGN KEY</a:t>
            </a:r>
            <a:pPr indent="0" marL="0">
              <a:buNone/>
            </a:pPr>
            <a:r>
              <a:rPr lang="en-US" sz="1400" dirty="0">
                <a:solidFill>
                  <a:srgbClr val="3A3F44"/>
                </a:solidFill>
              </a:rPr>
              <a:t>, </a:t>
            </a:r>
            <a:pPr indent="0" marL="0">
              <a:buNone/>
            </a:pPr>
            <a:r>
              <a:rPr lang="en-US" sz="1400" dirty="0">
                <a:solidFill>
                  <a:srgbClr val="00397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NOT NULL</a:t>
            </a:r>
            <a:pPr indent="0" marL="0">
              <a:buNone/>
            </a:pPr>
            <a:r>
              <a:rPr lang="en-US" sz="1400" dirty="0">
                <a:solidFill>
                  <a:srgbClr val="3A3F44"/>
                </a:solidFill>
              </a:rPr>
              <a:t>. A última barreira: vale até para quem grava pelo shell.</a:t>
            </a:r>
            <a:endParaRPr lang="en-US" sz="1400" dirty="0"/>
          </a:p>
        </p:txBody>
      </p:sp>
      <p:sp>
        <p:nvSpPr>
          <p:cNvPr id="20" name="Text 17"/>
          <p:cNvSpPr txBox="1"/>
          <p:nvPr/>
        </p:nvSpPr>
        <p:spPr>
          <a:xfrm>
            <a:off x="768096" y="4416552"/>
            <a:ext cx="760780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1185AA"/>
                </a:solidFill>
              </a:rPr>
              <a:t>Integridade mora no modelo e no banco. Mensagem mora no formulário.</a:t>
            </a:r>
            <a:endParaRPr lang="en-US" sz="15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5"/>
          <p:cNvSpPr/>
          <p:nvPr>
            <p:ph idx="105" type="title" hasCustomPrompt="1"/>
          </p:nvPr>
        </p:nvSpPr>
        <p:spPr>
          <a:xfrm>
            <a:off x="786384" y="329184"/>
            <a:ext cx="758952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dirty="0">
                <a:solidFill>
                  <a:schemeClr val="tx2"/>
                </a:solidFill>
              </a:rPr>
              <a:t>Cada regra no seu lugar</a:t>
            </a:r>
            <a:endParaRPr lang="en-US" sz="3200" dirty="0"/>
          </a:p>
        </p:txBody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68096" y="1188720"/>
          <a:ext cx="7607808" cy="914400"/>
        </p:xfrm>
        <a:graphic>
          <a:graphicData uri="http://schemas.openxmlformats.org/drawingml/2006/table">
            <a:tbl>
              <a:tblPr/>
              <a:tblGrid>
                <a:gridCol w="2057400"/>
                <a:gridCol w="2651760"/>
                <a:gridCol w="2898648"/>
              </a:tblGrid>
              <a:tr h="4297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</a:rPr>
                        <a:t>Regra</a:t>
                      </a:r>
                      <a:endParaRPr lang="en-US" sz="1300" dirty="0"/>
                    </a:p>
                  </a:txBody>
                  <a:tcPr marL="109728" marR="109728" marT="36576" marB="36576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00397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</a:rPr>
                        <a:t>Onde</a:t>
                      </a:r>
                      <a:endParaRPr lang="en-US" sz="1300" dirty="0"/>
                    </a:p>
                  </a:txBody>
                  <a:tcPr marL="109728" marR="109728" marT="36576" marB="36576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00397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</a:rPr>
                        <a:t>Por quê ali</a:t>
                      </a:r>
                      <a:endParaRPr lang="en-US" sz="1300" dirty="0"/>
                    </a:p>
                  </a:txBody>
                  <a:tcPr marL="109728" marR="109728" marT="36576" marB="36576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00397B"/>
                    </a:solidFill>
                  </a:tcPr>
                </a:tc>
              </a:tr>
              <a:tr h="4297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3A3F44"/>
                          </a:solidFill>
                        </a:rPr>
                        <a:t>Matrícula única</a:t>
                      </a:r>
                      <a:endParaRPr lang="en-US" sz="1300" dirty="0"/>
                    </a:p>
                  </a:txBody>
                  <a:tcPr marL="109728" marR="109728" marT="36576" marB="36576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0397B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unique=True</a:t>
                      </a:r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3A3F44"/>
                          </a:solidFill>
                        </a:rPr>
                        <a:t> + mensagem no form</a:t>
                      </a:r>
                      <a:endParaRPr lang="en-US" sz="1300" dirty="0"/>
                    </a:p>
                  </a:txBody>
                  <a:tcPr marL="109728" marR="109728" marT="36576" marB="36576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3A3F44"/>
                          </a:solidFill>
                        </a:rPr>
                        <a:t>Duas abas podem salvar juntas; só o banco garante.</a:t>
                      </a:r>
                      <a:endParaRPr lang="en-US" sz="1300" dirty="0"/>
                    </a:p>
                  </a:txBody>
                  <a:tcPr marL="109728" marR="109728" marT="36576" marB="36576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</a:tr>
              <a:tr h="4297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3A3F44"/>
                          </a:solidFill>
                        </a:rPr>
                        <a:t>Nota entre 0 e 10</a:t>
                      </a:r>
                      <a:endParaRPr lang="en-US" sz="1300" dirty="0"/>
                    </a:p>
                  </a:txBody>
                  <a:tcPr marL="109728" marR="109728" marT="36576" marB="36576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E3EFF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0397B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validators</a:t>
                      </a:r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3A3F44"/>
                          </a:solidFill>
                        </a:rPr>
                        <a:t> no modelo</a:t>
                      </a:r>
                      <a:endParaRPr lang="en-US" sz="1300" dirty="0"/>
                    </a:p>
                  </a:txBody>
                  <a:tcPr marL="109728" marR="109728" marT="36576" marB="36576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E3EFF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3A3F44"/>
                          </a:solidFill>
                        </a:rPr>
                        <a:t>Vale também para o admin e o shell.</a:t>
                      </a:r>
                      <a:endParaRPr lang="en-US" sz="1300" dirty="0"/>
                    </a:p>
                  </a:txBody>
                  <a:tcPr marL="109728" marR="109728" marT="36576" marB="36576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E3EFF1"/>
                    </a:solidFill>
                  </a:tcPr>
                </a:tc>
              </a:tr>
              <a:tr h="4297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3A3F44"/>
                          </a:solidFill>
                        </a:rPr>
                        <a:t>Carga horária positiva</a:t>
                      </a:r>
                      <a:endParaRPr lang="en-US" sz="1300" dirty="0"/>
                    </a:p>
                  </a:txBody>
                  <a:tcPr marL="109728" marR="109728" marT="36576" marB="36576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3A3F44"/>
                          </a:solidFill>
                        </a:rPr>
                        <a:t>modelo + </a:t>
                      </a:r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0397B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clean_carga_horaria</a:t>
                      </a:r>
                      <a:endParaRPr lang="en-US" sz="1300" dirty="0"/>
                    </a:p>
                  </a:txBody>
                  <a:tcPr marL="109728" marR="109728" marT="36576" marB="36576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3A3F44"/>
                          </a:solidFill>
                        </a:rPr>
                        <a:t>Integridade no modelo, mensagem amigável no form.</a:t>
                      </a:r>
                      <a:endParaRPr lang="en-US" sz="1300" dirty="0"/>
                    </a:p>
                  </a:txBody>
                  <a:tcPr marL="109728" marR="109728" marT="36576" marB="36576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</a:tr>
              <a:tr h="4297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3A3F44"/>
                          </a:solidFill>
                        </a:rPr>
                        <a:t>Código em maiúsculas</a:t>
                      </a:r>
                      <a:endParaRPr lang="en-US" sz="1300" dirty="0"/>
                    </a:p>
                  </a:txBody>
                  <a:tcPr marL="109728" marR="109728" marT="36576" marB="36576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E3EFF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0397B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clean_codigo</a:t>
                      </a:r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3A3F44"/>
                          </a:solidFill>
                        </a:rPr>
                        <a:t> no form</a:t>
                      </a:r>
                      <a:endParaRPr lang="en-US" sz="1300" dirty="0"/>
                    </a:p>
                  </a:txBody>
                  <a:tcPr marL="109728" marR="109728" marT="36576" marB="36576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E3EFF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3A3F44"/>
                          </a:solidFill>
                        </a:rPr>
                        <a:t>É normalização: “ara0095 ” vira “ARA0095”.</a:t>
                      </a:r>
                      <a:endParaRPr lang="en-US" sz="1300" dirty="0"/>
                    </a:p>
                  </a:txBody>
                  <a:tcPr marL="109728" marR="109728" marT="36576" marB="36576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E3EFF1"/>
                    </a:solidFill>
                  </a:tcPr>
                </a:tc>
              </a:tr>
              <a:tr h="4297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3A3F44"/>
                          </a:solidFill>
                        </a:rPr>
                        <a:t>Só aluno ativo se inscreve</a:t>
                      </a:r>
                      <a:endParaRPr lang="en-US" sz="1300" dirty="0"/>
                    </a:p>
                  </a:txBody>
                  <a:tcPr marL="109728" marR="109728" marT="36576" marB="36576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0397B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queryset</a:t>
                      </a:r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3A3F44"/>
                          </a:solidFill>
                        </a:rPr>
                        <a:t> no </a:t>
                      </a:r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0397B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InscricaoForm</a:t>
                      </a:r>
                      <a:endParaRPr lang="en-US" sz="1300" dirty="0"/>
                    </a:p>
                  </a:txBody>
                  <a:tcPr marL="109728" marR="109728" marT="36576" marB="36576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3A3F44"/>
                          </a:solidFill>
                        </a:rPr>
                        <a:t>Melhor esconder a opção do que aceitar e reclamar.</a:t>
                      </a:r>
                      <a:endParaRPr lang="en-US" sz="1300" dirty="0"/>
                    </a:p>
                  </a:txBody>
                  <a:tcPr marL="109728" marR="109728" marT="36576" marB="36576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</a:tr>
              <a:tr h="4297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3A3F44"/>
                          </a:solidFill>
                        </a:rPr>
                        <a:t>Aluno com notas não some</a:t>
                      </a:r>
                      <a:endParaRPr lang="en-US" sz="1300" dirty="0"/>
                    </a:p>
                  </a:txBody>
                  <a:tcPr marL="109728" marR="109728" marT="36576" marB="36576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E3EFF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0397B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on_delete=PROTECT</a:t>
                      </a:r>
                      <a:endParaRPr lang="en-US" sz="1300" dirty="0"/>
                    </a:p>
                  </a:txBody>
                  <a:tcPr marL="109728" marR="109728" marT="36576" marB="36576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E3EFF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3A3F44"/>
                          </a:solidFill>
                        </a:rPr>
                        <a:t>O banco recusa destruir o histórico.</a:t>
                      </a:r>
                      <a:endParaRPr lang="en-US" sz="1300" dirty="0"/>
                    </a:p>
                  </a:txBody>
                  <a:tcPr marL="109728" marR="109728" marT="36576" marB="36576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E3EFF1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5"/>
          <p:cNvSpPr/>
          <p:nvPr>
            <p:ph idx="105" type="title" hasCustomPrompt="1"/>
          </p:nvPr>
        </p:nvSpPr>
        <p:spPr>
          <a:xfrm>
            <a:off x="786384" y="329184"/>
            <a:ext cx="758952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dirty="0">
                <a:solidFill>
                  <a:schemeClr val="tx2"/>
                </a:solidFill>
              </a:rPr>
              <a:t>Formulário que valida e normaliza</a:t>
            </a:r>
            <a:endParaRPr lang="en-US" sz="3200" dirty="0"/>
          </a:p>
        </p:txBody>
      </p:sp>
      <p:sp>
        <p:nvSpPr>
          <p:cNvPr id="4" name="codigo fundo"/>
          <p:cNvSpPr/>
          <p:nvPr/>
        </p:nvSpPr>
        <p:spPr>
          <a:xfrm>
            <a:off x="768096" y="1188720"/>
            <a:ext cx="4709160" cy="3429000"/>
          </a:xfrm>
          <a:prstGeom prst="roundRect">
            <a:avLst>
              <a:gd name="adj" fmla="val 2133"/>
            </a:avLst>
          </a:prstGeom>
          <a:solidFill>
            <a:srgbClr val="1E2433"/>
          </a:solidFill>
          <a:ln w="12700">
            <a:solidFill>
              <a:srgbClr val="1E2433"/>
            </a:solidFill>
            <a:prstDash val="solid"/>
          </a:ln>
        </p:spPr>
      </p:sp>
      <p:sp>
        <p:nvSpPr>
          <p:cNvPr id="5" name="Shape 2"/>
          <p:cNvSpPr/>
          <p:nvPr/>
        </p:nvSpPr>
        <p:spPr>
          <a:xfrm>
            <a:off x="932688" y="1307592"/>
            <a:ext cx="91440" cy="91440"/>
          </a:xfrm>
          <a:prstGeom prst="ellipse">
            <a:avLst/>
          </a:prstGeom>
          <a:solidFill>
            <a:srgbClr val="FF5F57"/>
          </a:solidFill>
          <a:ln w="12700">
            <a:solidFill>
              <a:srgbClr val="FF5F57"/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>
            <a:off x="1078992" y="1307592"/>
            <a:ext cx="91440" cy="91440"/>
          </a:xfrm>
          <a:prstGeom prst="ellipse">
            <a:avLst/>
          </a:prstGeom>
          <a:solidFill>
            <a:srgbClr val="FEBC2E"/>
          </a:solidFill>
          <a:ln w="12700">
            <a:solidFill>
              <a:srgbClr val="FEBC2E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1225296" y="1307592"/>
            <a:ext cx="91440" cy="91440"/>
          </a:xfrm>
          <a:prstGeom prst="ellipse">
            <a:avLst/>
          </a:prstGeom>
          <a:solidFill>
            <a:srgbClr val="28C840"/>
          </a:solidFill>
          <a:ln w="12700">
            <a:solidFill>
              <a:srgbClr val="28C840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1426464" y="1243584"/>
            <a:ext cx="3886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academico/forms.py · TODO 5</a:t>
            </a:r>
            <a:endParaRPr lang="en-US" sz="900" dirty="0"/>
          </a:p>
        </p:txBody>
      </p:sp>
      <p:sp>
        <p:nvSpPr>
          <p:cNvPr id="9" name="codigo texto"/>
          <p:cNvSpPr txBox="1"/>
          <p:nvPr/>
        </p:nvSpPr>
        <p:spPr>
          <a:xfrm>
            <a:off x="987552" y="1572768"/>
            <a:ext cx="4343400" cy="29535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7DC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class</a:t>
            </a:r>
            <a:pPr indent="0" marL="0">
              <a:buNone/>
            </a:pPr>
            <a:r>
              <a:rPr lang="en-US" sz="10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DisciplinaForm(BootstrapMixin, forms.ModelForm):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</a:t>
            </a:r>
            <a:pPr indent="0" marL="0">
              <a:buNone/>
            </a:pPr>
            <a:r>
              <a:rPr lang="en-US" sz="1050" dirty="0">
                <a:solidFill>
                  <a:srgbClr val="7DC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class</a:t>
            </a:r>
            <a:pPr indent="0" marL="0">
              <a:buNone/>
            </a:pPr>
            <a:r>
              <a:rPr lang="en-US" sz="10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Meta: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model = Disciplina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fields = [</a:t>
            </a:r>
            <a:pPr indent="0" marL="0">
              <a:buNone/>
            </a:pPr>
            <a:r>
              <a:rPr lang="en-US" sz="1050" dirty="0">
                <a:solidFill>
                  <a:srgbClr val="F0C67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"codigo"</a:t>
            </a:r>
            <a:pPr indent="0" marL="0">
              <a:buNone/>
            </a:pPr>
            <a:r>
              <a:rPr lang="en-US" sz="10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 </a:t>
            </a:r>
            <a:pPr indent="0" marL="0">
              <a:buNone/>
            </a:pPr>
            <a:r>
              <a:rPr lang="en-US" sz="1050" dirty="0">
                <a:solidFill>
                  <a:srgbClr val="F0C67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"nome"</a:t>
            </a:r>
            <a:pPr indent="0" marL="0">
              <a:buNone/>
            </a:pPr>
            <a:r>
              <a:rPr lang="en-US" sz="10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      </a:t>
            </a:r>
            <a:pPr indent="0" marL="0">
              <a:buNone/>
            </a:pPr>
            <a:r>
              <a:rPr lang="en-US" sz="1050" dirty="0">
                <a:solidFill>
                  <a:srgbClr val="F0C67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"carga_horaria"</a:t>
            </a:r>
            <a:pPr indent="0" marL="0">
              <a:buNone/>
            </a:pPr>
            <a:r>
              <a:rPr lang="en-US" sz="10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 </a:t>
            </a:r>
            <a:pPr indent="0" marL="0">
              <a:buNone/>
            </a:pPr>
            <a:r>
              <a:rPr lang="en-US" sz="1050" dirty="0">
                <a:solidFill>
                  <a:srgbClr val="F0C67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"periodo"</a:t>
            </a:r>
            <a:pPr indent="0" marL="0">
              <a:buNone/>
            </a:pPr>
            <a:r>
              <a:rPr lang="en-US" sz="10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]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</a:t>
            </a:r>
            <a:pPr indent="0" marL="0">
              <a:buNone/>
            </a:pPr>
            <a:r>
              <a:rPr lang="en-US" sz="1050" dirty="0">
                <a:solidFill>
                  <a:srgbClr val="7DC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def</a:t>
            </a:r>
            <a:pPr indent="0" marL="0">
              <a:buNone/>
            </a:pPr>
            <a:r>
              <a:rPr lang="en-US" sz="10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clean_codigo(self):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codigo = self.cleaned_data[</a:t>
            </a:r>
            <a:pPr indent="0" marL="0">
              <a:buNone/>
            </a:pPr>
            <a:r>
              <a:rPr lang="en-US" sz="1050" dirty="0">
                <a:solidFill>
                  <a:srgbClr val="F0C67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"codigo"</a:t>
            </a:r>
            <a:pPr indent="0" marL="0">
              <a:buNone/>
            </a:pPr>
            <a:r>
              <a:rPr lang="en-US" sz="10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]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</a:t>
            </a:r>
            <a:pPr indent="0" marL="0">
              <a:buNone/>
            </a:pPr>
            <a:r>
              <a:rPr lang="en-US" sz="1050" dirty="0">
                <a:solidFill>
                  <a:srgbClr val="7DC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return</a:t>
            </a:r>
            <a:pPr indent="0" marL="0">
              <a:buNone/>
            </a:pPr>
            <a:r>
              <a:rPr lang="en-US" sz="10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codigo.strip().upper()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</a:t>
            </a:r>
            <a:pPr indent="0" marL="0">
              <a:buNone/>
            </a:pPr>
            <a:r>
              <a:rPr lang="en-US" sz="1050" dirty="0">
                <a:solidFill>
                  <a:srgbClr val="7DC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def</a:t>
            </a:r>
            <a:pPr indent="0" marL="0">
              <a:buNone/>
            </a:pPr>
            <a:r>
              <a:rPr lang="en-US" sz="10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clean_carga_horaria(self):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ch = self.cleaned_data[</a:t>
            </a:r>
            <a:pPr indent="0" marL="0">
              <a:buNone/>
            </a:pPr>
            <a:r>
              <a:rPr lang="en-US" sz="1050" dirty="0">
                <a:solidFill>
                  <a:srgbClr val="F0C67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"carga_horaria"</a:t>
            </a:r>
            <a:pPr indent="0" marL="0">
              <a:buNone/>
            </a:pPr>
            <a:r>
              <a:rPr lang="en-US" sz="10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]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</a:t>
            </a:r>
            <a:pPr indent="0" marL="0">
              <a:buNone/>
            </a:pPr>
            <a:r>
              <a:rPr lang="en-US" sz="1050" dirty="0">
                <a:solidFill>
                  <a:srgbClr val="7DC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if</a:t>
            </a:r>
            <a:pPr indent="0" marL="0">
              <a:buNone/>
            </a:pPr>
            <a:r>
              <a:rPr lang="en-US" sz="10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ch &lt;= </a:t>
            </a:r>
            <a:pPr indent="0" marL="0">
              <a:buNone/>
            </a:pPr>
            <a:r>
              <a:rPr lang="en-US" sz="1050" dirty="0">
                <a:solidFill>
                  <a:srgbClr val="F78C6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</a:t>
            </a:r>
            <a:pPr indent="0" marL="0">
              <a:buNone/>
            </a:pPr>
            <a:r>
              <a:rPr lang="en-US" sz="10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: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</a:t>
            </a:r>
            <a:pPr indent="0" marL="0">
              <a:buNone/>
            </a:pPr>
            <a:r>
              <a:rPr lang="en-US" sz="1050" dirty="0">
                <a:solidFill>
                  <a:srgbClr val="7DC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raise</a:t>
            </a:r>
            <a:pPr indent="0" marL="0">
              <a:buNone/>
            </a:pPr>
            <a:r>
              <a:rPr lang="en-US" sz="10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forms.ValidationError(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    </a:t>
            </a:r>
            <a:pPr indent="0" marL="0">
              <a:buNone/>
            </a:pPr>
            <a:r>
              <a:rPr lang="en-US" sz="1050" dirty="0">
                <a:solidFill>
                  <a:srgbClr val="F0C67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"Informe uma carga horária positiva."</a:t>
            </a:r>
            <a:pPr indent="0" marL="0">
              <a:buNone/>
            </a:pPr>
            <a:r>
              <a:rPr lang="en-US" sz="10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</a:t>
            </a:r>
            <a:pPr indent="0" marL="0">
              <a:buNone/>
            </a:pPr>
            <a:r>
              <a:rPr lang="en-US" sz="1050" dirty="0">
                <a:solidFill>
                  <a:srgbClr val="7DC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return</a:t>
            </a:r>
            <a:pPr indent="0" marL="0">
              <a:buNone/>
            </a:pPr>
            <a:r>
              <a:rPr lang="en-US" sz="10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ch</a:t>
            </a:r>
            <a:endParaRPr lang="en-US" sz="1050" dirty="0"/>
          </a:p>
        </p:txBody>
      </p:sp>
      <p:sp>
        <p:nvSpPr>
          <p:cNvPr id="10" name="nota 0"/>
          <p:cNvSpPr/>
          <p:nvPr/>
        </p:nvSpPr>
        <p:spPr>
          <a:xfrm>
            <a:off x="5669280" y="1188720"/>
            <a:ext cx="2706624" cy="1024128"/>
          </a:xfrm>
          <a:prstGeom prst="roundRect">
            <a:avLst>
              <a:gd name="adj" fmla="val 5357"/>
            </a:avLst>
          </a:prstGeom>
          <a:solidFill>
            <a:srgbClr val="E3EFF1"/>
          </a:solidFill>
          <a:ln w="12700">
            <a:solidFill>
              <a:srgbClr val="E3EFF1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5852160" y="1280160"/>
            <a:ext cx="23774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397B"/>
                </a:solidFill>
              </a:rPr>
              <a:t>Roda dentro do </a:t>
            </a:r>
            <a:pPr indent="0" marL="0">
              <a:buNone/>
            </a:pPr>
            <a:r>
              <a:rPr lang="en-US" sz="1400" b="1" dirty="0">
                <a:solidFill>
                  <a:srgbClr val="00397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is_valid()</a:t>
            </a:r>
            <a:endParaRPr lang="en-US" sz="1400" dirty="0"/>
          </a:p>
        </p:txBody>
      </p:sp>
      <p:sp>
        <p:nvSpPr>
          <p:cNvPr id="12" name="Text 9"/>
          <p:cNvSpPr txBox="1"/>
          <p:nvPr/>
        </p:nvSpPr>
        <p:spPr>
          <a:xfrm>
            <a:off x="5852160" y="1609344"/>
            <a:ext cx="2377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3A3F44"/>
                </a:solidFill>
              </a:rPr>
              <a:t>Um </a:t>
            </a:r>
            <a:pPr indent="0" marL="0">
              <a:buNone/>
            </a:pPr>
            <a:r>
              <a:rPr lang="en-US" sz="1300" dirty="0">
                <a:solidFill>
                  <a:srgbClr val="00397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clean_&lt;campo&gt;</a:t>
            </a:r>
            <a:pPr indent="0" marL="0">
              <a:buNone/>
            </a:pPr>
            <a:r>
              <a:rPr lang="en-US" sz="1300" dirty="0">
                <a:solidFill>
                  <a:srgbClr val="3A3F44"/>
                </a:solidFill>
              </a:rPr>
              <a:t> por campo, na ordem do </a:t>
            </a:r>
            <a:pPr indent="0" marL="0">
              <a:buNone/>
            </a:pPr>
            <a:r>
              <a:rPr lang="en-US" sz="1300" dirty="0">
                <a:solidFill>
                  <a:srgbClr val="00397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fields</a:t>
            </a:r>
            <a:pPr indent="0" marL="0">
              <a:buNone/>
            </a:pPr>
            <a:r>
              <a:rPr lang="en-US" sz="1300" dirty="0">
                <a:solidFill>
                  <a:srgbClr val="3A3F44"/>
                </a:solidFill>
              </a:rPr>
              <a:t>.</a:t>
            </a:r>
            <a:endParaRPr lang="en-US" sz="1300" dirty="0"/>
          </a:p>
        </p:txBody>
      </p:sp>
      <p:sp>
        <p:nvSpPr>
          <p:cNvPr id="13" name="nota 1"/>
          <p:cNvSpPr/>
          <p:nvPr/>
        </p:nvSpPr>
        <p:spPr>
          <a:xfrm>
            <a:off x="5669280" y="2359152"/>
            <a:ext cx="2706624" cy="1024128"/>
          </a:xfrm>
          <a:prstGeom prst="roundRect">
            <a:avLst>
              <a:gd name="adj" fmla="val 5357"/>
            </a:avLst>
          </a:prstGeom>
          <a:solidFill>
            <a:srgbClr val="E3EFF1"/>
          </a:solidFill>
          <a:ln w="12700">
            <a:solidFill>
              <a:srgbClr val="E3EFF1"/>
            </a:solidFill>
            <a:prstDash val="solid"/>
          </a:ln>
        </p:spPr>
      </p:sp>
      <p:sp>
        <p:nvSpPr>
          <p:cNvPr id="14" name="Text 11"/>
          <p:cNvSpPr txBox="1"/>
          <p:nvPr/>
        </p:nvSpPr>
        <p:spPr>
          <a:xfrm>
            <a:off x="5852160" y="2450592"/>
            <a:ext cx="23774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397B"/>
                </a:solidFill>
              </a:rPr>
              <a:t>Sempre </a:t>
            </a:r>
            <a:pPr indent="0" marL="0">
              <a:buNone/>
            </a:pPr>
            <a:r>
              <a:rPr lang="en-US" sz="1400" b="1" dirty="0">
                <a:solidFill>
                  <a:srgbClr val="00397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return</a:t>
            </a:r>
            <a:endParaRPr lang="en-US" sz="1400" dirty="0"/>
          </a:p>
        </p:txBody>
      </p:sp>
      <p:sp>
        <p:nvSpPr>
          <p:cNvPr id="15" name="Text 12"/>
          <p:cNvSpPr txBox="1"/>
          <p:nvPr/>
        </p:nvSpPr>
        <p:spPr>
          <a:xfrm>
            <a:off x="5852160" y="2779776"/>
            <a:ext cx="2377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3A3F44"/>
                </a:solidFill>
              </a:rPr>
              <a:t>O que o método devolve é o valor que será salvo. Sem </a:t>
            </a:r>
            <a:pPr indent="0" marL="0">
              <a:buNone/>
            </a:pPr>
            <a:r>
              <a:rPr lang="en-US" sz="1300" dirty="0">
                <a:solidFill>
                  <a:srgbClr val="00397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return</a:t>
            </a:r>
            <a:pPr indent="0" marL="0">
              <a:buNone/>
            </a:pPr>
            <a:r>
              <a:rPr lang="en-US" sz="1300" dirty="0">
                <a:solidFill>
                  <a:srgbClr val="3A3F44"/>
                </a:solidFill>
              </a:rPr>
              <a:t>, vira </a:t>
            </a:r>
            <a:pPr indent="0" marL="0">
              <a:buNone/>
            </a:pPr>
            <a:r>
              <a:rPr lang="en-US" sz="1300" dirty="0">
                <a:solidFill>
                  <a:srgbClr val="00397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None</a:t>
            </a:r>
            <a:pPr indent="0" marL="0">
              <a:buNone/>
            </a:pPr>
            <a:r>
              <a:rPr lang="en-US" sz="1300" dirty="0">
                <a:solidFill>
                  <a:srgbClr val="3A3F44"/>
                </a:solidFill>
              </a:rPr>
              <a:t>.</a:t>
            </a:r>
            <a:endParaRPr lang="en-US" sz="1300" dirty="0"/>
          </a:p>
        </p:txBody>
      </p:sp>
      <p:sp>
        <p:nvSpPr>
          <p:cNvPr id="16" name="nota 2"/>
          <p:cNvSpPr/>
          <p:nvPr/>
        </p:nvSpPr>
        <p:spPr>
          <a:xfrm>
            <a:off x="5669280" y="3529584"/>
            <a:ext cx="2706624" cy="1024128"/>
          </a:xfrm>
          <a:prstGeom prst="roundRect">
            <a:avLst>
              <a:gd name="adj" fmla="val 5357"/>
            </a:avLst>
          </a:prstGeom>
          <a:solidFill>
            <a:srgbClr val="E3EFF1"/>
          </a:solidFill>
          <a:ln w="12700">
            <a:solidFill>
              <a:srgbClr val="E3EFF1"/>
            </a:solidFill>
            <a:prstDash val="solid"/>
          </a:ln>
        </p:spPr>
      </p:sp>
      <p:sp>
        <p:nvSpPr>
          <p:cNvPr id="17" name="Text 14"/>
          <p:cNvSpPr txBox="1"/>
          <p:nvPr/>
        </p:nvSpPr>
        <p:spPr>
          <a:xfrm>
            <a:off x="5852160" y="3621024"/>
            <a:ext cx="23774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397B"/>
                </a:solidFill>
              </a:rPr>
              <a:t>Erro aparece no campo</a:t>
            </a:r>
            <a:endParaRPr lang="en-US" sz="1400" dirty="0"/>
          </a:p>
        </p:txBody>
      </p:sp>
      <p:sp>
        <p:nvSpPr>
          <p:cNvPr id="18" name="Text 15"/>
          <p:cNvSpPr txBox="1"/>
          <p:nvPr/>
        </p:nvSpPr>
        <p:spPr>
          <a:xfrm>
            <a:off x="5852160" y="3950208"/>
            <a:ext cx="2377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00397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ValidationError</a:t>
            </a:r>
            <a:pPr indent="0" marL="0">
              <a:buNone/>
            </a:pPr>
            <a:r>
              <a:rPr lang="en-US" sz="1300" dirty="0">
                <a:solidFill>
                  <a:srgbClr val="3A3F44"/>
                </a:solidFill>
              </a:rPr>
              <a:t> volta a tela preenchida, com a mensagem embaixo do campo.</a:t>
            </a:r>
            <a:endParaRPr lang="en-US" sz="13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5"/>
          <p:cNvSpPr/>
          <p:nvPr>
            <p:ph idx="105" type="title" hasCustomPrompt="1"/>
          </p:nvPr>
        </p:nvSpPr>
        <p:spPr>
          <a:xfrm>
            <a:off x="786384" y="329184"/>
            <a:ext cx="758952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dirty="0">
                <a:solidFill>
                  <a:schemeClr val="tx2"/>
                </a:solidFill>
              </a:rPr>
              <a:t>O padrão da view com formulário</a:t>
            </a:r>
            <a:endParaRPr lang="en-US" sz="3200" dirty="0"/>
          </a:p>
        </p:txBody>
      </p:sp>
      <p:sp>
        <p:nvSpPr>
          <p:cNvPr id="4" name="Shape 1"/>
          <p:cNvSpPr/>
          <p:nvPr/>
        </p:nvSpPr>
        <p:spPr>
          <a:xfrm>
            <a:off x="768096" y="1234440"/>
            <a:ext cx="822960" cy="713232"/>
          </a:xfrm>
          <a:prstGeom prst="roundRect">
            <a:avLst>
              <a:gd name="adj" fmla="val 7692"/>
            </a:avLst>
          </a:prstGeom>
          <a:solidFill>
            <a:srgbClr val="00397B"/>
          </a:solidFill>
          <a:ln w="12700">
            <a:solidFill>
              <a:srgbClr val="00397B"/>
            </a:solidFill>
            <a:prstDash val="solid"/>
          </a:ln>
        </p:spPr>
      </p:sp>
      <p:sp>
        <p:nvSpPr>
          <p:cNvPr id="5" name="Text 2"/>
          <p:cNvSpPr txBox="1"/>
          <p:nvPr/>
        </p:nvSpPr>
        <p:spPr>
          <a:xfrm>
            <a:off x="768096" y="1234440"/>
            <a:ext cx="82296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GET</a:t>
            </a:r>
            <a:endParaRPr lang="en-US" sz="1500" dirty="0"/>
          </a:p>
        </p:txBody>
      </p:sp>
      <p:sp>
        <p:nvSpPr>
          <p:cNvPr id="6" name="Shape 3"/>
          <p:cNvSpPr/>
          <p:nvPr/>
        </p:nvSpPr>
        <p:spPr>
          <a:xfrm>
            <a:off x="1865376" y="1234440"/>
            <a:ext cx="1783080" cy="713232"/>
          </a:xfrm>
          <a:prstGeom prst="roundRect">
            <a:avLst>
              <a:gd name="adj" fmla="val 7692"/>
            </a:avLst>
          </a:prstGeom>
          <a:solidFill>
            <a:srgbClr val="E3EFF1"/>
          </a:solidFill>
          <a:ln w="12700">
            <a:solidFill>
              <a:srgbClr val="E3EFF1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1938528" y="1234440"/>
            <a:ext cx="1636776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00397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AlunoForm()</a:t>
            </a:r>
            <a:pPr algn="ctr" indent="0" marL="0">
              <a:buNone/>
            </a:pPr>
            <a:endParaRPr lang="en-US" sz="1300" dirty="0"/>
          </a:p>
          <a:p>
            <a:pPr algn="ctr" indent="0" marL="0">
              <a:buNone/>
            </a:pPr>
            <a:r>
              <a:rPr lang="en-US" sz="1300" dirty="0">
                <a:solidFill>
                  <a:srgbClr val="00397B"/>
                </a:solidFill>
              </a:rPr>
              <a:t>formulário vazio</a:t>
            </a:r>
            <a:endParaRPr lang="en-US" sz="1300" dirty="0"/>
          </a:p>
        </p:txBody>
      </p:sp>
      <p:sp>
        <p:nvSpPr>
          <p:cNvPr id="8" name="Shape 5"/>
          <p:cNvSpPr/>
          <p:nvPr/>
        </p:nvSpPr>
        <p:spPr>
          <a:xfrm>
            <a:off x="1609344" y="1591056"/>
            <a:ext cx="237744" cy="0"/>
          </a:xfrm>
          <a:prstGeom prst="line">
            <a:avLst/>
          </a:prstGeom>
          <a:noFill/>
          <a:ln w="25400">
            <a:solidFill>
              <a:srgbClr val="1185AA"/>
            </a:solidFill>
            <a:prstDash val="solid"/>
            <a:tailEnd type="triangle"/>
          </a:ln>
        </p:spPr>
      </p:sp>
      <p:sp>
        <p:nvSpPr>
          <p:cNvPr id="9" name="Shape 6"/>
          <p:cNvSpPr/>
          <p:nvPr/>
        </p:nvSpPr>
        <p:spPr>
          <a:xfrm>
            <a:off x="3666744" y="1591056"/>
            <a:ext cx="237744" cy="0"/>
          </a:xfrm>
          <a:prstGeom prst="line">
            <a:avLst/>
          </a:prstGeom>
          <a:noFill/>
          <a:ln w="25400">
            <a:solidFill>
              <a:srgbClr val="1185AA"/>
            </a:solidFill>
            <a:prstDash val="solid"/>
            <a:tailEnd type="triangle"/>
          </a:ln>
        </p:spPr>
      </p:sp>
      <p:sp>
        <p:nvSpPr>
          <p:cNvPr id="10" name="Shape 7"/>
          <p:cNvSpPr/>
          <p:nvPr/>
        </p:nvSpPr>
        <p:spPr>
          <a:xfrm>
            <a:off x="3922776" y="1234440"/>
            <a:ext cx="1600200" cy="713232"/>
          </a:xfrm>
          <a:prstGeom prst="roundRect">
            <a:avLst>
              <a:gd name="adj" fmla="val 7692"/>
            </a:avLst>
          </a:prstGeom>
          <a:solidFill>
            <a:srgbClr val="E3EFF1"/>
          </a:solidFill>
          <a:ln w="12700">
            <a:solidFill>
              <a:srgbClr val="E3EFF1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3995928" y="1234440"/>
            <a:ext cx="1453896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00397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render(...)</a:t>
            </a:r>
            <a:pPr algn="ctr" indent="0" marL="0">
              <a:buNone/>
            </a:pPr>
            <a:endParaRPr lang="en-US" sz="1300" dirty="0"/>
          </a:p>
          <a:p>
            <a:pPr algn="ctr" indent="0" marL="0">
              <a:buNone/>
            </a:pPr>
            <a:r>
              <a:rPr lang="en-US" sz="1300" dirty="0">
                <a:solidFill>
                  <a:srgbClr val="00397B"/>
                </a:solidFill>
              </a:rPr>
              <a:t>mostra a tela</a:t>
            </a:r>
            <a:endParaRPr lang="en-US" sz="1300" dirty="0"/>
          </a:p>
        </p:txBody>
      </p:sp>
      <p:sp>
        <p:nvSpPr>
          <p:cNvPr id="12" name="Shape 9"/>
          <p:cNvSpPr/>
          <p:nvPr/>
        </p:nvSpPr>
        <p:spPr>
          <a:xfrm>
            <a:off x="768096" y="2377440"/>
            <a:ext cx="822960" cy="713232"/>
          </a:xfrm>
          <a:prstGeom prst="roundRect">
            <a:avLst>
              <a:gd name="adj" fmla="val 7692"/>
            </a:avLst>
          </a:prstGeom>
          <a:solidFill>
            <a:srgbClr val="00397B"/>
          </a:solidFill>
          <a:ln w="12700">
            <a:solidFill>
              <a:srgbClr val="00397B"/>
            </a:solidFill>
            <a:prstDash val="solid"/>
          </a:ln>
        </p:spPr>
      </p:sp>
      <p:sp>
        <p:nvSpPr>
          <p:cNvPr id="13" name="Text 10"/>
          <p:cNvSpPr txBox="1"/>
          <p:nvPr/>
        </p:nvSpPr>
        <p:spPr>
          <a:xfrm>
            <a:off x="768096" y="2377440"/>
            <a:ext cx="82296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POST</a:t>
            </a:r>
            <a:endParaRPr lang="en-US" sz="1500" dirty="0"/>
          </a:p>
        </p:txBody>
      </p:sp>
      <p:sp>
        <p:nvSpPr>
          <p:cNvPr id="14" name="Shape 11"/>
          <p:cNvSpPr/>
          <p:nvPr/>
        </p:nvSpPr>
        <p:spPr>
          <a:xfrm>
            <a:off x="1865376" y="2377440"/>
            <a:ext cx="1783080" cy="713232"/>
          </a:xfrm>
          <a:prstGeom prst="roundRect">
            <a:avLst>
              <a:gd name="adj" fmla="val 7692"/>
            </a:avLst>
          </a:prstGeom>
          <a:solidFill>
            <a:srgbClr val="E3EFF1"/>
          </a:solidFill>
          <a:ln w="12700">
            <a:solidFill>
              <a:srgbClr val="E3EFF1"/>
            </a:solidFill>
            <a:prstDash val="solid"/>
          </a:ln>
        </p:spPr>
      </p:sp>
      <p:sp>
        <p:nvSpPr>
          <p:cNvPr id="15" name="Text 12"/>
          <p:cNvSpPr txBox="1"/>
          <p:nvPr/>
        </p:nvSpPr>
        <p:spPr>
          <a:xfrm>
            <a:off x="1938528" y="2377440"/>
            <a:ext cx="1636776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00397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AlunoForm(</a:t>
            </a:r>
            <a:pPr algn="ctr" indent="0" marL="0">
              <a:buNone/>
            </a:pPr>
            <a:r>
              <a:rPr lang="en-US" sz="1300" dirty="0">
                <a:solidFill>
                  <a:srgbClr val="00397B"/>
                </a:solidFill>
              </a:rPr>
              <a:t>
</a:t>
            </a:r>
            <a:pPr algn="ctr" indent="0" marL="0">
              <a:buNone/>
            </a:pPr>
            <a:r>
              <a:rPr lang="en-US" sz="1300" dirty="0">
                <a:solidFill>
                  <a:srgbClr val="00397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request.POST)</a:t>
            </a:r>
            <a:endParaRPr lang="en-US" sz="1300" dirty="0"/>
          </a:p>
        </p:txBody>
      </p:sp>
      <p:sp>
        <p:nvSpPr>
          <p:cNvPr id="16" name="Shape 13"/>
          <p:cNvSpPr/>
          <p:nvPr/>
        </p:nvSpPr>
        <p:spPr>
          <a:xfrm>
            <a:off x="1609344" y="2734056"/>
            <a:ext cx="237744" cy="0"/>
          </a:xfrm>
          <a:prstGeom prst="line">
            <a:avLst/>
          </a:prstGeom>
          <a:noFill/>
          <a:ln w="25400">
            <a:solidFill>
              <a:srgbClr val="1185AA"/>
            </a:solidFill>
            <a:prstDash val="solid"/>
            <a:tailEnd type="triangle"/>
          </a:ln>
        </p:spPr>
      </p:sp>
      <p:sp>
        <p:nvSpPr>
          <p:cNvPr id="17" name="Shape 14"/>
          <p:cNvSpPr/>
          <p:nvPr/>
        </p:nvSpPr>
        <p:spPr>
          <a:xfrm>
            <a:off x="3666744" y="2734056"/>
            <a:ext cx="237744" cy="0"/>
          </a:xfrm>
          <a:prstGeom prst="line">
            <a:avLst/>
          </a:prstGeom>
          <a:noFill/>
          <a:ln w="25400">
            <a:solidFill>
              <a:srgbClr val="1185AA"/>
            </a:solidFill>
            <a:prstDash val="solid"/>
            <a:tailEnd type="triangle"/>
          </a:ln>
        </p:spPr>
      </p:sp>
      <p:sp>
        <p:nvSpPr>
          <p:cNvPr id="18" name="Shape 15"/>
          <p:cNvSpPr/>
          <p:nvPr/>
        </p:nvSpPr>
        <p:spPr>
          <a:xfrm>
            <a:off x="3922776" y="2377440"/>
            <a:ext cx="1600200" cy="713232"/>
          </a:xfrm>
          <a:prstGeom prst="roundRect">
            <a:avLst>
              <a:gd name="adj" fmla="val 7692"/>
            </a:avLst>
          </a:prstGeom>
          <a:solidFill>
            <a:srgbClr val="1185AA"/>
          </a:solidFill>
          <a:ln w="12700">
            <a:solidFill>
              <a:srgbClr val="1185AA"/>
            </a:solidFill>
            <a:prstDash val="solid"/>
          </a:ln>
        </p:spPr>
      </p:sp>
      <p:sp>
        <p:nvSpPr>
          <p:cNvPr id="19" name="Text 16"/>
          <p:cNvSpPr txBox="1"/>
          <p:nvPr/>
        </p:nvSpPr>
        <p:spPr>
          <a:xfrm>
            <a:off x="3995928" y="2377440"/>
            <a:ext cx="1453896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form.is_valid()</a:t>
            </a:r>
            <a:pPr algn="ctr" indent="0" marL="0">
              <a:buNone/>
            </a:pPr>
            <a:r>
              <a:rPr lang="en-US" sz="1300" dirty="0">
                <a:solidFill>
                  <a:srgbClr val="FFFFFF"/>
                </a:solidFill>
              </a:rPr>
              <a:t>?</a:t>
            </a:r>
            <a:endParaRPr lang="en-US" sz="1300" dirty="0"/>
          </a:p>
        </p:txBody>
      </p:sp>
      <p:sp>
        <p:nvSpPr>
          <p:cNvPr id="20" name="Shape 17"/>
          <p:cNvSpPr/>
          <p:nvPr/>
        </p:nvSpPr>
        <p:spPr>
          <a:xfrm>
            <a:off x="5541264" y="2734056"/>
            <a:ext cx="237744" cy="0"/>
          </a:xfrm>
          <a:prstGeom prst="line">
            <a:avLst/>
          </a:prstGeom>
          <a:noFill/>
          <a:ln w="25400">
            <a:solidFill>
              <a:srgbClr val="1185AA"/>
            </a:solidFill>
            <a:prstDash val="solid"/>
            <a:tailEnd type="triangle"/>
          </a:ln>
        </p:spPr>
      </p:sp>
      <p:sp>
        <p:nvSpPr>
          <p:cNvPr id="21" name="Text 18"/>
          <p:cNvSpPr txBox="1"/>
          <p:nvPr/>
        </p:nvSpPr>
        <p:spPr>
          <a:xfrm>
            <a:off x="5559552" y="2432304"/>
            <a:ext cx="2377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185AA"/>
                </a:solidFill>
              </a:rPr>
              <a:t>sim</a:t>
            </a:r>
            <a:endParaRPr lang="en-US" sz="1100" dirty="0"/>
          </a:p>
        </p:txBody>
      </p:sp>
      <p:sp>
        <p:nvSpPr>
          <p:cNvPr id="22" name="Shape 19"/>
          <p:cNvSpPr/>
          <p:nvPr/>
        </p:nvSpPr>
        <p:spPr>
          <a:xfrm>
            <a:off x="5797296" y="2377440"/>
            <a:ext cx="1280160" cy="713232"/>
          </a:xfrm>
          <a:prstGeom prst="roundRect">
            <a:avLst>
              <a:gd name="adj" fmla="val 7692"/>
            </a:avLst>
          </a:prstGeom>
          <a:solidFill>
            <a:srgbClr val="E3EFF1"/>
          </a:solidFill>
          <a:ln w="12700">
            <a:solidFill>
              <a:srgbClr val="E3EFF1"/>
            </a:solidFill>
            <a:prstDash val="solid"/>
          </a:ln>
        </p:spPr>
      </p:sp>
      <p:sp>
        <p:nvSpPr>
          <p:cNvPr id="23" name="Text 20"/>
          <p:cNvSpPr txBox="1"/>
          <p:nvPr/>
        </p:nvSpPr>
        <p:spPr>
          <a:xfrm>
            <a:off x="5870448" y="2377440"/>
            <a:ext cx="1133856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00397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save()</a:t>
            </a:r>
            <a:pPr algn="ctr" indent="0" marL="0">
              <a:buNone/>
            </a:pPr>
            <a:r>
              <a:rPr lang="en-US" sz="1300" dirty="0">
                <a:solidFill>
                  <a:srgbClr val="00397B"/>
                </a:solidFill>
              </a:rPr>
              <a:t> +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dirty="0">
                <a:solidFill>
                  <a:srgbClr val="00397B"/>
                </a:solidFill>
              </a:rPr>
              <a:t>mensagem</a:t>
            </a:r>
            <a:endParaRPr lang="en-US" sz="1300" dirty="0"/>
          </a:p>
        </p:txBody>
      </p:sp>
      <p:sp>
        <p:nvSpPr>
          <p:cNvPr id="24" name="Shape 21"/>
          <p:cNvSpPr/>
          <p:nvPr/>
        </p:nvSpPr>
        <p:spPr>
          <a:xfrm>
            <a:off x="7095744" y="2734056"/>
            <a:ext cx="182880" cy="0"/>
          </a:xfrm>
          <a:prstGeom prst="line">
            <a:avLst/>
          </a:prstGeom>
          <a:noFill/>
          <a:ln w="25400">
            <a:solidFill>
              <a:srgbClr val="1185AA"/>
            </a:solidFill>
            <a:prstDash val="solid"/>
            <a:tailEnd type="triangle"/>
          </a:ln>
        </p:spPr>
      </p:sp>
      <p:sp>
        <p:nvSpPr>
          <p:cNvPr id="25" name="Shape 22"/>
          <p:cNvSpPr/>
          <p:nvPr/>
        </p:nvSpPr>
        <p:spPr>
          <a:xfrm>
            <a:off x="7296912" y="2377440"/>
            <a:ext cx="1078992" cy="713232"/>
          </a:xfrm>
          <a:prstGeom prst="roundRect">
            <a:avLst>
              <a:gd name="adj" fmla="val 7692"/>
            </a:avLst>
          </a:prstGeom>
          <a:solidFill>
            <a:srgbClr val="00397B"/>
          </a:solidFill>
          <a:ln w="12700">
            <a:solidFill>
              <a:srgbClr val="00397B"/>
            </a:solidFill>
            <a:prstDash val="solid"/>
          </a:ln>
        </p:spPr>
      </p:sp>
      <p:sp>
        <p:nvSpPr>
          <p:cNvPr id="26" name="Text 23"/>
          <p:cNvSpPr txBox="1"/>
          <p:nvPr/>
        </p:nvSpPr>
        <p:spPr>
          <a:xfrm>
            <a:off x="7370064" y="2377440"/>
            <a:ext cx="932688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redirect</a:t>
            </a:r>
            <a:endParaRPr lang="en-US" sz="1300" dirty="0"/>
          </a:p>
        </p:txBody>
      </p:sp>
      <p:sp>
        <p:nvSpPr>
          <p:cNvPr id="27" name="Shape 24"/>
          <p:cNvSpPr/>
          <p:nvPr/>
        </p:nvSpPr>
        <p:spPr>
          <a:xfrm>
            <a:off x="4722876" y="3108960"/>
            <a:ext cx="0" cy="384048"/>
          </a:xfrm>
          <a:prstGeom prst="line">
            <a:avLst/>
          </a:prstGeom>
          <a:noFill/>
          <a:ln w="25400">
            <a:solidFill>
              <a:srgbClr val="1185AA"/>
            </a:solidFill>
            <a:prstDash val="solid"/>
            <a:tailEnd type="triangle"/>
          </a:ln>
        </p:spPr>
      </p:sp>
      <p:sp>
        <p:nvSpPr>
          <p:cNvPr id="28" name="Text 25"/>
          <p:cNvSpPr txBox="1"/>
          <p:nvPr/>
        </p:nvSpPr>
        <p:spPr>
          <a:xfrm>
            <a:off x="4800600" y="315468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185AA"/>
                </a:solidFill>
              </a:rPr>
              <a:t>não</a:t>
            </a:r>
            <a:endParaRPr lang="en-US" sz="1100" dirty="0"/>
          </a:p>
        </p:txBody>
      </p:sp>
      <p:sp>
        <p:nvSpPr>
          <p:cNvPr id="29" name="Shape 26"/>
          <p:cNvSpPr/>
          <p:nvPr/>
        </p:nvSpPr>
        <p:spPr>
          <a:xfrm>
            <a:off x="3922776" y="3511296"/>
            <a:ext cx="3154680" cy="713232"/>
          </a:xfrm>
          <a:prstGeom prst="roundRect">
            <a:avLst>
              <a:gd name="adj" fmla="val 7692"/>
            </a:avLst>
          </a:prstGeom>
          <a:solidFill>
            <a:srgbClr val="E3EFF1"/>
          </a:solidFill>
          <a:ln w="12700">
            <a:solidFill>
              <a:srgbClr val="E3EFF1"/>
            </a:solidFill>
            <a:prstDash val="solid"/>
          </a:ln>
        </p:spPr>
      </p:sp>
      <p:sp>
        <p:nvSpPr>
          <p:cNvPr id="30" name="Text 27"/>
          <p:cNvSpPr txBox="1"/>
          <p:nvPr/>
        </p:nvSpPr>
        <p:spPr>
          <a:xfrm>
            <a:off x="3995928" y="3511296"/>
            <a:ext cx="3008376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00397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render(...)</a:t>
            </a:r>
            <a:pPr algn="ctr" indent="0" marL="0">
              <a:buNone/>
            </a:pPr>
            <a:r>
              <a:rPr lang="en-US" sz="1300" dirty="0">
                <a:solidFill>
                  <a:srgbClr val="00397B"/>
                </a:solidFill>
              </a:rPr>
              <a:t> com os erros: o formulário volta preenchido</a:t>
            </a:r>
            <a:endParaRPr lang="en-US" sz="1300" dirty="0"/>
          </a:p>
        </p:txBody>
      </p:sp>
      <p:sp>
        <p:nvSpPr>
          <p:cNvPr id="31" name="Text 28"/>
          <p:cNvSpPr txBox="1"/>
          <p:nvPr/>
        </p:nvSpPr>
        <p:spPr>
          <a:xfrm>
            <a:off x="768096" y="4416552"/>
            <a:ext cx="760780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1185AA"/>
                </a:solidFill>
              </a:rPr>
              <a:t>Toda tela de cadastro e edição do sistema segue este desenho, inclusive as do </a:t>
            </a:r>
            <a:pPr indent="0" marL="0">
              <a:buNone/>
            </a:pPr>
            <a:r>
              <a:rPr lang="en-US" sz="1500" i="1" dirty="0">
                <a:solidFill>
                  <a:srgbClr val="1185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contas</a:t>
            </a:r>
            <a:pPr indent="0" marL="0">
              <a:buNone/>
            </a:pPr>
            <a:r>
              <a:rPr lang="en-US" sz="1500" i="1" dirty="0">
                <a:solidFill>
                  <a:srgbClr val="1185AA"/>
                </a:solidFill>
              </a:rPr>
              <a:t>.</a:t>
            </a:r>
            <a:endParaRPr lang="en-US" sz="15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5"/>
          <p:cNvSpPr/>
          <p:nvPr>
            <p:ph idx="105" type="title" hasCustomPrompt="1"/>
          </p:nvPr>
        </p:nvSpPr>
        <p:spPr>
          <a:xfrm>
            <a:off x="786384" y="329184"/>
            <a:ext cx="758952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dirty="0">
                <a:solidFill>
                  <a:schemeClr val="tx2"/>
                </a:solidFill>
              </a:rPr>
              <a:t>POST/Redirect/GET: por que redirecionar</a:t>
            </a:r>
            <a:endParaRPr lang="en-US" sz="3200" dirty="0"/>
          </a:p>
        </p:txBody>
      </p:sp>
      <p:sp>
        <p:nvSpPr>
          <p:cNvPr id="4" name="Sem redirect"/>
          <p:cNvSpPr/>
          <p:nvPr/>
        </p:nvSpPr>
        <p:spPr>
          <a:xfrm>
            <a:off x="768096" y="1188720"/>
            <a:ext cx="3712464" cy="3200400"/>
          </a:xfrm>
          <a:prstGeom prst="roundRect">
            <a:avLst>
              <a:gd name="adj" fmla="val 1714"/>
            </a:avLst>
          </a:prstGeom>
          <a:solidFill>
            <a:srgbClr val="E3EFF1"/>
          </a:solidFill>
          <a:ln w="12700">
            <a:solidFill>
              <a:srgbClr val="E3EFF1"/>
            </a:solidFill>
            <a:prstDash val="solid"/>
          </a:ln>
        </p:spPr>
      </p:sp>
      <p:sp>
        <p:nvSpPr>
          <p:cNvPr id="5" name="Shape 2"/>
          <p:cNvSpPr/>
          <p:nvPr/>
        </p:nvSpPr>
        <p:spPr>
          <a:xfrm>
            <a:off x="969264" y="1353312"/>
            <a:ext cx="512064" cy="512064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92159" y="1476207"/>
            <a:ext cx="266273" cy="266273"/>
          </a:xfrm>
          <a:prstGeom prst="rect">
            <a:avLst/>
          </a:prstGeom>
        </p:spPr>
      </p:pic>
      <p:sp>
        <p:nvSpPr>
          <p:cNvPr id="7" name="Text 3"/>
          <p:cNvSpPr txBox="1"/>
          <p:nvPr/>
        </p:nvSpPr>
        <p:spPr>
          <a:xfrm>
            <a:off x="1636776" y="1353312"/>
            <a:ext cx="265176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0397B"/>
                </a:solidFill>
              </a:rPr>
              <a:t>Sem redirect</a:t>
            </a:r>
            <a:endParaRPr lang="en-US" sz="1700" dirty="0"/>
          </a:p>
        </p:txBody>
      </p:sp>
      <p:sp>
        <p:nvSpPr>
          <p:cNvPr id="8" name="Shape 4"/>
          <p:cNvSpPr/>
          <p:nvPr/>
        </p:nvSpPr>
        <p:spPr>
          <a:xfrm>
            <a:off x="1042416" y="2093976"/>
            <a:ext cx="292608" cy="292608"/>
          </a:xfrm>
          <a:prstGeom prst="ellipse">
            <a:avLst/>
          </a:prstGeom>
          <a:solidFill>
            <a:srgbClr val="1185AA"/>
          </a:solidFill>
          <a:ln w="12700">
            <a:solidFill>
              <a:srgbClr val="1185AA"/>
            </a:solidFill>
            <a:prstDash val="solid"/>
          </a:ln>
        </p:spPr>
      </p:sp>
      <p:sp>
        <p:nvSpPr>
          <p:cNvPr id="9" name="Text 5"/>
          <p:cNvSpPr txBox="1"/>
          <p:nvPr/>
        </p:nvSpPr>
        <p:spPr>
          <a:xfrm>
            <a:off x="1042416" y="2093976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1</a:t>
            </a:r>
            <a:endParaRPr lang="en-US" sz="1400" dirty="0"/>
          </a:p>
        </p:txBody>
      </p:sp>
      <p:sp>
        <p:nvSpPr>
          <p:cNvPr id="10" name="Text 6"/>
          <p:cNvSpPr txBox="1"/>
          <p:nvPr/>
        </p:nvSpPr>
        <p:spPr>
          <a:xfrm>
            <a:off x="1481328" y="2057400"/>
            <a:ext cx="28346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3A3F44"/>
                </a:solidFill>
              </a:rPr>
              <a:t>POST salva o aluno</a:t>
            </a:r>
            <a:endParaRPr lang="en-US" sz="1400" dirty="0"/>
          </a:p>
        </p:txBody>
      </p:sp>
      <p:sp>
        <p:nvSpPr>
          <p:cNvPr id="11" name="Shape 7"/>
          <p:cNvSpPr/>
          <p:nvPr/>
        </p:nvSpPr>
        <p:spPr>
          <a:xfrm>
            <a:off x="1042416" y="2551176"/>
            <a:ext cx="292608" cy="292608"/>
          </a:xfrm>
          <a:prstGeom prst="ellipse">
            <a:avLst/>
          </a:prstGeom>
          <a:solidFill>
            <a:srgbClr val="1185AA"/>
          </a:solidFill>
          <a:ln w="12700">
            <a:solidFill>
              <a:srgbClr val="1185AA"/>
            </a:solidFill>
            <a:prstDash val="solid"/>
          </a:ln>
        </p:spPr>
      </p:sp>
      <p:sp>
        <p:nvSpPr>
          <p:cNvPr id="12" name="Text 8"/>
          <p:cNvSpPr txBox="1"/>
          <p:nvPr/>
        </p:nvSpPr>
        <p:spPr>
          <a:xfrm>
            <a:off x="1042416" y="2551176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2</a:t>
            </a:r>
            <a:endParaRPr lang="en-US" sz="1400" dirty="0"/>
          </a:p>
        </p:txBody>
      </p:sp>
      <p:sp>
        <p:nvSpPr>
          <p:cNvPr id="13" name="Text 9"/>
          <p:cNvSpPr txBox="1"/>
          <p:nvPr/>
        </p:nvSpPr>
        <p:spPr>
          <a:xfrm>
            <a:off x="1481328" y="2514600"/>
            <a:ext cx="28346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3A3F44"/>
                </a:solidFill>
              </a:rPr>
              <a:t>a view devolve a lista com </a:t>
            </a:r>
            <a:pPr indent="0" marL="0">
              <a:buNone/>
            </a:pPr>
            <a:r>
              <a:rPr lang="en-US" sz="1400" dirty="0">
                <a:solidFill>
                  <a:srgbClr val="00397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render</a:t>
            </a:r>
            <a:endParaRPr lang="en-US" sz="1400" dirty="0"/>
          </a:p>
        </p:txBody>
      </p:sp>
      <p:sp>
        <p:nvSpPr>
          <p:cNvPr id="14" name="Shape 10"/>
          <p:cNvSpPr/>
          <p:nvPr/>
        </p:nvSpPr>
        <p:spPr>
          <a:xfrm>
            <a:off x="1042416" y="3008376"/>
            <a:ext cx="292608" cy="292608"/>
          </a:xfrm>
          <a:prstGeom prst="ellipse">
            <a:avLst/>
          </a:prstGeom>
          <a:solidFill>
            <a:srgbClr val="1185AA"/>
          </a:solidFill>
          <a:ln w="12700">
            <a:solidFill>
              <a:srgbClr val="1185AA"/>
            </a:solidFill>
            <a:prstDash val="solid"/>
          </a:ln>
        </p:spPr>
      </p:sp>
      <p:sp>
        <p:nvSpPr>
          <p:cNvPr id="15" name="Text 11"/>
          <p:cNvSpPr txBox="1"/>
          <p:nvPr/>
        </p:nvSpPr>
        <p:spPr>
          <a:xfrm>
            <a:off x="1042416" y="3008376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3</a:t>
            </a:r>
            <a:endParaRPr lang="en-US" sz="1400" dirty="0"/>
          </a:p>
        </p:txBody>
      </p:sp>
      <p:sp>
        <p:nvSpPr>
          <p:cNvPr id="16" name="Text 12"/>
          <p:cNvSpPr txBox="1"/>
          <p:nvPr/>
        </p:nvSpPr>
        <p:spPr>
          <a:xfrm>
            <a:off x="1481328" y="2971800"/>
            <a:ext cx="28346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3A3F44"/>
                </a:solidFill>
              </a:rPr>
              <a:t>o usuário aperta F5</a:t>
            </a:r>
            <a:endParaRPr lang="en-US" sz="1400" dirty="0"/>
          </a:p>
        </p:txBody>
      </p:sp>
      <p:sp>
        <p:nvSpPr>
          <p:cNvPr id="17" name="Shape 13"/>
          <p:cNvSpPr/>
          <p:nvPr/>
        </p:nvSpPr>
        <p:spPr>
          <a:xfrm>
            <a:off x="1042416" y="3465576"/>
            <a:ext cx="292608" cy="292608"/>
          </a:xfrm>
          <a:prstGeom prst="ellipse">
            <a:avLst/>
          </a:prstGeom>
          <a:solidFill>
            <a:srgbClr val="1185AA"/>
          </a:solidFill>
          <a:ln w="12700">
            <a:solidFill>
              <a:srgbClr val="1185AA"/>
            </a:solidFill>
            <a:prstDash val="solid"/>
          </a:ln>
        </p:spPr>
      </p:sp>
      <p:sp>
        <p:nvSpPr>
          <p:cNvPr id="18" name="Text 14"/>
          <p:cNvSpPr txBox="1"/>
          <p:nvPr/>
        </p:nvSpPr>
        <p:spPr>
          <a:xfrm>
            <a:off x="1042416" y="3465576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4</a:t>
            </a:r>
            <a:endParaRPr lang="en-US" sz="1400" dirty="0"/>
          </a:p>
        </p:txBody>
      </p:sp>
      <p:sp>
        <p:nvSpPr>
          <p:cNvPr id="19" name="Text 15"/>
          <p:cNvSpPr txBox="1"/>
          <p:nvPr/>
        </p:nvSpPr>
        <p:spPr>
          <a:xfrm>
            <a:off x="1481328" y="3429000"/>
            <a:ext cx="28346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3A3F44"/>
                </a:solidFill>
              </a:rPr>
              <a:t>o navegador </a:t>
            </a:r>
            <a:pPr indent="0" marL="0">
              <a:buNone/>
            </a:pPr>
            <a:r>
              <a:rPr lang="en-US" sz="1400" b="1" dirty="0">
                <a:solidFill>
                  <a:srgbClr val="3A3F44"/>
                </a:solidFill>
              </a:rPr>
              <a:t>reenvia o POST</a:t>
            </a:r>
            <a:endParaRPr lang="en-US" sz="1400" dirty="0"/>
          </a:p>
        </p:txBody>
      </p:sp>
      <p:sp>
        <p:nvSpPr>
          <p:cNvPr id="20" name="Shape 16"/>
          <p:cNvSpPr/>
          <p:nvPr/>
        </p:nvSpPr>
        <p:spPr>
          <a:xfrm>
            <a:off x="1042416" y="3922776"/>
            <a:ext cx="292608" cy="292608"/>
          </a:xfrm>
          <a:prstGeom prst="ellipse">
            <a:avLst/>
          </a:prstGeom>
          <a:solidFill>
            <a:srgbClr val="1185AA"/>
          </a:solidFill>
          <a:ln w="12700">
            <a:solidFill>
              <a:srgbClr val="1185AA"/>
            </a:solidFill>
            <a:prstDash val="solid"/>
          </a:ln>
        </p:spPr>
      </p:sp>
      <p:sp>
        <p:nvSpPr>
          <p:cNvPr id="21" name="Text 17"/>
          <p:cNvSpPr txBox="1"/>
          <p:nvPr/>
        </p:nvSpPr>
        <p:spPr>
          <a:xfrm>
            <a:off x="1042416" y="3922776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5</a:t>
            </a:r>
            <a:endParaRPr lang="en-US" sz="1400" dirty="0"/>
          </a:p>
        </p:txBody>
      </p:sp>
      <p:sp>
        <p:nvSpPr>
          <p:cNvPr id="22" name="Text 18"/>
          <p:cNvSpPr txBox="1"/>
          <p:nvPr/>
        </p:nvSpPr>
        <p:spPr>
          <a:xfrm>
            <a:off x="1481328" y="3886200"/>
            <a:ext cx="28346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3A3F44"/>
                </a:solidFill>
              </a:rPr>
              <a:t>aluno duplicado ou erro de UNIQUE</a:t>
            </a:r>
            <a:endParaRPr lang="en-US" sz="1400" dirty="0"/>
          </a:p>
        </p:txBody>
      </p:sp>
      <p:sp>
        <p:nvSpPr>
          <p:cNvPr id="23" name="Com redirect"/>
          <p:cNvSpPr/>
          <p:nvPr/>
        </p:nvSpPr>
        <p:spPr>
          <a:xfrm>
            <a:off x="4663440" y="1188720"/>
            <a:ext cx="3712464" cy="3200400"/>
          </a:xfrm>
          <a:prstGeom prst="roundRect">
            <a:avLst>
              <a:gd name="adj" fmla="val 1714"/>
            </a:avLst>
          </a:prstGeom>
          <a:solidFill>
            <a:srgbClr val="E3EFF1"/>
          </a:solidFill>
          <a:ln w="12700">
            <a:solidFill>
              <a:srgbClr val="E3EFF1"/>
            </a:solidFill>
            <a:prstDash val="solid"/>
          </a:ln>
        </p:spPr>
      </p:sp>
      <p:sp>
        <p:nvSpPr>
          <p:cNvPr id="24" name="Shape 20"/>
          <p:cNvSpPr/>
          <p:nvPr/>
        </p:nvSpPr>
        <p:spPr>
          <a:xfrm>
            <a:off x="4864608" y="1353312"/>
            <a:ext cx="512064" cy="512064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pic>
        <p:nvPicPr>
          <p:cNvPr id="25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87503" y="1476207"/>
            <a:ext cx="266273" cy="266273"/>
          </a:xfrm>
          <a:prstGeom prst="rect">
            <a:avLst/>
          </a:prstGeom>
        </p:spPr>
      </p:pic>
      <p:sp>
        <p:nvSpPr>
          <p:cNvPr id="26" name="Text 21"/>
          <p:cNvSpPr txBox="1"/>
          <p:nvPr/>
        </p:nvSpPr>
        <p:spPr>
          <a:xfrm>
            <a:off x="5532120" y="1353312"/>
            <a:ext cx="265176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0397B"/>
                </a:solidFill>
              </a:rPr>
              <a:t>Com redirect</a:t>
            </a:r>
            <a:endParaRPr lang="en-US" sz="1700" dirty="0"/>
          </a:p>
        </p:txBody>
      </p:sp>
      <p:sp>
        <p:nvSpPr>
          <p:cNvPr id="27" name="Shape 22"/>
          <p:cNvSpPr/>
          <p:nvPr/>
        </p:nvSpPr>
        <p:spPr>
          <a:xfrm>
            <a:off x="4937760" y="2093976"/>
            <a:ext cx="292608" cy="292608"/>
          </a:xfrm>
          <a:prstGeom prst="ellipse">
            <a:avLst/>
          </a:prstGeom>
          <a:solidFill>
            <a:srgbClr val="1185AA"/>
          </a:solidFill>
          <a:ln w="12700">
            <a:solidFill>
              <a:srgbClr val="1185AA"/>
            </a:solidFill>
            <a:prstDash val="solid"/>
          </a:ln>
        </p:spPr>
      </p:sp>
      <p:sp>
        <p:nvSpPr>
          <p:cNvPr id="28" name="Text 23"/>
          <p:cNvSpPr txBox="1"/>
          <p:nvPr/>
        </p:nvSpPr>
        <p:spPr>
          <a:xfrm>
            <a:off x="4937760" y="2093976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1</a:t>
            </a:r>
            <a:endParaRPr lang="en-US" sz="1400" dirty="0"/>
          </a:p>
        </p:txBody>
      </p:sp>
      <p:sp>
        <p:nvSpPr>
          <p:cNvPr id="29" name="Text 24"/>
          <p:cNvSpPr txBox="1"/>
          <p:nvPr/>
        </p:nvSpPr>
        <p:spPr>
          <a:xfrm>
            <a:off x="5376672" y="2057400"/>
            <a:ext cx="28346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3A3F44"/>
                </a:solidFill>
              </a:rPr>
              <a:t>POST salva o aluno</a:t>
            </a:r>
            <a:endParaRPr lang="en-US" sz="1400" dirty="0"/>
          </a:p>
        </p:txBody>
      </p:sp>
      <p:sp>
        <p:nvSpPr>
          <p:cNvPr id="30" name="Shape 25"/>
          <p:cNvSpPr/>
          <p:nvPr/>
        </p:nvSpPr>
        <p:spPr>
          <a:xfrm>
            <a:off x="4937760" y="2551176"/>
            <a:ext cx="292608" cy="292608"/>
          </a:xfrm>
          <a:prstGeom prst="ellipse">
            <a:avLst/>
          </a:prstGeom>
          <a:solidFill>
            <a:srgbClr val="1185AA"/>
          </a:solidFill>
          <a:ln w="12700">
            <a:solidFill>
              <a:srgbClr val="1185AA"/>
            </a:solidFill>
            <a:prstDash val="solid"/>
          </a:ln>
        </p:spPr>
      </p:sp>
      <p:sp>
        <p:nvSpPr>
          <p:cNvPr id="31" name="Text 26"/>
          <p:cNvSpPr txBox="1"/>
          <p:nvPr/>
        </p:nvSpPr>
        <p:spPr>
          <a:xfrm>
            <a:off x="4937760" y="2551176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2</a:t>
            </a:r>
            <a:endParaRPr lang="en-US" sz="1400" dirty="0"/>
          </a:p>
        </p:txBody>
      </p:sp>
      <p:sp>
        <p:nvSpPr>
          <p:cNvPr id="32" name="Text 27"/>
          <p:cNvSpPr txBox="1"/>
          <p:nvPr/>
        </p:nvSpPr>
        <p:spPr>
          <a:xfrm>
            <a:off x="5376672" y="2514600"/>
            <a:ext cx="28346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3A3F44"/>
                </a:solidFill>
              </a:rPr>
              <a:t>a view responde 302 para </a:t>
            </a:r>
            <a:pPr indent="0" marL="0">
              <a:buNone/>
            </a:pPr>
            <a:r>
              <a:rPr lang="en-US" sz="1400" dirty="0">
                <a:solidFill>
                  <a:srgbClr val="00397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/alunos/</a:t>
            </a:r>
            <a:endParaRPr lang="en-US" sz="1400" dirty="0"/>
          </a:p>
        </p:txBody>
      </p:sp>
      <p:sp>
        <p:nvSpPr>
          <p:cNvPr id="33" name="Shape 28"/>
          <p:cNvSpPr/>
          <p:nvPr/>
        </p:nvSpPr>
        <p:spPr>
          <a:xfrm>
            <a:off x="4937760" y="3008376"/>
            <a:ext cx="292608" cy="292608"/>
          </a:xfrm>
          <a:prstGeom prst="ellipse">
            <a:avLst/>
          </a:prstGeom>
          <a:solidFill>
            <a:srgbClr val="1185AA"/>
          </a:solidFill>
          <a:ln w="12700">
            <a:solidFill>
              <a:srgbClr val="1185AA"/>
            </a:solidFill>
            <a:prstDash val="solid"/>
          </a:ln>
        </p:spPr>
      </p:sp>
      <p:sp>
        <p:nvSpPr>
          <p:cNvPr id="34" name="Text 29"/>
          <p:cNvSpPr txBox="1"/>
          <p:nvPr/>
        </p:nvSpPr>
        <p:spPr>
          <a:xfrm>
            <a:off x="4937760" y="3008376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3</a:t>
            </a:r>
            <a:endParaRPr lang="en-US" sz="1400" dirty="0"/>
          </a:p>
        </p:txBody>
      </p:sp>
      <p:sp>
        <p:nvSpPr>
          <p:cNvPr id="35" name="Text 30"/>
          <p:cNvSpPr txBox="1"/>
          <p:nvPr/>
        </p:nvSpPr>
        <p:spPr>
          <a:xfrm>
            <a:off x="5376672" y="2971800"/>
            <a:ext cx="28346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3A3F44"/>
                </a:solidFill>
              </a:rPr>
              <a:t>o navegador faz um GET</a:t>
            </a:r>
            <a:endParaRPr lang="en-US" sz="1400" dirty="0"/>
          </a:p>
        </p:txBody>
      </p:sp>
      <p:sp>
        <p:nvSpPr>
          <p:cNvPr id="36" name="Shape 31"/>
          <p:cNvSpPr/>
          <p:nvPr/>
        </p:nvSpPr>
        <p:spPr>
          <a:xfrm>
            <a:off x="4937760" y="3465576"/>
            <a:ext cx="292608" cy="292608"/>
          </a:xfrm>
          <a:prstGeom prst="ellipse">
            <a:avLst/>
          </a:prstGeom>
          <a:solidFill>
            <a:srgbClr val="1185AA"/>
          </a:solidFill>
          <a:ln w="12700">
            <a:solidFill>
              <a:srgbClr val="1185AA"/>
            </a:solidFill>
            <a:prstDash val="solid"/>
          </a:ln>
        </p:spPr>
      </p:sp>
      <p:sp>
        <p:nvSpPr>
          <p:cNvPr id="37" name="Text 32"/>
          <p:cNvSpPr txBox="1"/>
          <p:nvPr/>
        </p:nvSpPr>
        <p:spPr>
          <a:xfrm>
            <a:off x="4937760" y="3465576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4</a:t>
            </a:r>
            <a:endParaRPr lang="en-US" sz="1400" dirty="0"/>
          </a:p>
        </p:txBody>
      </p:sp>
      <p:sp>
        <p:nvSpPr>
          <p:cNvPr id="38" name="Text 33"/>
          <p:cNvSpPr txBox="1"/>
          <p:nvPr/>
        </p:nvSpPr>
        <p:spPr>
          <a:xfrm>
            <a:off x="5376672" y="3429000"/>
            <a:ext cx="28346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3A3F44"/>
                </a:solidFill>
              </a:rPr>
              <a:t>F5 </a:t>
            </a:r>
            <a:pPr indent="0" marL="0">
              <a:buNone/>
            </a:pPr>
            <a:r>
              <a:rPr lang="en-US" sz="1400" b="1" dirty="0">
                <a:solidFill>
                  <a:srgbClr val="3A3F44"/>
                </a:solidFill>
              </a:rPr>
              <a:t>repete só o GET</a:t>
            </a:r>
            <a:endParaRPr lang="en-US" sz="1400" dirty="0"/>
          </a:p>
        </p:txBody>
      </p:sp>
      <p:sp>
        <p:nvSpPr>
          <p:cNvPr id="39" name="Shape 34"/>
          <p:cNvSpPr/>
          <p:nvPr/>
        </p:nvSpPr>
        <p:spPr>
          <a:xfrm>
            <a:off x="4937760" y="3922776"/>
            <a:ext cx="292608" cy="292608"/>
          </a:xfrm>
          <a:prstGeom prst="ellipse">
            <a:avLst/>
          </a:prstGeom>
          <a:solidFill>
            <a:srgbClr val="1185AA"/>
          </a:solidFill>
          <a:ln w="12700">
            <a:solidFill>
              <a:srgbClr val="1185AA"/>
            </a:solidFill>
            <a:prstDash val="solid"/>
          </a:ln>
        </p:spPr>
      </p:sp>
      <p:sp>
        <p:nvSpPr>
          <p:cNvPr id="40" name="Text 35"/>
          <p:cNvSpPr txBox="1"/>
          <p:nvPr/>
        </p:nvSpPr>
        <p:spPr>
          <a:xfrm>
            <a:off x="4937760" y="3922776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5</a:t>
            </a:r>
            <a:endParaRPr lang="en-US" sz="1400" dirty="0"/>
          </a:p>
        </p:txBody>
      </p:sp>
      <p:sp>
        <p:nvSpPr>
          <p:cNvPr id="41" name="Text 36"/>
          <p:cNvSpPr txBox="1"/>
          <p:nvPr/>
        </p:nvSpPr>
        <p:spPr>
          <a:xfrm>
            <a:off x="5376672" y="3886200"/>
            <a:ext cx="28346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3A3F44"/>
                </a:solidFill>
              </a:rPr>
              <a:t>nada duplica</a:t>
            </a:r>
            <a:endParaRPr lang="en-US" sz="14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5"/>
          <p:cNvSpPr/>
          <p:nvPr>
            <p:ph idx="105" type="title" hasCustomPrompt="1"/>
          </p:nvPr>
        </p:nvSpPr>
        <p:spPr>
          <a:xfrm>
            <a:off x="786384" y="329184"/>
            <a:ext cx="758952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dirty="0">
                <a:solidFill>
                  <a:schemeClr val="tx2"/>
                </a:solidFill>
              </a:rPr>
              <a:t>Editar: criar com duas diferenças</a:t>
            </a:r>
            <a:endParaRPr lang="en-US" sz="3200" dirty="0"/>
          </a:p>
        </p:txBody>
      </p:sp>
      <p:sp>
        <p:nvSpPr>
          <p:cNvPr id="4" name="codigo fundo"/>
          <p:cNvSpPr/>
          <p:nvPr/>
        </p:nvSpPr>
        <p:spPr>
          <a:xfrm>
            <a:off x="768096" y="1143000"/>
            <a:ext cx="7607808" cy="2743200"/>
          </a:xfrm>
          <a:prstGeom prst="roundRect">
            <a:avLst>
              <a:gd name="adj" fmla="val 2667"/>
            </a:avLst>
          </a:prstGeom>
          <a:solidFill>
            <a:srgbClr val="1E2433"/>
          </a:solidFill>
          <a:ln w="12700">
            <a:solidFill>
              <a:srgbClr val="1E2433"/>
            </a:solidFill>
            <a:prstDash val="solid"/>
          </a:ln>
        </p:spPr>
      </p:sp>
      <p:sp>
        <p:nvSpPr>
          <p:cNvPr id="5" name="Shape 2"/>
          <p:cNvSpPr/>
          <p:nvPr/>
        </p:nvSpPr>
        <p:spPr>
          <a:xfrm>
            <a:off x="932688" y="1261872"/>
            <a:ext cx="91440" cy="91440"/>
          </a:xfrm>
          <a:prstGeom prst="ellipse">
            <a:avLst/>
          </a:prstGeom>
          <a:solidFill>
            <a:srgbClr val="FF5F57"/>
          </a:solidFill>
          <a:ln w="12700">
            <a:solidFill>
              <a:srgbClr val="FF5F57"/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>
            <a:off x="1078992" y="1261872"/>
            <a:ext cx="91440" cy="91440"/>
          </a:xfrm>
          <a:prstGeom prst="ellipse">
            <a:avLst/>
          </a:prstGeom>
          <a:solidFill>
            <a:srgbClr val="FEBC2E"/>
          </a:solidFill>
          <a:ln w="12700">
            <a:solidFill>
              <a:srgbClr val="FEBC2E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1225296" y="1261872"/>
            <a:ext cx="91440" cy="91440"/>
          </a:xfrm>
          <a:prstGeom prst="ellipse">
            <a:avLst/>
          </a:prstGeom>
          <a:solidFill>
            <a:srgbClr val="28C840"/>
          </a:solidFill>
          <a:ln w="12700">
            <a:solidFill>
              <a:srgbClr val="28C840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1426464" y="1197864"/>
            <a:ext cx="678484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academico/views.py · TODO 9a</a:t>
            </a:r>
            <a:endParaRPr lang="en-US" sz="900" dirty="0"/>
          </a:p>
        </p:txBody>
      </p:sp>
      <p:sp>
        <p:nvSpPr>
          <p:cNvPr id="9" name="codigo texto"/>
          <p:cNvSpPr txBox="1"/>
          <p:nvPr/>
        </p:nvSpPr>
        <p:spPr>
          <a:xfrm>
            <a:off x="987552" y="1527048"/>
            <a:ext cx="7242048" cy="22677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C3A6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@login_required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7DC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def</a:t>
            </a:r>
            <a:pPr indent="0" marL="0">
              <a:buNone/>
            </a:pPr>
            <a:r>
              <a:rPr lang="en-US" sz="11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aluno_editar(request, pk):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aluno = get_object_or_404(Aluno, pk=pk)                </a:t>
            </a:r>
            <a:pPr indent="0" marL="0">
              <a:buNone/>
            </a:pPr>
            <a:r>
              <a:rPr lang="en-US" sz="1100" i="1" dirty="0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1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</a:t>
            </a:r>
            <a:pPr indent="0" marL="0">
              <a:buNone/>
            </a:pPr>
            <a:r>
              <a:rPr lang="en-US" sz="1100" dirty="0">
                <a:solidFill>
                  <a:srgbClr val="7DC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if</a:t>
            </a:r>
            <a:pPr indent="0" marL="0">
              <a:buNone/>
            </a:pPr>
            <a:r>
              <a:rPr lang="en-US" sz="11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request.method == </a:t>
            </a:r>
            <a:pPr indent="0" marL="0">
              <a:buNone/>
            </a:pPr>
            <a:r>
              <a:rPr lang="en-US" sz="1100" dirty="0">
                <a:solidFill>
                  <a:srgbClr val="F0C67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"POST"</a:t>
            </a:r>
            <a:pPr indent="0" marL="0">
              <a:buNone/>
            </a:pPr>
            <a:r>
              <a:rPr lang="en-US" sz="11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: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form = AlunoForm(request.POST, instance=aluno)     </a:t>
            </a:r>
            <a:pPr indent="0" marL="0">
              <a:buNone/>
            </a:pPr>
            <a:r>
              <a:rPr lang="en-US" sz="1100" i="1" dirty="0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2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</a:t>
            </a:r>
            <a:pPr indent="0" marL="0">
              <a:buNone/>
            </a:pPr>
            <a:r>
              <a:rPr lang="en-US" sz="1100" dirty="0">
                <a:solidFill>
                  <a:srgbClr val="7DC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if</a:t>
            </a:r>
            <a:pPr indent="0" marL="0">
              <a:buNone/>
            </a:pPr>
            <a:r>
              <a:rPr lang="en-US" sz="11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form.is_valid():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form.save()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messages.success(request, </a:t>
            </a:r>
            <a:pPr indent="0" marL="0">
              <a:buNone/>
            </a:pPr>
            <a:r>
              <a:rPr lang="en-US" sz="1100" dirty="0">
                <a:solidFill>
                  <a:srgbClr val="F0C67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"Aluno atualizado."</a:t>
            </a:r>
            <a:pPr indent="0" marL="0">
              <a:buNone/>
            </a:pPr>
            <a:r>
              <a:rPr lang="en-US" sz="11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</a:t>
            </a:r>
            <a:pPr indent="0" marL="0">
              <a:buNone/>
            </a:pPr>
            <a:r>
              <a:rPr lang="en-US" sz="1100" dirty="0">
                <a:solidFill>
                  <a:srgbClr val="7DC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return</a:t>
            </a:r>
            <a:pPr indent="0" marL="0">
              <a:buNone/>
            </a:pPr>
            <a:r>
              <a:rPr lang="en-US" sz="11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redirect(</a:t>
            </a:r>
            <a:pPr indent="0" marL="0">
              <a:buNone/>
            </a:pPr>
            <a:r>
              <a:rPr lang="en-US" sz="1100" dirty="0">
                <a:solidFill>
                  <a:srgbClr val="F0C67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"academico:aluno_lista"</a:t>
            </a:r>
            <a:pPr indent="0" marL="0">
              <a:buNone/>
            </a:pPr>
            <a:r>
              <a:rPr lang="en-US" sz="11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</a:t>
            </a:r>
            <a:pPr indent="0" marL="0">
              <a:buNone/>
            </a:pPr>
            <a:r>
              <a:rPr lang="en-US" sz="1100" dirty="0">
                <a:solidFill>
                  <a:srgbClr val="7DC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else</a:t>
            </a:r>
            <a:pPr indent="0" marL="0">
              <a:buNone/>
            </a:pPr>
            <a:r>
              <a:rPr lang="en-US" sz="11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: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form = AlunoForm(instance=aluno)                   </a:t>
            </a:r>
            <a:pPr indent="0" marL="0">
              <a:buNone/>
            </a:pPr>
            <a:r>
              <a:rPr lang="en-US" sz="1100" i="1" dirty="0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2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</a:t>
            </a:r>
            <a:pPr indent="0" marL="0">
              <a:buNone/>
            </a:pPr>
            <a:r>
              <a:rPr lang="en-US" sz="1100" dirty="0">
                <a:solidFill>
                  <a:srgbClr val="7DC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return</a:t>
            </a:r>
            <a:pPr indent="0" marL="0">
              <a:buNone/>
            </a:pPr>
            <a:r>
              <a:rPr lang="en-US" sz="11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render(request, </a:t>
            </a:r>
            <a:pPr indent="0" marL="0">
              <a:buNone/>
            </a:pPr>
            <a:r>
              <a:rPr lang="en-US" sz="1100" dirty="0">
                <a:solidFill>
                  <a:srgbClr val="F0C67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"academico/aluno_form.html"</a:t>
            </a:r>
            <a:pPr indent="0" marL="0">
              <a:buNone/>
            </a:pPr>
            <a:r>
              <a:rPr lang="en-US" sz="11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      {</a:t>
            </a:r>
            <a:pPr indent="0" marL="0">
              <a:buNone/>
            </a:pPr>
            <a:r>
              <a:rPr lang="en-US" sz="1100" dirty="0">
                <a:solidFill>
                  <a:srgbClr val="F0C67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"form"</a:t>
            </a:r>
            <a:pPr indent="0" marL="0">
              <a:buNone/>
            </a:pPr>
            <a:r>
              <a:rPr lang="en-US" sz="11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: form, </a:t>
            </a:r>
            <a:pPr indent="0" marL="0">
              <a:buNone/>
            </a:pPr>
            <a:r>
              <a:rPr lang="en-US" sz="1100" dirty="0">
                <a:solidFill>
                  <a:srgbClr val="F0C67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"titulo"</a:t>
            </a:r>
            <a:pPr indent="0" marL="0">
              <a:buNone/>
            </a:pPr>
            <a:r>
              <a:rPr lang="en-US" sz="11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: </a:t>
            </a:r>
            <a:pPr indent="0" marL="0">
              <a:buNone/>
            </a:pPr>
            <a:r>
              <a:rPr lang="en-US" sz="1100" dirty="0">
                <a:solidFill>
                  <a:srgbClr val="F0C67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"Editar aluno"</a:t>
            </a:r>
            <a:pPr indent="0" marL="0">
              <a:buNone/>
            </a:pPr>
            <a:r>
              <a:rPr lang="en-US" sz="11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})</a:t>
            </a:r>
            <a:endParaRPr lang="en-US" sz="1100" dirty="0"/>
          </a:p>
        </p:txBody>
      </p:sp>
      <p:sp>
        <p:nvSpPr>
          <p:cNvPr id="10" name="Shape 7"/>
          <p:cNvSpPr/>
          <p:nvPr/>
        </p:nvSpPr>
        <p:spPr>
          <a:xfrm>
            <a:off x="768096" y="4023360"/>
            <a:ext cx="3712464" cy="731520"/>
          </a:xfrm>
          <a:prstGeom prst="roundRect">
            <a:avLst>
              <a:gd name="adj" fmla="val 7500"/>
            </a:avLst>
          </a:prstGeom>
          <a:solidFill>
            <a:srgbClr val="E3EFF1"/>
          </a:solidFill>
          <a:ln w="12700">
            <a:solidFill>
              <a:srgbClr val="E3EFF1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932688" y="4197096"/>
            <a:ext cx="384048" cy="384048"/>
          </a:xfrm>
          <a:prstGeom prst="ellipse">
            <a:avLst/>
          </a:prstGeom>
          <a:solidFill>
            <a:srgbClr val="1185AA"/>
          </a:solidFill>
          <a:ln w="12700">
            <a:solidFill>
              <a:srgbClr val="1185AA"/>
            </a:solidFill>
            <a:prstDash val="solid"/>
          </a:ln>
        </p:spPr>
      </p:sp>
      <p:sp>
        <p:nvSpPr>
          <p:cNvPr id="12" name="Text 9"/>
          <p:cNvSpPr txBox="1"/>
          <p:nvPr/>
        </p:nvSpPr>
        <p:spPr>
          <a:xfrm>
            <a:off x="932688" y="419709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1</a:t>
            </a:r>
            <a:endParaRPr lang="en-US" sz="1400" dirty="0"/>
          </a:p>
        </p:txBody>
      </p:sp>
      <p:sp>
        <p:nvSpPr>
          <p:cNvPr id="13" name="Text 10"/>
          <p:cNvSpPr txBox="1"/>
          <p:nvPr/>
        </p:nvSpPr>
        <p:spPr>
          <a:xfrm>
            <a:off x="1481328" y="4023360"/>
            <a:ext cx="290779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3A3F44"/>
                </a:solidFill>
              </a:rPr>
              <a:t>Buscar antes:</a:t>
            </a:r>
            <a:pPr indent="0" marL="0">
              <a:buNone/>
            </a:pPr>
            <a:r>
              <a:rPr lang="en-US" sz="1400" dirty="0">
                <a:solidFill>
                  <a:srgbClr val="3A3F44"/>
                </a:solidFill>
              </a:rPr>
              <a:t> </a:t>
            </a:r>
            <a:pPr indent="0" marL="0">
              <a:buNone/>
            </a:pPr>
            <a:r>
              <a:rPr lang="en-US" sz="1400" dirty="0">
                <a:solidFill>
                  <a:srgbClr val="00397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get_object_or_404</a:t>
            </a:r>
            <a:pPr indent="0" marL="0">
              <a:buNone/>
            </a:pPr>
            <a:r>
              <a:rPr lang="en-US" sz="1400" dirty="0">
                <a:solidFill>
                  <a:srgbClr val="3A3F44"/>
                </a:solidFill>
              </a:rPr>
              <a:t> faz o SELECT ou devolve 404.</a:t>
            </a:r>
            <a:endParaRPr lang="en-US" sz="1400" dirty="0"/>
          </a:p>
        </p:txBody>
      </p:sp>
      <p:sp>
        <p:nvSpPr>
          <p:cNvPr id="14" name="Shape 11"/>
          <p:cNvSpPr/>
          <p:nvPr/>
        </p:nvSpPr>
        <p:spPr>
          <a:xfrm>
            <a:off x="4663440" y="4023360"/>
            <a:ext cx="3712464" cy="731520"/>
          </a:xfrm>
          <a:prstGeom prst="roundRect">
            <a:avLst>
              <a:gd name="adj" fmla="val 7500"/>
            </a:avLst>
          </a:prstGeom>
          <a:solidFill>
            <a:srgbClr val="E3EFF1"/>
          </a:solidFill>
          <a:ln w="12700">
            <a:solidFill>
              <a:srgbClr val="E3EFF1"/>
            </a:solidFill>
            <a:prstDash val="solid"/>
          </a:ln>
        </p:spPr>
      </p:sp>
      <p:sp>
        <p:nvSpPr>
          <p:cNvPr id="15" name="Shape 12"/>
          <p:cNvSpPr/>
          <p:nvPr/>
        </p:nvSpPr>
        <p:spPr>
          <a:xfrm>
            <a:off x="4828032" y="4197096"/>
            <a:ext cx="384048" cy="384048"/>
          </a:xfrm>
          <a:prstGeom prst="ellipse">
            <a:avLst/>
          </a:prstGeom>
          <a:solidFill>
            <a:srgbClr val="1185AA"/>
          </a:solidFill>
          <a:ln w="12700">
            <a:solidFill>
              <a:srgbClr val="1185AA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4828032" y="419709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2</a:t>
            </a:r>
            <a:endParaRPr lang="en-US" sz="1400" dirty="0"/>
          </a:p>
        </p:txBody>
      </p:sp>
      <p:sp>
        <p:nvSpPr>
          <p:cNvPr id="17" name="Text 14"/>
          <p:cNvSpPr txBox="1"/>
          <p:nvPr/>
        </p:nvSpPr>
        <p:spPr>
          <a:xfrm>
            <a:off x="5376672" y="4023360"/>
            <a:ext cx="290779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397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instance=</a:t>
            </a:r>
            <a:pPr indent="0" marL="0">
              <a:buNone/>
            </a:pPr>
            <a:r>
              <a:rPr lang="en-US" sz="1400" b="1" dirty="0">
                <a:solidFill>
                  <a:srgbClr val="3A3F44"/>
                </a:solidFill>
              </a:rPr>
              <a:t> nos dois caminhos:</a:t>
            </a:r>
            <a:pPr indent="0" marL="0">
              <a:buNone/>
            </a:pPr>
            <a:r>
              <a:rPr lang="en-US" sz="1400" dirty="0">
                <a:solidFill>
                  <a:srgbClr val="3A3F44"/>
                </a:solidFill>
              </a:rPr>
              <a:t> no POST, o </a:t>
            </a:r>
            <a:pPr indent="0" marL="0">
              <a:buNone/>
            </a:pPr>
            <a:r>
              <a:rPr lang="en-US" sz="1400" dirty="0">
                <a:solidFill>
                  <a:srgbClr val="00397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save()</a:t>
            </a:r>
            <a:pPr indent="0" marL="0">
              <a:buNone/>
            </a:pPr>
            <a:r>
              <a:rPr lang="en-US" sz="1400" dirty="0">
                <a:solidFill>
                  <a:srgbClr val="3A3F44"/>
                </a:solidFill>
              </a:rPr>
              <a:t> vira UPDATE.</a:t>
            </a:r>
            <a:endParaRPr lang="en-US" sz="14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5"/>
          <p:cNvSpPr/>
          <p:nvPr>
            <p:ph idx="105" type="title" hasCustomPrompt="1"/>
          </p:nvPr>
        </p:nvSpPr>
        <p:spPr>
          <a:xfrm>
            <a:off x="786384" y="329184"/>
            <a:ext cx="758952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dirty="0">
                <a:solidFill>
                  <a:schemeClr val="tx2"/>
                </a:solidFill>
              </a:rPr>
              <a:t>Excluir: duas requisições</a:t>
            </a:r>
            <a:endParaRPr lang="en-US" sz="3200" dirty="0"/>
          </a:p>
        </p:txBody>
      </p:sp>
      <p:sp>
        <p:nvSpPr>
          <p:cNvPr id="4" name="card GET confirma"/>
          <p:cNvSpPr/>
          <p:nvPr/>
        </p:nvSpPr>
        <p:spPr>
          <a:xfrm>
            <a:off x="768096" y="1188720"/>
            <a:ext cx="2514600" cy="1627632"/>
          </a:xfrm>
          <a:prstGeom prst="roundRect">
            <a:avLst>
              <a:gd name="adj" fmla="val 3371"/>
            </a:avLst>
          </a:prstGeom>
          <a:solidFill>
            <a:srgbClr val="E3EFF1"/>
          </a:solidFill>
          <a:ln w="12700">
            <a:solidFill>
              <a:srgbClr val="E3EFF1"/>
            </a:solidFill>
            <a:prstDash val="solid"/>
          </a:ln>
        </p:spPr>
      </p:sp>
      <p:sp>
        <p:nvSpPr>
          <p:cNvPr id="5" name="Shape 2"/>
          <p:cNvSpPr/>
          <p:nvPr/>
        </p:nvSpPr>
        <p:spPr>
          <a:xfrm>
            <a:off x="969264" y="1371600"/>
            <a:ext cx="512064" cy="512064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92159" y="1494495"/>
            <a:ext cx="266273" cy="266273"/>
          </a:xfrm>
          <a:prstGeom prst="rect">
            <a:avLst/>
          </a:prstGeom>
        </p:spPr>
      </p:pic>
      <p:sp>
        <p:nvSpPr>
          <p:cNvPr id="7" name="Text 3"/>
          <p:cNvSpPr txBox="1"/>
          <p:nvPr/>
        </p:nvSpPr>
        <p:spPr>
          <a:xfrm>
            <a:off x="1636776" y="1371600"/>
            <a:ext cx="146304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0397B"/>
                </a:solidFill>
              </a:rPr>
              <a:t>GET confirma</a:t>
            </a:r>
            <a:endParaRPr lang="en-US" sz="1600" dirty="0"/>
          </a:p>
        </p:txBody>
      </p:sp>
      <p:sp>
        <p:nvSpPr>
          <p:cNvPr id="8" name="Text 4"/>
          <p:cNvSpPr txBox="1"/>
          <p:nvPr/>
        </p:nvSpPr>
        <p:spPr>
          <a:xfrm>
            <a:off x="996696" y="1993392"/>
            <a:ext cx="210312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300" dirty="0">
                <a:solidFill>
                  <a:srgbClr val="3A3F44"/>
                </a:solidFill>
              </a:rPr>
              <a:t>Mostra “Excluir Ana?” num formulário POST com </a:t>
            </a:r>
            <a:pPr indent="0" marL="0">
              <a:spcAft>
                <a:spcPts val="400"/>
              </a:spcAft>
              <a:buNone/>
            </a:pPr>
            <a:r>
              <a:rPr lang="en-US" sz="1300" dirty="0">
                <a:solidFill>
                  <a:srgbClr val="00397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csrf_token</a:t>
            </a:r>
            <a:pPr indent="0" marL="0">
              <a:spcAft>
                <a:spcPts val="400"/>
              </a:spcAft>
              <a:buNone/>
            </a:pPr>
            <a:r>
              <a:rPr lang="en-US" sz="1300" dirty="0">
                <a:solidFill>
                  <a:srgbClr val="3A3F44"/>
                </a:solidFill>
              </a:rPr>
              <a:t>.</a:t>
            </a:r>
            <a:endParaRPr lang="en-US" sz="1300" dirty="0"/>
          </a:p>
        </p:txBody>
      </p:sp>
      <p:sp>
        <p:nvSpPr>
          <p:cNvPr id="9" name="card POST executa"/>
          <p:cNvSpPr/>
          <p:nvPr/>
        </p:nvSpPr>
        <p:spPr>
          <a:xfrm>
            <a:off x="768096" y="2990088"/>
            <a:ext cx="2514600" cy="1627632"/>
          </a:xfrm>
          <a:prstGeom prst="roundRect">
            <a:avLst>
              <a:gd name="adj" fmla="val 3371"/>
            </a:avLst>
          </a:prstGeom>
          <a:solidFill>
            <a:srgbClr val="E3EFF1"/>
          </a:solidFill>
          <a:ln w="12700">
            <a:solidFill>
              <a:srgbClr val="E3EFF1"/>
            </a:solidFill>
            <a:prstDash val="solid"/>
          </a:ln>
        </p:spPr>
      </p:sp>
      <p:sp>
        <p:nvSpPr>
          <p:cNvPr id="10" name="Shape 6"/>
          <p:cNvSpPr/>
          <p:nvPr/>
        </p:nvSpPr>
        <p:spPr>
          <a:xfrm>
            <a:off x="969264" y="3172968"/>
            <a:ext cx="512064" cy="512064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2159" y="3295863"/>
            <a:ext cx="266273" cy="266273"/>
          </a:xfrm>
          <a:prstGeom prst="rect">
            <a:avLst/>
          </a:prstGeom>
        </p:spPr>
      </p:pic>
      <p:sp>
        <p:nvSpPr>
          <p:cNvPr id="12" name="Text 7"/>
          <p:cNvSpPr txBox="1"/>
          <p:nvPr/>
        </p:nvSpPr>
        <p:spPr>
          <a:xfrm>
            <a:off x="1636776" y="3172968"/>
            <a:ext cx="146304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0397B"/>
                </a:solidFill>
              </a:rPr>
              <a:t>POST executa</a:t>
            </a:r>
            <a:endParaRPr lang="en-US" sz="1600" dirty="0"/>
          </a:p>
        </p:txBody>
      </p:sp>
      <p:sp>
        <p:nvSpPr>
          <p:cNvPr id="13" name="Text 8"/>
          <p:cNvSpPr txBox="1"/>
          <p:nvPr/>
        </p:nvSpPr>
        <p:spPr>
          <a:xfrm>
            <a:off x="996696" y="3794760"/>
            <a:ext cx="210312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300" dirty="0">
                <a:solidFill>
                  <a:srgbClr val="3A3F44"/>
                </a:solidFill>
              </a:rPr>
              <a:t>Exclui ou desativa e redireciona. Robôs só fazem GET.</a:t>
            </a:r>
            <a:endParaRPr lang="en-US" sz="1300" dirty="0"/>
          </a:p>
        </p:txBody>
      </p:sp>
      <p:sp>
        <p:nvSpPr>
          <p:cNvPr id="14" name="codigo fundo"/>
          <p:cNvSpPr/>
          <p:nvPr/>
        </p:nvSpPr>
        <p:spPr>
          <a:xfrm>
            <a:off x="3465576" y="1188720"/>
            <a:ext cx="4910328" cy="3429000"/>
          </a:xfrm>
          <a:prstGeom prst="roundRect">
            <a:avLst>
              <a:gd name="adj" fmla="val 2133"/>
            </a:avLst>
          </a:prstGeom>
          <a:solidFill>
            <a:srgbClr val="1E2433"/>
          </a:solidFill>
          <a:ln w="12700">
            <a:solidFill>
              <a:srgbClr val="1E2433"/>
            </a:solidFill>
            <a:prstDash val="solid"/>
          </a:ln>
        </p:spPr>
      </p:sp>
      <p:sp>
        <p:nvSpPr>
          <p:cNvPr id="15" name="Shape 10"/>
          <p:cNvSpPr/>
          <p:nvPr/>
        </p:nvSpPr>
        <p:spPr>
          <a:xfrm>
            <a:off x="3630168" y="1307592"/>
            <a:ext cx="91440" cy="91440"/>
          </a:xfrm>
          <a:prstGeom prst="ellipse">
            <a:avLst/>
          </a:prstGeom>
          <a:solidFill>
            <a:srgbClr val="FF5F57"/>
          </a:solidFill>
          <a:ln w="12700">
            <a:solidFill>
              <a:srgbClr val="FF5F57"/>
            </a:solidFill>
            <a:prstDash val="solid"/>
          </a:ln>
        </p:spPr>
      </p:sp>
      <p:sp>
        <p:nvSpPr>
          <p:cNvPr id="16" name="Shape 11"/>
          <p:cNvSpPr/>
          <p:nvPr/>
        </p:nvSpPr>
        <p:spPr>
          <a:xfrm>
            <a:off x="3776472" y="1307592"/>
            <a:ext cx="91440" cy="91440"/>
          </a:xfrm>
          <a:prstGeom prst="ellipse">
            <a:avLst/>
          </a:prstGeom>
          <a:solidFill>
            <a:srgbClr val="FEBC2E"/>
          </a:solidFill>
          <a:ln w="12700">
            <a:solidFill>
              <a:srgbClr val="FEBC2E"/>
            </a:solidFill>
            <a:prstDash val="solid"/>
          </a:ln>
        </p:spPr>
      </p:sp>
      <p:sp>
        <p:nvSpPr>
          <p:cNvPr id="17" name="Shape 12"/>
          <p:cNvSpPr/>
          <p:nvPr/>
        </p:nvSpPr>
        <p:spPr>
          <a:xfrm>
            <a:off x="3922776" y="1307592"/>
            <a:ext cx="91440" cy="91440"/>
          </a:xfrm>
          <a:prstGeom prst="ellipse">
            <a:avLst/>
          </a:prstGeom>
          <a:solidFill>
            <a:srgbClr val="28C840"/>
          </a:solidFill>
          <a:ln w="12700">
            <a:solidFill>
              <a:srgbClr val="28C840"/>
            </a:solidFill>
            <a:prstDash val="solid"/>
          </a:ln>
        </p:spPr>
      </p:sp>
      <p:sp>
        <p:nvSpPr>
          <p:cNvPr id="18" name="Text 13"/>
          <p:cNvSpPr txBox="1"/>
          <p:nvPr/>
        </p:nvSpPr>
        <p:spPr>
          <a:xfrm>
            <a:off x="4123944" y="1243584"/>
            <a:ext cx="408736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academico/views.py · TODO 9b</a:t>
            </a:r>
            <a:endParaRPr lang="en-US" sz="900" dirty="0"/>
          </a:p>
        </p:txBody>
      </p:sp>
      <p:sp>
        <p:nvSpPr>
          <p:cNvPr id="19" name="codigo texto"/>
          <p:cNvSpPr txBox="1"/>
          <p:nvPr/>
        </p:nvSpPr>
        <p:spPr>
          <a:xfrm>
            <a:off x="3685032" y="1572768"/>
            <a:ext cx="4544568" cy="29535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C3A6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@login_required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7DC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def</a:t>
            </a:r>
            <a:pPr indent="0" marL="0">
              <a:buNone/>
            </a:pPr>
            <a:r>
              <a:rPr lang="en-US" sz="11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aluno_excluir(request, pk):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aluno = get_object_or_404(Aluno, pk=pk)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</a:t>
            </a:r>
            <a:pPr indent="0" marL="0">
              <a:buNone/>
            </a:pPr>
            <a:r>
              <a:rPr lang="en-US" sz="1100" dirty="0">
                <a:solidFill>
                  <a:srgbClr val="7DC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if</a:t>
            </a:r>
            <a:pPr indent="0" marL="0">
              <a:buNone/>
            </a:pPr>
            <a:r>
              <a:rPr lang="en-US" sz="11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request.method == </a:t>
            </a:r>
            <a:pPr indent="0" marL="0">
              <a:buNone/>
            </a:pPr>
            <a:r>
              <a:rPr lang="en-US" sz="1100" dirty="0">
                <a:solidFill>
                  <a:srgbClr val="F0C67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"POST"</a:t>
            </a:r>
            <a:pPr indent="0" marL="0">
              <a:buNone/>
            </a:pPr>
            <a:r>
              <a:rPr lang="en-US" sz="11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: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</a:t>
            </a:r>
            <a:pPr indent="0" marL="0">
              <a:buNone/>
            </a:pPr>
            <a:r>
              <a:rPr lang="en-US" sz="1100" dirty="0">
                <a:solidFill>
                  <a:srgbClr val="7DC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try</a:t>
            </a:r>
            <a:pPr indent="0" marL="0">
              <a:buNone/>
            </a:pPr>
            <a:r>
              <a:rPr lang="en-US" sz="11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: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aluno.delete()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messages.success(request, </a:t>
            </a:r>
            <a:pPr indent="0" marL="0">
              <a:buNone/>
            </a:pPr>
            <a:r>
              <a:rPr lang="en-US" sz="1100" dirty="0">
                <a:solidFill>
                  <a:srgbClr val="F0C67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"Aluno excluído."</a:t>
            </a:r>
            <a:pPr indent="0" marL="0">
              <a:buNone/>
            </a:pPr>
            <a:r>
              <a:rPr lang="en-US" sz="11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</a:t>
            </a:r>
            <a:pPr indent="0" marL="0">
              <a:buNone/>
            </a:pPr>
            <a:r>
              <a:rPr lang="en-US" sz="1100" dirty="0">
                <a:solidFill>
                  <a:srgbClr val="7DC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except</a:t>
            </a:r>
            <a:pPr indent="0" marL="0">
              <a:buNone/>
            </a:pPr>
            <a:r>
              <a:rPr lang="en-US" sz="11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ProtectedError: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messages.error(request,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    </a:t>
            </a:r>
            <a:pPr indent="0" marL="0">
              <a:buNone/>
            </a:pPr>
            <a:r>
              <a:rPr lang="en-US" sz="1100" dirty="0">
                <a:solidFill>
                  <a:srgbClr val="F0C67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"Aluno com inscrições não pode sair."</a:t>
            </a:r>
            <a:pPr indent="0" marL="0">
              <a:buNone/>
            </a:pPr>
            <a:r>
              <a:rPr lang="en-US" sz="11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</a:t>
            </a:r>
            <a:pPr indent="0" marL="0">
              <a:buNone/>
            </a:pPr>
            <a:r>
              <a:rPr lang="en-US" sz="1100" dirty="0">
                <a:solidFill>
                  <a:srgbClr val="7DC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return</a:t>
            </a:r>
            <a:pPr indent="0" marL="0">
              <a:buNone/>
            </a:pPr>
            <a:r>
              <a:rPr lang="en-US" sz="11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redirect(</a:t>
            </a:r>
            <a:pPr indent="0" marL="0">
              <a:buNone/>
            </a:pPr>
            <a:r>
              <a:rPr lang="en-US" sz="1100" dirty="0">
                <a:solidFill>
                  <a:srgbClr val="F0C67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"academico:aluno_lista"</a:t>
            </a:r>
            <a:pPr indent="0" marL="0">
              <a:buNone/>
            </a:pPr>
            <a:r>
              <a:rPr lang="en-US" sz="11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</a:t>
            </a:r>
            <a:pPr indent="0" marL="0">
              <a:buNone/>
            </a:pPr>
            <a:r>
              <a:rPr lang="en-US" sz="1100" dirty="0">
                <a:solidFill>
                  <a:srgbClr val="7DC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return</a:t>
            </a:r>
            <a:pPr indent="0" marL="0">
              <a:buNone/>
            </a:pPr>
            <a:r>
              <a:rPr lang="en-US" sz="11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render(request,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</a:t>
            </a:r>
            <a:pPr indent="0" marL="0">
              <a:buNone/>
            </a:pPr>
            <a:r>
              <a:rPr lang="en-US" sz="1100" dirty="0">
                <a:solidFill>
                  <a:srgbClr val="F0C67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"academico/aluno_confirmar_exclusao.html"</a:t>
            </a:r>
            <a:pPr indent="0" marL="0">
              <a:buNone/>
            </a:pPr>
            <a:r>
              <a:rPr lang="en-US" sz="11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{</a:t>
            </a:r>
            <a:pPr indent="0" marL="0">
              <a:buNone/>
            </a:pPr>
            <a:r>
              <a:rPr lang="en-US" sz="1100" dirty="0">
                <a:solidFill>
                  <a:srgbClr val="F0C67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"aluno"</a:t>
            </a:r>
            <a:pPr indent="0" marL="0">
              <a:buNone/>
            </a:pPr>
            <a:r>
              <a:rPr lang="en-US" sz="11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: aluno})</a:t>
            </a:r>
            <a:endParaRPr lang="en-US" sz="11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5"/>
          <p:cNvSpPr/>
          <p:nvPr>
            <p:ph idx="105" type="title" hasCustomPrompt="1"/>
          </p:nvPr>
        </p:nvSpPr>
        <p:spPr>
          <a:xfrm>
            <a:off x="786384" y="329184"/>
            <a:ext cx="758952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dirty="0">
                <a:solidFill>
                  <a:schemeClr val="tx2"/>
                </a:solidFill>
              </a:rPr>
              <a:t>Delete ou soft delete?</a:t>
            </a:r>
            <a:endParaRPr lang="en-US" sz="3200" dirty="0"/>
          </a:p>
        </p:txBody>
      </p:sp>
      <p:sp>
        <p:nvSpPr>
          <p:cNvPr id="4" name="`aluno.delete()`"/>
          <p:cNvSpPr/>
          <p:nvPr/>
        </p:nvSpPr>
        <p:spPr>
          <a:xfrm>
            <a:off x="768096" y="1188720"/>
            <a:ext cx="3712464" cy="3017520"/>
          </a:xfrm>
          <a:prstGeom prst="roundRect">
            <a:avLst>
              <a:gd name="adj" fmla="val 1818"/>
            </a:avLst>
          </a:prstGeom>
          <a:solidFill>
            <a:srgbClr val="E3EFF1"/>
          </a:solidFill>
          <a:ln w="12700">
            <a:solidFill>
              <a:srgbClr val="E3EFF1"/>
            </a:solidFill>
            <a:prstDash val="solid"/>
          </a:ln>
        </p:spPr>
      </p:sp>
      <p:sp>
        <p:nvSpPr>
          <p:cNvPr id="5" name="Text 2"/>
          <p:cNvSpPr txBox="1"/>
          <p:nvPr/>
        </p:nvSpPr>
        <p:spPr>
          <a:xfrm>
            <a:off x="996696" y="1298448"/>
            <a:ext cx="3291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0397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aluno.delete()</a:t>
            </a:r>
            <a:endParaRPr lang="en-US" sz="1600" dirty="0"/>
          </a:p>
        </p:txBody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14984" y="1901952"/>
            <a:ext cx="219456" cy="219456"/>
          </a:xfrm>
          <a:prstGeom prst="rect">
            <a:avLst/>
          </a:prstGeom>
        </p:spPr>
      </p:pic>
      <p:sp>
        <p:nvSpPr>
          <p:cNvPr id="7" name="Text 3"/>
          <p:cNvSpPr txBox="1"/>
          <p:nvPr/>
        </p:nvSpPr>
        <p:spPr>
          <a:xfrm>
            <a:off x="1362456" y="1828800"/>
            <a:ext cx="2971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3A3F44"/>
                </a:solidFill>
              </a:rPr>
              <a:t>Banco enxuto, sem registros “mortos”.</a:t>
            </a:r>
            <a:endParaRPr lang="en-US" sz="1400" dirty="0"/>
          </a:p>
        </p:txBody>
      </p:sp>
      <p:pic>
        <p:nvPicPr>
          <p:cNvPr id="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14984" y="2468880"/>
            <a:ext cx="219456" cy="219456"/>
          </a:xfrm>
          <a:prstGeom prst="rect">
            <a:avLst/>
          </a:prstGeom>
        </p:spPr>
      </p:pic>
      <p:sp>
        <p:nvSpPr>
          <p:cNvPr id="9" name="Text 4"/>
          <p:cNvSpPr txBox="1"/>
          <p:nvPr/>
        </p:nvSpPr>
        <p:spPr>
          <a:xfrm>
            <a:off x="1362456" y="2395728"/>
            <a:ext cx="2971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3A3F44"/>
                </a:solidFill>
              </a:rPr>
              <a:t>Simples de explicar e de testar.</a:t>
            </a:r>
            <a:endParaRPr lang="en-US" sz="1400" dirty="0"/>
          </a:p>
        </p:txBody>
      </p:sp>
      <p:pic>
        <p:nvPicPr>
          <p:cNvPr id="10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14984" y="3035808"/>
            <a:ext cx="219456" cy="219456"/>
          </a:xfrm>
          <a:prstGeom prst="rect">
            <a:avLst/>
          </a:prstGeom>
        </p:spPr>
      </p:pic>
      <p:sp>
        <p:nvSpPr>
          <p:cNvPr id="11" name="Text 5"/>
          <p:cNvSpPr txBox="1"/>
          <p:nvPr/>
        </p:nvSpPr>
        <p:spPr>
          <a:xfrm>
            <a:off x="1362456" y="2962656"/>
            <a:ext cx="2971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3A3F44"/>
                </a:solidFill>
              </a:rPr>
              <a:t>Com </a:t>
            </a:r>
            <a:pPr indent="0" marL="0">
              <a:buNone/>
            </a:pPr>
            <a:r>
              <a:rPr lang="en-US" sz="1400" dirty="0">
                <a:solidFill>
                  <a:srgbClr val="00397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PROTECT</a:t>
            </a:r>
            <a:pPr indent="0" marL="0">
              <a:buNone/>
            </a:pPr>
            <a:r>
              <a:rPr lang="en-US" sz="1400" dirty="0">
                <a:solidFill>
                  <a:srgbClr val="3A3F44"/>
                </a:solidFill>
              </a:rPr>
              <a:t>, falha para quem tem notas.</a:t>
            </a:r>
            <a:endParaRPr lang="en-US" sz="1400" dirty="0"/>
          </a:p>
        </p:txBody>
      </p:sp>
      <p:pic>
        <p:nvPicPr>
          <p:cNvPr id="12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14984" y="3602736"/>
            <a:ext cx="219456" cy="219456"/>
          </a:xfrm>
          <a:prstGeom prst="rect">
            <a:avLst/>
          </a:prstGeom>
        </p:spPr>
      </p:pic>
      <p:sp>
        <p:nvSpPr>
          <p:cNvPr id="13" name="Text 6"/>
          <p:cNvSpPr txBox="1"/>
          <p:nvPr/>
        </p:nvSpPr>
        <p:spPr>
          <a:xfrm>
            <a:off x="1362456" y="3529584"/>
            <a:ext cx="2971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3A3F44"/>
                </a:solidFill>
              </a:rPr>
              <a:t>Apagou, perdeu: não há desfazer.</a:t>
            </a:r>
            <a:endParaRPr lang="en-US" sz="1400" dirty="0"/>
          </a:p>
        </p:txBody>
      </p:sp>
      <p:sp>
        <p:nvSpPr>
          <p:cNvPr id="14" name="`aluno.ativo = False`"/>
          <p:cNvSpPr/>
          <p:nvPr/>
        </p:nvSpPr>
        <p:spPr>
          <a:xfrm>
            <a:off x="4663440" y="1188720"/>
            <a:ext cx="3712464" cy="3017520"/>
          </a:xfrm>
          <a:prstGeom prst="roundRect">
            <a:avLst>
              <a:gd name="adj" fmla="val 1818"/>
            </a:avLst>
          </a:prstGeom>
          <a:solidFill>
            <a:srgbClr val="E3EFF1"/>
          </a:solidFill>
          <a:ln w="12700">
            <a:solidFill>
              <a:srgbClr val="E3EFF1"/>
            </a:solidFill>
            <a:prstDash val="solid"/>
          </a:ln>
        </p:spPr>
      </p:sp>
      <p:sp>
        <p:nvSpPr>
          <p:cNvPr id="15" name="Text 8"/>
          <p:cNvSpPr txBox="1"/>
          <p:nvPr/>
        </p:nvSpPr>
        <p:spPr>
          <a:xfrm>
            <a:off x="4892040" y="1298448"/>
            <a:ext cx="3291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0397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aluno.ativo = False</a:t>
            </a:r>
            <a:endParaRPr lang="en-US" sz="1600" dirty="0"/>
          </a:p>
        </p:txBody>
      </p:sp>
      <p:pic>
        <p:nvPicPr>
          <p:cNvPr id="16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910328" y="1901952"/>
            <a:ext cx="219456" cy="219456"/>
          </a:xfrm>
          <a:prstGeom prst="rect">
            <a:avLst/>
          </a:prstGeom>
        </p:spPr>
      </p:pic>
      <p:sp>
        <p:nvSpPr>
          <p:cNvPr id="17" name="Text 9"/>
          <p:cNvSpPr txBox="1"/>
          <p:nvPr/>
        </p:nvSpPr>
        <p:spPr>
          <a:xfrm>
            <a:off x="5257800" y="1828800"/>
            <a:ext cx="2971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3A3F44"/>
                </a:solidFill>
              </a:rPr>
              <a:t>Histórico preservado: notas e boletins.</a:t>
            </a:r>
            <a:endParaRPr lang="en-US" sz="1400" dirty="0"/>
          </a:p>
        </p:txBody>
      </p:sp>
      <p:pic>
        <p:nvPicPr>
          <p:cNvPr id="18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910328" y="2468880"/>
            <a:ext cx="219456" cy="219456"/>
          </a:xfrm>
          <a:prstGeom prst="rect">
            <a:avLst/>
          </a:prstGeom>
        </p:spPr>
      </p:pic>
      <p:sp>
        <p:nvSpPr>
          <p:cNvPr id="19" name="Text 10"/>
          <p:cNvSpPr txBox="1"/>
          <p:nvPr/>
        </p:nvSpPr>
        <p:spPr>
          <a:xfrm>
            <a:off x="5257800" y="2395728"/>
            <a:ext cx="2971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3A3F44"/>
                </a:solidFill>
              </a:rPr>
              <a:t>Reversível: basta voltar </a:t>
            </a:r>
            <a:pPr indent="0" marL="0">
              <a:buNone/>
            </a:pPr>
            <a:r>
              <a:rPr lang="en-US" sz="1400" dirty="0">
                <a:solidFill>
                  <a:srgbClr val="00397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ativo = True</a:t>
            </a:r>
            <a:pPr indent="0" marL="0">
              <a:buNone/>
            </a:pPr>
            <a:r>
              <a:rPr lang="en-US" sz="1400" dirty="0">
                <a:solidFill>
                  <a:srgbClr val="3A3F44"/>
                </a:solidFill>
              </a:rPr>
              <a:t>.</a:t>
            </a:r>
            <a:endParaRPr lang="en-US" sz="1400" dirty="0"/>
          </a:p>
        </p:txBody>
      </p:sp>
      <p:pic>
        <p:nvPicPr>
          <p:cNvPr id="20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910328" y="3035808"/>
            <a:ext cx="219456" cy="219456"/>
          </a:xfrm>
          <a:prstGeom prst="rect">
            <a:avLst/>
          </a:prstGeom>
        </p:spPr>
      </p:pic>
      <p:sp>
        <p:nvSpPr>
          <p:cNvPr id="21" name="Text 11"/>
          <p:cNvSpPr txBox="1"/>
          <p:nvPr/>
        </p:nvSpPr>
        <p:spPr>
          <a:xfrm>
            <a:off x="5257800" y="2962656"/>
            <a:ext cx="2971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3A3F44"/>
                </a:solidFill>
              </a:rPr>
              <a:t>Toda listagem precisa filtrar </a:t>
            </a:r>
            <a:pPr indent="0" marL="0">
              <a:buNone/>
            </a:pPr>
            <a:r>
              <a:rPr lang="en-US" sz="1400" dirty="0">
                <a:solidFill>
                  <a:srgbClr val="00397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ativo=True</a:t>
            </a:r>
            <a:pPr indent="0" marL="0">
              <a:buNone/>
            </a:pPr>
            <a:r>
              <a:rPr lang="en-US" sz="1400" dirty="0">
                <a:solidFill>
                  <a:srgbClr val="3A3F44"/>
                </a:solidFill>
              </a:rPr>
              <a:t>.</a:t>
            </a:r>
            <a:endParaRPr lang="en-US" sz="1400" dirty="0"/>
          </a:p>
        </p:txBody>
      </p:sp>
      <p:pic>
        <p:nvPicPr>
          <p:cNvPr id="22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910328" y="3602736"/>
            <a:ext cx="219456" cy="219456"/>
          </a:xfrm>
          <a:prstGeom prst="rect">
            <a:avLst/>
          </a:prstGeom>
        </p:spPr>
      </p:pic>
      <p:sp>
        <p:nvSpPr>
          <p:cNvPr id="23" name="Text 12"/>
          <p:cNvSpPr txBox="1"/>
          <p:nvPr/>
        </p:nvSpPr>
        <p:spPr>
          <a:xfrm>
            <a:off x="5257800" y="3529584"/>
            <a:ext cx="2971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3A3F44"/>
                </a:solidFill>
              </a:rPr>
              <a:t>A matrícula continua ocupada pelo UNIQUE.</a:t>
            </a:r>
            <a:endParaRPr lang="en-US" sz="1400" dirty="0"/>
          </a:p>
        </p:txBody>
      </p:sp>
      <p:sp>
        <p:nvSpPr>
          <p:cNvPr id="24" name="Text 13"/>
          <p:cNvSpPr txBox="1"/>
          <p:nvPr/>
        </p:nvSpPr>
        <p:spPr>
          <a:xfrm>
            <a:off x="768096" y="4389120"/>
            <a:ext cx="760780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1185AA"/>
                </a:solidFill>
              </a:rPr>
              <a:t>Bônus de +0,5: escolham, implementem e justifiquem no README.</a:t>
            </a:r>
            <a:endParaRPr lang="en-US" sz="15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5"/>
          <p:cNvSpPr/>
          <p:nvPr>
            <p:ph idx="105" type="title" hasCustomPrompt="1"/>
          </p:nvPr>
        </p:nvSpPr>
        <p:spPr>
          <a:xfrm>
            <a:off x="786384" y="329184"/>
            <a:ext cx="758952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dirty="0">
                <a:solidFill>
                  <a:schemeClr val="tx2"/>
                </a:solidFill>
              </a:rPr>
              <a:t>Erro previsível vira mensagem</a:t>
            </a:r>
            <a:endParaRPr lang="en-US" sz="3200" dirty="0"/>
          </a:p>
        </p:txBody>
      </p:sp>
      <p:graphicFrame>
        <p:nvGraphicFramePr>
          <p:cNvPr id="1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68096" y="1188720"/>
          <a:ext cx="7607808" cy="914400"/>
        </p:xfrm>
        <a:graphic>
          <a:graphicData uri="http://schemas.openxmlformats.org/drawingml/2006/table">
            <a:tbl>
              <a:tblPr/>
              <a:tblGrid>
                <a:gridCol w="2103120"/>
                <a:gridCol w="2377440"/>
                <a:gridCol w="3127248"/>
              </a:tblGrid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</a:rPr>
                        <a:t>Situação</a:t>
                      </a:r>
                      <a:endParaRPr lang="en-US" sz="1300" dirty="0"/>
                    </a:p>
                  </a:txBody>
                  <a:tcPr marL="109728" marR="109728" marT="36576" marB="36576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00397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</a:rPr>
                        <a:t>Sem tratamento</a:t>
                      </a:r>
                      <a:endParaRPr lang="en-US" sz="1300" dirty="0"/>
                    </a:p>
                  </a:txBody>
                  <a:tcPr marL="109728" marR="109728" marT="36576" marB="36576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00397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</a:rPr>
                        <a:t>Com tratamento</a:t>
                      </a:r>
                      <a:endParaRPr lang="en-US" sz="1300" dirty="0"/>
                    </a:p>
                  </a:txBody>
                  <a:tcPr marL="109728" marR="109728" marT="36576" marB="36576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00397B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3A3F44"/>
                          </a:solidFill>
                        </a:rPr>
                        <a:t>Matrícula repetida</a:t>
                      </a:r>
                      <a:endParaRPr lang="en-US" sz="1300" dirty="0"/>
                    </a:p>
                  </a:txBody>
                  <a:tcPr marL="109728" marR="109728" marT="36576" marB="36576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0397B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IntegrityError</a:t>
                      </a:r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3A3F44"/>
                          </a:solidFill>
                        </a:rPr>
                        <a:t>, página amarela</a:t>
                      </a:r>
                      <a:endParaRPr lang="en-US" sz="1300" dirty="0"/>
                    </a:p>
                  </a:txBody>
                  <a:tcPr marL="109728" marR="109728" marT="36576" marB="36576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3A3F44"/>
                          </a:solidFill>
                        </a:rPr>
                        <a:t>o ModelForm valida o </a:t>
                      </a:r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0397B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unique</a:t>
                      </a:r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3A3F44"/>
                          </a:solidFill>
                        </a:rPr>
                        <a:t> e avisa no campo</a:t>
                      </a:r>
                      <a:endParaRPr lang="en-US" sz="1300" dirty="0"/>
                    </a:p>
                  </a:txBody>
                  <a:tcPr marL="109728" marR="109728" marT="36576" marB="36576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3A3F44"/>
                          </a:solidFill>
                        </a:rPr>
                        <a:t>Inscrição duplicada</a:t>
                      </a:r>
                      <a:endParaRPr lang="en-US" sz="1300" dirty="0"/>
                    </a:p>
                  </a:txBody>
                  <a:tcPr marL="109728" marR="109728" marT="36576" marB="36576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E3EFF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0397B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IntegrityError</a:t>
                      </a:r>
                      <a:endParaRPr lang="en-US" sz="1300" dirty="0"/>
                    </a:p>
                  </a:txBody>
                  <a:tcPr marL="109728" marR="109728" marT="36576" marB="36576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E3EFF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0397B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UniqueConstraint</a:t>
                      </a:r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3A3F44"/>
                          </a:solidFill>
                        </a:rPr>
                        <a:t> + </a:t>
                      </a:r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0397B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error_messages</a:t>
                      </a:r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3A3F44"/>
                          </a:solidFill>
                        </a:rPr>
                        <a:t> amigável</a:t>
                      </a:r>
                      <a:endParaRPr lang="en-US" sz="1300" dirty="0"/>
                    </a:p>
                  </a:txBody>
                  <a:tcPr marL="109728" marR="109728" marT="36576" marB="36576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E3EFF1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3A3F44"/>
                          </a:solidFill>
                        </a:rPr>
                        <a:t>Excluir aluno com notas</a:t>
                      </a:r>
                      <a:endParaRPr lang="en-US" sz="1300" dirty="0"/>
                    </a:p>
                  </a:txBody>
                  <a:tcPr marL="109728" marR="109728" marT="36576" marB="36576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0397B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ProtectedError</a:t>
                      </a:r>
                      <a:endParaRPr lang="en-US" sz="1300" dirty="0"/>
                    </a:p>
                  </a:txBody>
                  <a:tcPr marL="109728" marR="109728" marT="36576" marB="36576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0397B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try/except</a:t>
                      </a:r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3A3F44"/>
                          </a:solidFill>
                        </a:rPr>
                        <a:t> + </a:t>
                      </a:r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0397B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messages.error</a:t>
                      </a:r>
                      <a:endParaRPr lang="en-US" sz="1300" dirty="0"/>
                    </a:p>
                  </a:txBody>
                  <a:tcPr marL="109728" marR="109728" marT="36576" marB="36576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3A3F44"/>
                          </a:solidFill>
                        </a:rPr>
                        <a:t>Id inexistente na URL</a:t>
                      </a:r>
                      <a:endParaRPr lang="en-US" sz="1300" dirty="0"/>
                    </a:p>
                  </a:txBody>
                  <a:tcPr marL="109728" marR="109728" marT="36576" marB="36576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E3EFF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0397B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DoesNotExist</a:t>
                      </a:r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3A3F44"/>
                          </a:solidFill>
                        </a:rPr>
                        <a:t>, erro 500</a:t>
                      </a:r>
                      <a:endParaRPr lang="en-US" sz="1300" dirty="0"/>
                    </a:p>
                  </a:txBody>
                  <a:tcPr marL="109728" marR="109728" marT="36576" marB="36576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E3EFF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0397B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get_object_or_404</a:t>
                      </a:r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3A3F44"/>
                          </a:solidFill>
                        </a:rPr>
                        <a:t>, página 404</a:t>
                      </a:r>
                      <a:endParaRPr lang="en-US" sz="1300" dirty="0"/>
                    </a:p>
                  </a:txBody>
                  <a:tcPr marL="109728" marR="109728" marT="36576" marB="36576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E3EFF1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3A3F44"/>
                          </a:solidFill>
                        </a:rPr>
                        <a:t>Nota 11</a:t>
                      </a:r>
                      <a:endParaRPr lang="en-US" sz="1300" dirty="0"/>
                    </a:p>
                  </a:txBody>
                  <a:tcPr marL="109728" marR="109728" marT="36576" marB="36576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3A3F44"/>
                          </a:solidFill>
                        </a:rPr>
                        <a:t>gravada sem aviso</a:t>
                      </a:r>
                      <a:endParaRPr lang="en-US" sz="1300" dirty="0"/>
                    </a:p>
                  </a:txBody>
                  <a:tcPr marL="109728" marR="109728" marT="36576" marB="36576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0397B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MaxValueValidator(10)</a:t>
                      </a:r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3A3F44"/>
                          </a:solidFill>
                        </a:rPr>
                        <a:t>, erro no campo</a:t>
                      </a:r>
                      <a:endParaRPr lang="en-US" sz="1300" dirty="0"/>
                    </a:p>
                  </a:txBody>
                  <a:tcPr marL="109728" marR="109728" marT="36576" marB="36576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Text 1"/>
          <p:cNvSpPr txBox="1"/>
          <p:nvPr/>
        </p:nvSpPr>
        <p:spPr>
          <a:xfrm>
            <a:off x="768096" y="4416552"/>
            <a:ext cx="760780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1185AA"/>
                </a:solidFill>
              </a:rPr>
              <a:t>Traceback na tela do usuário é bug, mesmo quando o banco “fez a coisa certa”.</a:t>
            </a:r>
            <a:endParaRPr lang="en-US" sz="15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5"/>
          <p:cNvSpPr/>
          <p:nvPr>
            <p:ph idx="105" type="title" hasCustomPrompt="1"/>
          </p:nvPr>
        </p:nvSpPr>
        <p:spPr>
          <a:xfrm>
            <a:off x="786384" y="329184"/>
            <a:ext cx="758952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dirty="0">
                <a:solidFill>
                  <a:schemeClr val="tx2"/>
                </a:solidFill>
              </a:rPr>
              <a:t>Para levar desta aula</a:t>
            </a:r>
            <a:endParaRPr lang="en-US" sz="3200" dirty="0"/>
          </a:p>
        </p:txBody>
      </p:sp>
      <p:sp>
        <p:nvSpPr>
          <p:cNvPr id="4" name="Shape 1"/>
          <p:cNvSpPr/>
          <p:nvPr/>
        </p:nvSpPr>
        <p:spPr>
          <a:xfrm>
            <a:off x="768096" y="1234440"/>
            <a:ext cx="7607808" cy="658368"/>
          </a:xfrm>
          <a:prstGeom prst="roundRect">
            <a:avLst>
              <a:gd name="adj" fmla="val 8333"/>
            </a:avLst>
          </a:prstGeom>
          <a:solidFill>
            <a:srgbClr val="E3EFF1"/>
          </a:solidFill>
          <a:ln w="12700">
            <a:solidFill>
              <a:srgbClr val="E3EFF1"/>
            </a:solidFill>
            <a:prstDash val="solid"/>
          </a:ln>
        </p:spPr>
      </p:sp>
      <p:sp>
        <p:nvSpPr>
          <p:cNvPr id="5" name="Shape 2"/>
          <p:cNvSpPr/>
          <p:nvPr/>
        </p:nvSpPr>
        <p:spPr>
          <a:xfrm>
            <a:off x="950976" y="1371600"/>
            <a:ext cx="384048" cy="384048"/>
          </a:xfrm>
          <a:prstGeom prst="ellipse">
            <a:avLst/>
          </a:prstGeom>
          <a:solidFill>
            <a:srgbClr val="1185AA"/>
          </a:solidFill>
          <a:ln w="12700">
            <a:solidFill>
              <a:srgbClr val="1185AA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950976" y="137160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1</a:t>
            </a:r>
            <a:endParaRPr lang="en-US" sz="1400" dirty="0"/>
          </a:p>
        </p:txBody>
      </p:sp>
      <p:sp>
        <p:nvSpPr>
          <p:cNvPr id="7" name="Text 4"/>
          <p:cNvSpPr txBox="1"/>
          <p:nvPr/>
        </p:nvSpPr>
        <p:spPr>
          <a:xfrm>
            <a:off x="1554480" y="1234440"/>
            <a:ext cx="66751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3A3F44"/>
                </a:solidFill>
              </a:rPr>
              <a:t>Integridade no modelo e no banco. Mensagem no formulário. Fluxo na view.</a:t>
            </a:r>
            <a:endParaRPr lang="en-US" sz="1600" dirty="0"/>
          </a:p>
        </p:txBody>
      </p:sp>
      <p:sp>
        <p:nvSpPr>
          <p:cNvPr id="8" name="Shape 5"/>
          <p:cNvSpPr/>
          <p:nvPr/>
        </p:nvSpPr>
        <p:spPr>
          <a:xfrm>
            <a:off x="768096" y="2039112"/>
            <a:ext cx="7607808" cy="658368"/>
          </a:xfrm>
          <a:prstGeom prst="roundRect">
            <a:avLst>
              <a:gd name="adj" fmla="val 8333"/>
            </a:avLst>
          </a:prstGeom>
          <a:solidFill>
            <a:srgbClr val="E3EFF1"/>
          </a:solidFill>
          <a:ln w="12700">
            <a:solidFill>
              <a:srgbClr val="E3EFF1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950976" y="2176272"/>
            <a:ext cx="384048" cy="384048"/>
          </a:xfrm>
          <a:prstGeom prst="ellipse">
            <a:avLst/>
          </a:prstGeom>
          <a:solidFill>
            <a:srgbClr val="1185AA"/>
          </a:solidFill>
          <a:ln w="12700">
            <a:solidFill>
              <a:srgbClr val="1185AA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950976" y="217627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2</a:t>
            </a:r>
            <a:endParaRPr lang="en-US" sz="1400" dirty="0"/>
          </a:p>
        </p:txBody>
      </p:sp>
      <p:sp>
        <p:nvSpPr>
          <p:cNvPr id="11" name="Text 8"/>
          <p:cNvSpPr txBox="1"/>
          <p:nvPr/>
        </p:nvSpPr>
        <p:spPr>
          <a:xfrm>
            <a:off x="1554480" y="2039112"/>
            <a:ext cx="66751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3A3F44"/>
                </a:solidFill>
              </a:rPr>
              <a:t>Editar é criar com </a:t>
            </a:r>
            <a:pPr indent="0" marL="0">
              <a:buNone/>
            </a:pPr>
            <a:r>
              <a:rPr lang="en-US" sz="1600" dirty="0">
                <a:solidFill>
                  <a:srgbClr val="00397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get_object_or_404</a:t>
            </a:r>
            <a:pPr indent="0" marL="0">
              <a:buNone/>
            </a:pPr>
            <a:r>
              <a:rPr lang="en-US" sz="1600" dirty="0">
                <a:solidFill>
                  <a:srgbClr val="3A3F44"/>
                </a:solidFill>
              </a:rPr>
              <a:t> e </a:t>
            </a:r>
            <a:pPr indent="0" marL="0">
              <a:buNone/>
            </a:pPr>
            <a:r>
              <a:rPr lang="en-US" sz="1600" dirty="0">
                <a:solidFill>
                  <a:srgbClr val="00397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instance=</a:t>
            </a:r>
            <a:pPr indent="0" marL="0">
              <a:buNone/>
            </a:pPr>
            <a:r>
              <a:rPr lang="en-US" sz="1600" dirty="0">
                <a:solidFill>
                  <a:srgbClr val="3A3F44"/>
                </a:solidFill>
              </a:rPr>
              <a:t> nos dois caminhos.</a:t>
            </a:r>
            <a:endParaRPr lang="en-US" sz="1600" dirty="0"/>
          </a:p>
        </p:txBody>
      </p:sp>
      <p:sp>
        <p:nvSpPr>
          <p:cNvPr id="12" name="Shape 9"/>
          <p:cNvSpPr/>
          <p:nvPr/>
        </p:nvSpPr>
        <p:spPr>
          <a:xfrm>
            <a:off x="768096" y="2843784"/>
            <a:ext cx="7607808" cy="658368"/>
          </a:xfrm>
          <a:prstGeom prst="roundRect">
            <a:avLst>
              <a:gd name="adj" fmla="val 8333"/>
            </a:avLst>
          </a:prstGeom>
          <a:solidFill>
            <a:srgbClr val="E3EFF1"/>
          </a:solidFill>
          <a:ln w="12700">
            <a:solidFill>
              <a:srgbClr val="E3EFF1"/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950976" y="2980944"/>
            <a:ext cx="384048" cy="384048"/>
          </a:xfrm>
          <a:prstGeom prst="ellipse">
            <a:avLst/>
          </a:prstGeom>
          <a:solidFill>
            <a:srgbClr val="1185AA"/>
          </a:solidFill>
          <a:ln w="12700">
            <a:solidFill>
              <a:srgbClr val="1185AA"/>
            </a:solidFill>
            <a:prstDash val="solid"/>
          </a:ln>
        </p:spPr>
      </p:sp>
      <p:sp>
        <p:nvSpPr>
          <p:cNvPr id="14" name="Text 11"/>
          <p:cNvSpPr txBox="1"/>
          <p:nvPr/>
        </p:nvSpPr>
        <p:spPr>
          <a:xfrm>
            <a:off x="950976" y="298094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3</a:t>
            </a:r>
            <a:endParaRPr lang="en-US" sz="1400" dirty="0"/>
          </a:p>
        </p:txBody>
      </p:sp>
      <p:sp>
        <p:nvSpPr>
          <p:cNvPr id="15" name="Text 12"/>
          <p:cNvSpPr txBox="1"/>
          <p:nvPr/>
        </p:nvSpPr>
        <p:spPr>
          <a:xfrm>
            <a:off x="1554480" y="2843784"/>
            <a:ext cx="66751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3A3F44"/>
                </a:solidFill>
              </a:rPr>
              <a:t>POST salva e redireciona. Exclusão só no POST, com confirmação no GET.</a:t>
            </a:r>
            <a:endParaRPr lang="en-US" sz="1600" dirty="0"/>
          </a:p>
        </p:txBody>
      </p:sp>
      <p:sp>
        <p:nvSpPr>
          <p:cNvPr id="16" name="Shape 13"/>
          <p:cNvSpPr/>
          <p:nvPr/>
        </p:nvSpPr>
        <p:spPr>
          <a:xfrm>
            <a:off x="768096" y="3648456"/>
            <a:ext cx="7607808" cy="658368"/>
          </a:xfrm>
          <a:prstGeom prst="roundRect">
            <a:avLst>
              <a:gd name="adj" fmla="val 8333"/>
            </a:avLst>
          </a:prstGeom>
          <a:solidFill>
            <a:srgbClr val="E3EFF1"/>
          </a:solidFill>
          <a:ln w="12700">
            <a:solidFill>
              <a:srgbClr val="E3EFF1"/>
            </a:solidFill>
            <a:prstDash val="solid"/>
          </a:ln>
        </p:spPr>
      </p:sp>
      <p:sp>
        <p:nvSpPr>
          <p:cNvPr id="17" name="Shape 14"/>
          <p:cNvSpPr/>
          <p:nvPr/>
        </p:nvSpPr>
        <p:spPr>
          <a:xfrm>
            <a:off x="950976" y="3785616"/>
            <a:ext cx="384048" cy="384048"/>
          </a:xfrm>
          <a:prstGeom prst="ellipse">
            <a:avLst/>
          </a:prstGeom>
          <a:solidFill>
            <a:srgbClr val="1185AA"/>
          </a:solidFill>
          <a:ln w="12700">
            <a:solidFill>
              <a:srgbClr val="1185AA"/>
            </a:solidFill>
            <a:prstDash val="solid"/>
          </a:ln>
        </p:spPr>
      </p:sp>
      <p:sp>
        <p:nvSpPr>
          <p:cNvPr id="18" name="Text 15"/>
          <p:cNvSpPr txBox="1"/>
          <p:nvPr/>
        </p:nvSpPr>
        <p:spPr>
          <a:xfrm>
            <a:off x="950976" y="378561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4</a:t>
            </a:r>
            <a:endParaRPr lang="en-US" sz="1400" dirty="0"/>
          </a:p>
        </p:txBody>
      </p:sp>
      <p:sp>
        <p:nvSpPr>
          <p:cNvPr id="19" name="Text 16"/>
          <p:cNvSpPr txBox="1"/>
          <p:nvPr/>
        </p:nvSpPr>
        <p:spPr>
          <a:xfrm>
            <a:off x="1554480" y="3648456"/>
            <a:ext cx="66751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3A3F44"/>
                </a:solidFill>
              </a:rPr>
              <a:t>Erro previsível vira mensagem. Delete ou soft delete é decisão de projeto: justifiquem.</a:t>
            </a:r>
            <a:endParaRPr lang="en-US" sz="16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4"/>
          <p:cNvSpPr/>
          <p:nvPr>
            <p:ph idx="104" type="title" hasCustomPrompt="1"/>
          </p:nvPr>
        </p:nvSpPr>
        <p:spPr>
          <a:xfrm>
            <a:off x="996696" y="1737360"/>
            <a:ext cx="443484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000" dirty="0">
                <a:solidFill>
                  <a:schemeClr val="bg1"/>
                </a:solidFill>
              </a:rPr>
              <a:t>Prática: fechando o CRUD de aluno</a:t>
            </a:r>
            <a:endParaRPr lang="en-US" sz="4000" dirty="0"/>
          </a:p>
        </p:txBody>
      </p:sp>
      <p:sp>
        <p:nvSpPr>
          <p:cNvPr id="3" name="Text 4"/>
          <p:cNvSpPr/>
          <p:nvPr>
            <p:ph idx="105" type="body" hasCustomPrompt="1"/>
          </p:nvPr>
        </p:nvSpPr>
        <p:spPr>
          <a:xfrm>
            <a:off x="996696" y="3246120"/>
            <a:ext cx="44348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dirty="0">
                <a:solidFill>
                  <a:schemeClr val="bg2"/>
                </a:solidFill>
              </a:rPr>
              <a:t>Ache o erro · TODOs 4 a 9 · teste como usuário</a:t>
            </a:r>
            <a:endParaRPr lang="en-US" sz="1600" dirty="0"/>
          </a:p>
        </p:txBody>
      </p:sp>
      <p:sp>
        <p:nvSpPr>
          <p:cNvPr id="4" name="capa fundo"/>
          <p:cNvSpPr/>
          <p:nvPr/>
        </p:nvSpPr>
        <p:spPr>
          <a:xfrm>
            <a:off x="5669280" y="2102206"/>
            <a:ext cx="3246120" cy="939089"/>
          </a:xfrm>
          <a:prstGeom prst="roundRect">
            <a:avLst>
              <a:gd name="adj" fmla="val 7790"/>
            </a:avLst>
          </a:prstGeom>
          <a:solidFill>
            <a:srgbClr val="1E2433"/>
          </a:solidFill>
          <a:ln w="12700">
            <a:solidFill>
              <a:srgbClr val="1E2433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833872" y="2221078"/>
            <a:ext cx="91440" cy="91440"/>
          </a:xfrm>
          <a:prstGeom prst="ellipse">
            <a:avLst/>
          </a:prstGeom>
          <a:solidFill>
            <a:srgbClr val="FF5F57"/>
          </a:solidFill>
          <a:ln w="12700">
            <a:solidFill>
              <a:srgbClr val="FF5F57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980176" y="2221078"/>
            <a:ext cx="91440" cy="91440"/>
          </a:xfrm>
          <a:prstGeom prst="ellipse">
            <a:avLst/>
          </a:prstGeom>
          <a:solidFill>
            <a:srgbClr val="FEBC2E"/>
          </a:solidFill>
          <a:ln w="12700">
            <a:solidFill>
              <a:srgbClr val="FEBC2E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6126480" y="2221078"/>
            <a:ext cx="91440" cy="91440"/>
          </a:xfrm>
          <a:prstGeom prst="ellipse">
            <a:avLst/>
          </a:prstGeom>
          <a:solidFill>
            <a:srgbClr val="28C840"/>
          </a:solidFill>
          <a:ln w="12700">
            <a:solidFill>
              <a:srgbClr val="28C840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6327648" y="2157070"/>
            <a:ext cx="24231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terminal</a:t>
            </a:r>
            <a:endParaRPr lang="en-US" sz="900" dirty="0"/>
          </a:p>
        </p:txBody>
      </p:sp>
      <p:sp>
        <p:nvSpPr>
          <p:cNvPr id="9" name="capa texto"/>
          <p:cNvSpPr txBox="1"/>
          <p:nvPr/>
        </p:nvSpPr>
        <p:spPr>
          <a:xfrm>
            <a:off x="5888736" y="2486254"/>
            <a:ext cx="2880360" cy="46360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python manage.py runserver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python verificar.py</a:t>
            </a:r>
            <a:endParaRPr lang="en-US" sz="11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5"/>
          <p:cNvSpPr/>
          <p:nvPr>
            <p:ph idx="105" type="title" hasCustomPrompt="1"/>
          </p:nvPr>
        </p:nvSpPr>
        <p:spPr>
          <a:xfrm>
            <a:off x="786384" y="329184"/>
            <a:ext cx="758952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dirty="0">
                <a:solidFill>
                  <a:schemeClr val="tx2"/>
                </a:solidFill>
              </a:rPr>
              <a:t>Prática 1: ache o erro</a:t>
            </a:r>
            <a:endParaRPr lang="en-US" sz="3200" dirty="0"/>
          </a:p>
        </p:txBody>
      </p:sp>
      <p:sp>
        <p:nvSpPr>
          <p:cNvPr id="4" name="Shape 1"/>
          <p:cNvSpPr/>
          <p:nvPr/>
        </p:nvSpPr>
        <p:spPr>
          <a:xfrm>
            <a:off x="6784848" y="512064"/>
            <a:ext cx="1591056" cy="274320"/>
          </a:xfrm>
          <a:prstGeom prst="roundRect">
            <a:avLst>
              <a:gd name="adj" fmla="val 50000"/>
            </a:avLst>
          </a:prstGeom>
          <a:solidFill>
            <a:srgbClr val="1185AA"/>
          </a:solidFill>
          <a:ln w="12700">
            <a:solidFill>
              <a:srgbClr val="1185AA"/>
            </a:solidFill>
            <a:prstDash val="solid"/>
          </a:ln>
        </p:spPr>
      </p:sp>
      <p:sp>
        <p:nvSpPr>
          <p:cNvPr id="5" name="Text 2"/>
          <p:cNvSpPr txBox="1"/>
          <p:nvPr/>
        </p:nvSpPr>
        <p:spPr>
          <a:xfrm>
            <a:off x="6784848" y="512064"/>
            <a:ext cx="15910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≈ 10 min, em duplas</a:t>
            </a:r>
            <a:endParaRPr lang="en-US" sz="1100" dirty="0"/>
          </a:p>
        </p:txBody>
      </p:sp>
      <p:sp>
        <p:nvSpPr>
          <p:cNvPr id="6" name="codigo fundo"/>
          <p:cNvSpPr/>
          <p:nvPr/>
        </p:nvSpPr>
        <p:spPr>
          <a:xfrm>
            <a:off x="768096" y="1188720"/>
            <a:ext cx="3712464" cy="1572768"/>
          </a:xfrm>
          <a:prstGeom prst="roundRect">
            <a:avLst>
              <a:gd name="adj" fmla="val 4651"/>
            </a:avLst>
          </a:prstGeom>
          <a:solidFill>
            <a:srgbClr val="1E2433"/>
          </a:solidFill>
          <a:ln w="12700">
            <a:solidFill>
              <a:srgbClr val="1E2433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932688" y="1307592"/>
            <a:ext cx="91440" cy="91440"/>
          </a:xfrm>
          <a:prstGeom prst="ellipse">
            <a:avLst/>
          </a:prstGeom>
          <a:solidFill>
            <a:srgbClr val="FF5F57"/>
          </a:solidFill>
          <a:ln w="12700">
            <a:solidFill>
              <a:srgbClr val="FF5F57"/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1078992" y="1307592"/>
            <a:ext cx="91440" cy="91440"/>
          </a:xfrm>
          <a:prstGeom prst="ellipse">
            <a:avLst/>
          </a:prstGeom>
          <a:solidFill>
            <a:srgbClr val="FEBC2E"/>
          </a:solidFill>
          <a:ln w="12700">
            <a:solidFill>
              <a:srgbClr val="FEBC2E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1225296" y="1307592"/>
            <a:ext cx="91440" cy="91440"/>
          </a:xfrm>
          <a:prstGeom prst="ellipse">
            <a:avLst/>
          </a:prstGeom>
          <a:solidFill>
            <a:srgbClr val="28C840"/>
          </a:solidFill>
          <a:ln w="12700">
            <a:solidFill>
              <a:srgbClr val="28C840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1426464" y="1243584"/>
            <a:ext cx="288950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 · aluno_editar</a:t>
            </a:r>
            <a:endParaRPr lang="en-US" sz="900" dirty="0"/>
          </a:p>
        </p:txBody>
      </p:sp>
      <p:sp>
        <p:nvSpPr>
          <p:cNvPr id="11" name="codigo texto"/>
          <p:cNvSpPr txBox="1"/>
          <p:nvPr/>
        </p:nvSpPr>
        <p:spPr>
          <a:xfrm>
            <a:off x="987552" y="1572768"/>
            <a:ext cx="3346704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aluno = get_object_or_404(Aluno, pk=pk)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form = AlunoForm(request.POST)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7DC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if</a:t>
            </a:r>
            <a:pPr indent="0" marL="0">
              <a:buNone/>
            </a:pPr>
            <a:r>
              <a:rPr lang="en-US" sz="10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form.is_valid():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form.save()</a:t>
            </a:r>
            <a:endParaRPr lang="en-US" sz="1050" dirty="0"/>
          </a:p>
        </p:txBody>
      </p:sp>
      <p:sp>
        <p:nvSpPr>
          <p:cNvPr id="12" name="codigo fundo"/>
          <p:cNvSpPr/>
          <p:nvPr/>
        </p:nvSpPr>
        <p:spPr>
          <a:xfrm>
            <a:off x="4663440" y="1188720"/>
            <a:ext cx="3712464" cy="1572768"/>
          </a:xfrm>
          <a:prstGeom prst="roundRect">
            <a:avLst>
              <a:gd name="adj" fmla="val 4651"/>
            </a:avLst>
          </a:prstGeom>
          <a:solidFill>
            <a:srgbClr val="1E2433"/>
          </a:solidFill>
          <a:ln w="12700">
            <a:solidFill>
              <a:srgbClr val="1E2433"/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4828032" y="1307592"/>
            <a:ext cx="91440" cy="91440"/>
          </a:xfrm>
          <a:prstGeom prst="ellipse">
            <a:avLst/>
          </a:prstGeom>
          <a:solidFill>
            <a:srgbClr val="FF5F57"/>
          </a:solidFill>
          <a:ln w="12700">
            <a:solidFill>
              <a:srgbClr val="FF5F57"/>
            </a:solidFill>
            <a:prstDash val="solid"/>
          </a:ln>
        </p:spPr>
      </p:sp>
      <p:sp>
        <p:nvSpPr>
          <p:cNvPr id="14" name="Shape 11"/>
          <p:cNvSpPr/>
          <p:nvPr/>
        </p:nvSpPr>
        <p:spPr>
          <a:xfrm>
            <a:off x="4974336" y="1307592"/>
            <a:ext cx="91440" cy="91440"/>
          </a:xfrm>
          <a:prstGeom prst="ellipse">
            <a:avLst/>
          </a:prstGeom>
          <a:solidFill>
            <a:srgbClr val="FEBC2E"/>
          </a:solidFill>
          <a:ln w="12700">
            <a:solidFill>
              <a:srgbClr val="FEBC2E"/>
            </a:solidFill>
            <a:prstDash val="solid"/>
          </a:ln>
        </p:spPr>
      </p:sp>
      <p:sp>
        <p:nvSpPr>
          <p:cNvPr id="15" name="Shape 12"/>
          <p:cNvSpPr/>
          <p:nvPr/>
        </p:nvSpPr>
        <p:spPr>
          <a:xfrm>
            <a:off x="5120640" y="1307592"/>
            <a:ext cx="91440" cy="91440"/>
          </a:xfrm>
          <a:prstGeom prst="ellipse">
            <a:avLst/>
          </a:prstGeom>
          <a:solidFill>
            <a:srgbClr val="28C840"/>
          </a:solidFill>
          <a:ln w="12700">
            <a:solidFill>
              <a:srgbClr val="28C840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5321808" y="1243584"/>
            <a:ext cx="288950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 · aluno_excluir</a:t>
            </a:r>
            <a:endParaRPr lang="en-US" sz="900" dirty="0"/>
          </a:p>
        </p:txBody>
      </p:sp>
      <p:sp>
        <p:nvSpPr>
          <p:cNvPr id="17" name="codigo texto"/>
          <p:cNvSpPr txBox="1"/>
          <p:nvPr/>
        </p:nvSpPr>
        <p:spPr>
          <a:xfrm>
            <a:off x="4882896" y="1572768"/>
            <a:ext cx="3346704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7DC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def</a:t>
            </a:r>
            <a:pPr indent="0" marL="0">
              <a:buNone/>
            </a:pPr>
            <a:r>
              <a:rPr lang="en-US" sz="10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aluno_excluir(request, pk):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aluno = get_object_or_404(Aluno, pk=pk)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aluno.delete()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</a:t>
            </a:r>
            <a:pPr indent="0" marL="0">
              <a:buNone/>
            </a:pPr>
            <a:r>
              <a:rPr lang="en-US" sz="1000" dirty="0">
                <a:solidFill>
                  <a:srgbClr val="7DC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return</a:t>
            </a:r>
            <a:pPr indent="0" marL="0">
              <a:buNone/>
            </a:pPr>
            <a:r>
              <a:rPr lang="en-US" sz="10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redirect(</a:t>
            </a:r>
            <a:pPr indent="0" marL="0">
              <a:buNone/>
            </a:pPr>
            <a:r>
              <a:rPr lang="en-US" sz="1000" dirty="0">
                <a:solidFill>
                  <a:srgbClr val="F0C67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"academico:aluno_lista"</a:t>
            </a:r>
            <a:pPr indent="0" marL="0">
              <a:buNone/>
            </a:pPr>
            <a:r>
              <a:rPr lang="en-US" sz="10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endParaRPr lang="en-US" sz="1000" dirty="0"/>
          </a:p>
        </p:txBody>
      </p:sp>
      <p:sp>
        <p:nvSpPr>
          <p:cNvPr id="18" name="codigo fundo"/>
          <p:cNvSpPr/>
          <p:nvPr/>
        </p:nvSpPr>
        <p:spPr>
          <a:xfrm>
            <a:off x="768096" y="2926080"/>
            <a:ext cx="3712464" cy="1572768"/>
          </a:xfrm>
          <a:prstGeom prst="roundRect">
            <a:avLst>
              <a:gd name="adj" fmla="val 4651"/>
            </a:avLst>
          </a:prstGeom>
          <a:solidFill>
            <a:srgbClr val="1E2433"/>
          </a:solidFill>
          <a:ln w="12700">
            <a:solidFill>
              <a:srgbClr val="1E2433"/>
            </a:solidFill>
            <a:prstDash val="solid"/>
          </a:ln>
        </p:spPr>
      </p:sp>
      <p:sp>
        <p:nvSpPr>
          <p:cNvPr id="19" name="Shape 16"/>
          <p:cNvSpPr/>
          <p:nvPr/>
        </p:nvSpPr>
        <p:spPr>
          <a:xfrm>
            <a:off x="932688" y="3044952"/>
            <a:ext cx="91440" cy="91440"/>
          </a:xfrm>
          <a:prstGeom prst="ellipse">
            <a:avLst/>
          </a:prstGeom>
          <a:solidFill>
            <a:srgbClr val="FF5F57"/>
          </a:solidFill>
          <a:ln w="12700">
            <a:solidFill>
              <a:srgbClr val="FF5F57"/>
            </a:solidFill>
            <a:prstDash val="solid"/>
          </a:ln>
        </p:spPr>
      </p:sp>
      <p:sp>
        <p:nvSpPr>
          <p:cNvPr id="20" name="Shape 17"/>
          <p:cNvSpPr/>
          <p:nvPr/>
        </p:nvSpPr>
        <p:spPr>
          <a:xfrm>
            <a:off x="1078992" y="3044952"/>
            <a:ext cx="91440" cy="91440"/>
          </a:xfrm>
          <a:prstGeom prst="ellipse">
            <a:avLst/>
          </a:prstGeom>
          <a:solidFill>
            <a:srgbClr val="FEBC2E"/>
          </a:solidFill>
          <a:ln w="12700">
            <a:solidFill>
              <a:srgbClr val="FEBC2E"/>
            </a:solidFill>
            <a:prstDash val="solid"/>
          </a:ln>
        </p:spPr>
      </p:sp>
      <p:sp>
        <p:nvSpPr>
          <p:cNvPr id="21" name="Shape 18"/>
          <p:cNvSpPr/>
          <p:nvPr/>
        </p:nvSpPr>
        <p:spPr>
          <a:xfrm>
            <a:off x="1225296" y="3044952"/>
            <a:ext cx="91440" cy="91440"/>
          </a:xfrm>
          <a:prstGeom prst="ellipse">
            <a:avLst/>
          </a:prstGeom>
          <a:solidFill>
            <a:srgbClr val="28C840"/>
          </a:solidFill>
          <a:ln w="12700">
            <a:solidFill>
              <a:srgbClr val="28C840"/>
            </a:solidFill>
            <a:prstDash val="solid"/>
          </a:ln>
        </p:spPr>
      </p:sp>
      <p:sp>
        <p:nvSpPr>
          <p:cNvPr id="22" name="Text 19"/>
          <p:cNvSpPr txBox="1"/>
          <p:nvPr/>
        </p:nvSpPr>
        <p:spPr>
          <a:xfrm>
            <a:off x="1426464" y="2980944"/>
            <a:ext cx="288950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 · DisciplinaForm</a:t>
            </a:r>
            <a:endParaRPr lang="en-US" sz="900" dirty="0"/>
          </a:p>
        </p:txBody>
      </p:sp>
      <p:sp>
        <p:nvSpPr>
          <p:cNvPr id="23" name="codigo texto"/>
          <p:cNvSpPr txBox="1"/>
          <p:nvPr/>
        </p:nvSpPr>
        <p:spPr>
          <a:xfrm>
            <a:off x="987552" y="3310128"/>
            <a:ext cx="3346704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7DC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def</a:t>
            </a:r>
            <a:pPr indent="0" marL="0">
              <a:buNone/>
            </a:pPr>
            <a:r>
              <a:rPr lang="en-US" sz="10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clean_codigo(self):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codigo = self.cleaned_data[</a:t>
            </a:r>
            <a:pPr indent="0" marL="0">
              <a:buNone/>
            </a:pPr>
            <a:r>
              <a:rPr lang="en-US" sz="1050" dirty="0">
                <a:solidFill>
                  <a:srgbClr val="F0C67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"codigo"</a:t>
            </a:r>
            <a:pPr indent="0" marL="0">
              <a:buNone/>
            </a:pPr>
            <a:r>
              <a:rPr lang="en-US" sz="10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]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codigo = codigo.strip().upper()</a:t>
            </a:r>
            <a:endParaRPr lang="en-US" sz="1050" dirty="0"/>
          </a:p>
        </p:txBody>
      </p:sp>
      <p:sp>
        <p:nvSpPr>
          <p:cNvPr id="24" name="codigo fundo"/>
          <p:cNvSpPr/>
          <p:nvPr/>
        </p:nvSpPr>
        <p:spPr>
          <a:xfrm>
            <a:off x="4663440" y="2926080"/>
            <a:ext cx="3712464" cy="1572768"/>
          </a:xfrm>
          <a:prstGeom prst="roundRect">
            <a:avLst>
              <a:gd name="adj" fmla="val 4651"/>
            </a:avLst>
          </a:prstGeom>
          <a:solidFill>
            <a:srgbClr val="1E2433"/>
          </a:solidFill>
          <a:ln w="12700">
            <a:solidFill>
              <a:srgbClr val="1E2433"/>
            </a:solidFill>
            <a:prstDash val="solid"/>
          </a:ln>
        </p:spPr>
      </p:sp>
      <p:sp>
        <p:nvSpPr>
          <p:cNvPr id="25" name="Shape 22"/>
          <p:cNvSpPr/>
          <p:nvPr/>
        </p:nvSpPr>
        <p:spPr>
          <a:xfrm>
            <a:off x="4828032" y="3044952"/>
            <a:ext cx="91440" cy="91440"/>
          </a:xfrm>
          <a:prstGeom prst="ellipse">
            <a:avLst/>
          </a:prstGeom>
          <a:solidFill>
            <a:srgbClr val="FF5F57"/>
          </a:solidFill>
          <a:ln w="12700">
            <a:solidFill>
              <a:srgbClr val="FF5F57"/>
            </a:solidFill>
            <a:prstDash val="solid"/>
          </a:ln>
        </p:spPr>
      </p:sp>
      <p:sp>
        <p:nvSpPr>
          <p:cNvPr id="26" name="Shape 23"/>
          <p:cNvSpPr/>
          <p:nvPr/>
        </p:nvSpPr>
        <p:spPr>
          <a:xfrm>
            <a:off x="4974336" y="3044952"/>
            <a:ext cx="91440" cy="91440"/>
          </a:xfrm>
          <a:prstGeom prst="ellipse">
            <a:avLst/>
          </a:prstGeom>
          <a:solidFill>
            <a:srgbClr val="FEBC2E"/>
          </a:solidFill>
          <a:ln w="12700">
            <a:solidFill>
              <a:srgbClr val="FEBC2E"/>
            </a:solidFill>
            <a:prstDash val="solid"/>
          </a:ln>
        </p:spPr>
      </p:sp>
      <p:sp>
        <p:nvSpPr>
          <p:cNvPr id="27" name="Shape 24"/>
          <p:cNvSpPr/>
          <p:nvPr/>
        </p:nvSpPr>
        <p:spPr>
          <a:xfrm>
            <a:off x="5120640" y="3044952"/>
            <a:ext cx="91440" cy="91440"/>
          </a:xfrm>
          <a:prstGeom prst="ellipse">
            <a:avLst/>
          </a:prstGeom>
          <a:solidFill>
            <a:srgbClr val="28C840"/>
          </a:solidFill>
          <a:ln w="12700">
            <a:solidFill>
              <a:srgbClr val="28C840"/>
            </a:solidFill>
            <a:prstDash val="solid"/>
          </a:ln>
        </p:spPr>
      </p:sp>
      <p:sp>
        <p:nvSpPr>
          <p:cNvPr id="28" name="Text 25"/>
          <p:cNvSpPr txBox="1"/>
          <p:nvPr/>
        </p:nvSpPr>
        <p:spPr>
          <a:xfrm>
            <a:off x="5321808" y="2980944"/>
            <a:ext cx="288950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 · aluno_novo</a:t>
            </a:r>
            <a:endParaRPr lang="en-US" sz="900" dirty="0"/>
          </a:p>
        </p:txBody>
      </p:sp>
      <p:sp>
        <p:nvSpPr>
          <p:cNvPr id="29" name="codigo texto"/>
          <p:cNvSpPr txBox="1"/>
          <p:nvPr/>
        </p:nvSpPr>
        <p:spPr>
          <a:xfrm>
            <a:off x="4882896" y="3310128"/>
            <a:ext cx="3346704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7DC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if</a:t>
            </a:r>
            <a:pPr indent="0" marL="0">
              <a:buNone/>
            </a:pPr>
            <a:r>
              <a:rPr lang="en-US" sz="10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form.is_valid():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form.save()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</a:t>
            </a:r>
            <a:pPr indent="0" marL="0">
              <a:buNone/>
            </a:pPr>
            <a:r>
              <a:rPr lang="en-US" sz="1050" dirty="0">
                <a:solidFill>
                  <a:srgbClr val="7DC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return</a:t>
            </a:r>
            <a:pPr indent="0" marL="0">
              <a:buNone/>
            </a:pPr>
            <a:r>
              <a:rPr lang="en-US" sz="10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aluno_lista(request)</a:t>
            </a:r>
            <a:endParaRPr lang="en-US" sz="105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5"/>
          <p:cNvSpPr/>
          <p:nvPr>
            <p:ph idx="105" type="title" hasCustomPrompt="1"/>
          </p:nvPr>
        </p:nvSpPr>
        <p:spPr>
          <a:xfrm>
            <a:off x="786384" y="329184"/>
            <a:ext cx="758952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dirty="0">
                <a:solidFill>
                  <a:schemeClr val="tx2"/>
                </a:solidFill>
              </a:rPr>
              <a:t>Prática 2: formulários</a:t>
            </a:r>
            <a:endParaRPr lang="en-US" sz="3200" dirty="0"/>
          </a:p>
        </p:txBody>
      </p:sp>
      <p:sp>
        <p:nvSpPr>
          <p:cNvPr id="4" name="Shape 1"/>
          <p:cNvSpPr/>
          <p:nvPr/>
        </p:nvSpPr>
        <p:spPr>
          <a:xfrm>
            <a:off x="6784848" y="512064"/>
            <a:ext cx="1591056" cy="274320"/>
          </a:xfrm>
          <a:prstGeom prst="roundRect">
            <a:avLst>
              <a:gd name="adj" fmla="val 50000"/>
            </a:avLst>
          </a:prstGeom>
          <a:solidFill>
            <a:srgbClr val="1185AA"/>
          </a:solidFill>
          <a:ln w="12700">
            <a:solidFill>
              <a:srgbClr val="1185AA"/>
            </a:solidFill>
            <a:prstDash val="solid"/>
          </a:ln>
        </p:spPr>
      </p:sp>
      <p:sp>
        <p:nvSpPr>
          <p:cNvPr id="5" name="Text 2"/>
          <p:cNvSpPr txBox="1"/>
          <p:nvPr/>
        </p:nvSpPr>
        <p:spPr>
          <a:xfrm>
            <a:off x="6784848" y="512064"/>
            <a:ext cx="15910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≈ 20 min</a:t>
            </a:r>
            <a:endParaRPr lang="en-US" sz="1100" dirty="0"/>
          </a:p>
        </p:txBody>
      </p:sp>
      <p:sp>
        <p:nvSpPr>
          <p:cNvPr id="6" name="passo 1"/>
          <p:cNvSpPr/>
          <p:nvPr/>
        </p:nvSpPr>
        <p:spPr>
          <a:xfrm>
            <a:off x="768096" y="1188720"/>
            <a:ext cx="4480560" cy="1024128"/>
          </a:xfrm>
          <a:prstGeom prst="roundRect">
            <a:avLst>
              <a:gd name="adj" fmla="val 5357"/>
            </a:avLst>
          </a:prstGeom>
          <a:solidFill>
            <a:srgbClr val="E3EFF1"/>
          </a:solidFill>
          <a:ln w="12700">
            <a:solidFill>
              <a:srgbClr val="E3EFF1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950976" y="1371600"/>
            <a:ext cx="402336" cy="402336"/>
          </a:xfrm>
          <a:prstGeom prst="ellipse">
            <a:avLst/>
          </a:prstGeom>
          <a:solidFill>
            <a:srgbClr val="1185AA"/>
          </a:solidFill>
          <a:ln w="12700">
            <a:solidFill>
              <a:srgbClr val="1185AA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950976" y="1371600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1</a:t>
            </a:r>
            <a:endParaRPr lang="en-US" sz="1400" dirty="0"/>
          </a:p>
        </p:txBody>
      </p:sp>
      <p:sp>
        <p:nvSpPr>
          <p:cNvPr id="9" name="Text 6"/>
          <p:cNvSpPr txBox="1"/>
          <p:nvPr/>
        </p:nvSpPr>
        <p:spPr>
          <a:xfrm>
            <a:off x="1517904" y="1353312"/>
            <a:ext cx="3566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0397B"/>
                </a:solidFill>
              </a:rPr>
              <a:t>TODOs 4 a 6: </a:t>
            </a:r>
            <a:pPr indent="0" marL="0">
              <a:buNone/>
            </a:pPr>
            <a:r>
              <a:rPr lang="en-US" sz="1500" b="1" dirty="0">
                <a:solidFill>
                  <a:srgbClr val="00397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fields</a:t>
            </a:r>
            <a:pPr indent="0" marL="0">
              <a:buNone/>
            </a:pPr>
            <a:r>
              <a:rPr lang="en-US" sz="1500" b="1" dirty="0">
                <a:solidFill>
                  <a:srgbClr val="00397B"/>
                </a:solidFill>
              </a:rPr>
              <a:t> nos três </a:t>
            </a:r>
            <a:pPr indent="0" marL="0">
              <a:buNone/>
            </a:pPr>
            <a:r>
              <a:rPr lang="en-US" sz="1500" b="1" dirty="0">
                <a:solidFill>
                  <a:srgbClr val="00397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Meta</a:t>
            </a:r>
            <a:endParaRPr lang="en-US" sz="1500" dirty="0"/>
          </a:p>
        </p:txBody>
      </p:sp>
      <p:sp>
        <p:nvSpPr>
          <p:cNvPr id="10" name="Text 7"/>
          <p:cNvSpPr txBox="1"/>
          <p:nvPr/>
        </p:nvSpPr>
        <p:spPr>
          <a:xfrm>
            <a:off x="1517904" y="1737360"/>
            <a:ext cx="3566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00397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AlunoForm</a:t>
            </a:r>
            <a:pPr indent="0" marL="0">
              <a:buNone/>
            </a:pPr>
            <a:r>
              <a:rPr lang="en-US" sz="1300" dirty="0">
                <a:solidFill>
                  <a:srgbClr val="3A3F44"/>
                </a:solidFill>
              </a:rPr>
              <a:t>, </a:t>
            </a:r>
            <a:pPr indent="0" marL="0">
              <a:buNone/>
            </a:pPr>
            <a:r>
              <a:rPr lang="en-US" sz="1300" dirty="0">
                <a:solidFill>
                  <a:srgbClr val="00397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DisciplinaForm</a:t>
            </a:r>
            <a:pPr indent="0" marL="0">
              <a:buNone/>
            </a:pPr>
            <a:r>
              <a:rPr lang="en-US" sz="1300" dirty="0">
                <a:solidFill>
                  <a:srgbClr val="3A3F44"/>
                </a:solidFill>
              </a:rPr>
              <a:t> e </a:t>
            </a:r>
            <a:pPr indent="0" marL="0">
              <a:buNone/>
            </a:pPr>
            <a:r>
              <a:rPr lang="en-US" sz="1300" dirty="0">
                <a:solidFill>
                  <a:srgbClr val="00397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InscricaoForm</a:t>
            </a:r>
            <a:pPr indent="0" marL="0">
              <a:buNone/>
            </a:pPr>
            <a:r>
              <a:rPr lang="en-US" sz="1300" dirty="0">
                <a:solidFill>
                  <a:srgbClr val="3A3F44"/>
                </a:solidFill>
              </a:rPr>
              <a:t>. Data com </a:t>
            </a:r>
            <a:pPr indent="0" marL="0">
              <a:buNone/>
            </a:pPr>
            <a:r>
              <a:rPr lang="en-US" sz="1300" dirty="0">
                <a:solidFill>
                  <a:srgbClr val="00397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format="%Y-%m-%d"</a:t>
            </a:r>
            <a:pPr indent="0" marL="0">
              <a:buNone/>
            </a:pPr>
            <a:r>
              <a:rPr lang="en-US" sz="1300" dirty="0">
                <a:solidFill>
                  <a:srgbClr val="3A3F44"/>
                </a:solidFill>
              </a:rPr>
              <a:t>.</a:t>
            </a:r>
            <a:endParaRPr lang="en-US" sz="1300" dirty="0"/>
          </a:p>
        </p:txBody>
      </p:sp>
      <p:sp>
        <p:nvSpPr>
          <p:cNvPr id="11" name="passo 2"/>
          <p:cNvSpPr/>
          <p:nvPr/>
        </p:nvSpPr>
        <p:spPr>
          <a:xfrm>
            <a:off x="768096" y="2377440"/>
            <a:ext cx="4480560" cy="1024128"/>
          </a:xfrm>
          <a:prstGeom prst="roundRect">
            <a:avLst>
              <a:gd name="adj" fmla="val 5357"/>
            </a:avLst>
          </a:prstGeom>
          <a:solidFill>
            <a:srgbClr val="E3EFF1"/>
          </a:solidFill>
          <a:ln w="12700">
            <a:solidFill>
              <a:srgbClr val="E3EFF1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950976" y="2560320"/>
            <a:ext cx="402336" cy="402336"/>
          </a:xfrm>
          <a:prstGeom prst="ellipse">
            <a:avLst/>
          </a:prstGeom>
          <a:solidFill>
            <a:srgbClr val="1185AA"/>
          </a:solidFill>
          <a:ln w="12700">
            <a:solidFill>
              <a:srgbClr val="1185AA"/>
            </a:solidFill>
            <a:prstDash val="solid"/>
          </a:ln>
        </p:spPr>
      </p:sp>
      <p:sp>
        <p:nvSpPr>
          <p:cNvPr id="13" name="Text 10"/>
          <p:cNvSpPr txBox="1"/>
          <p:nvPr/>
        </p:nvSpPr>
        <p:spPr>
          <a:xfrm>
            <a:off x="950976" y="2560320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2</a:t>
            </a:r>
            <a:endParaRPr lang="en-US" sz="1400" dirty="0"/>
          </a:p>
        </p:txBody>
      </p:sp>
      <p:sp>
        <p:nvSpPr>
          <p:cNvPr id="14" name="Text 11"/>
          <p:cNvSpPr txBox="1"/>
          <p:nvPr/>
        </p:nvSpPr>
        <p:spPr>
          <a:xfrm>
            <a:off x="1517904" y="2542032"/>
            <a:ext cx="3566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0397B"/>
                </a:solidFill>
              </a:rPr>
              <a:t>Validações do bônus</a:t>
            </a:r>
            <a:endParaRPr lang="en-US" sz="1500" dirty="0"/>
          </a:p>
        </p:txBody>
      </p:sp>
      <p:sp>
        <p:nvSpPr>
          <p:cNvPr id="15" name="Text 12"/>
          <p:cNvSpPr txBox="1"/>
          <p:nvPr/>
        </p:nvSpPr>
        <p:spPr>
          <a:xfrm>
            <a:off x="1517904" y="2926080"/>
            <a:ext cx="3566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3A3F44"/>
                </a:solidFill>
              </a:rPr>
              <a:t>Carga horária, código normalizado e nota de 0 a 10. Anotem onde ficou cada uma.</a:t>
            </a:r>
            <a:endParaRPr lang="en-US" sz="1300" dirty="0"/>
          </a:p>
        </p:txBody>
      </p:sp>
      <p:sp>
        <p:nvSpPr>
          <p:cNvPr id="16" name="passo 3"/>
          <p:cNvSpPr/>
          <p:nvPr/>
        </p:nvSpPr>
        <p:spPr>
          <a:xfrm>
            <a:off x="768096" y="3566160"/>
            <a:ext cx="4480560" cy="1024128"/>
          </a:xfrm>
          <a:prstGeom prst="roundRect">
            <a:avLst>
              <a:gd name="adj" fmla="val 5357"/>
            </a:avLst>
          </a:prstGeom>
          <a:solidFill>
            <a:srgbClr val="E3EFF1"/>
          </a:solidFill>
          <a:ln w="12700">
            <a:solidFill>
              <a:srgbClr val="E3EFF1"/>
            </a:solidFill>
            <a:prstDash val="solid"/>
          </a:ln>
        </p:spPr>
      </p:sp>
      <p:sp>
        <p:nvSpPr>
          <p:cNvPr id="17" name="Shape 14"/>
          <p:cNvSpPr/>
          <p:nvPr/>
        </p:nvSpPr>
        <p:spPr>
          <a:xfrm>
            <a:off x="950976" y="3749040"/>
            <a:ext cx="402336" cy="402336"/>
          </a:xfrm>
          <a:prstGeom prst="ellipse">
            <a:avLst/>
          </a:prstGeom>
          <a:solidFill>
            <a:srgbClr val="1185AA"/>
          </a:solidFill>
          <a:ln w="12700">
            <a:solidFill>
              <a:srgbClr val="1185AA"/>
            </a:solidFill>
            <a:prstDash val="solid"/>
          </a:ln>
        </p:spPr>
      </p:sp>
      <p:sp>
        <p:nvSpPr>
          <p:cNvPr id="18" name="Text 15"/>
          <p:cNvSpPr txBox="1"/>
          <p:nvPr/>
        </p:nvSpPr>
        <p:spPr>
          <a:xfrm>
            <a:off x="950976" y="3749040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3</a:t>
            </a:r>
            <a:endParaRPr lang="en-US" sz="1400" dirty="0"/>
          </a:p>
        </p:txBody>
      </p:sp>
      <p:sp>
        <p:nvSpPr>
          <p:cNvPr id="19" name="Text 16"/>
          <p:cNvSpPr txBox="1"/>
          <p:nvPr/>
        </p:nvSpPr>
        <p:spPr>
          <a:xfrm>
            <a:off x="1517904" y="3730752"/>
            <a:ext cx="3566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0397B"/>
                </a:solidFill>
              </a:rPr>
              <a:t>Inscrição sem surpresa</a:t>
            </a:r>
            <a:endParaRPr lang="en-US" sz="1500" dirty="0"/>
          </a:p>
        </p:txBody>
      </p:sp>
      <p:sp>
        <p:nvSpPr>
          <p:cNvPr id="20" name="Text 17"/>
          <p:cNvSpPr txBox="1"/>
          <p:nvPr/>
        </p:nvSpPr>
        <p:spPr>
          <a:xfrm>
            <a:off x="1517904" y="4114800"/>
            <a:ext cx="3566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3A3F44"/>
                </a:solidFill>
              </a:rPr>
              <a:t>Só aluno ativo no </a:t>
            </a:r>
            <a:pPr indent="0" marL="0">
              <a:buNone/>
            </a:pPr>
            <a:r>
              <a:rPr lang="en-US" sz="1300" dirty="0">
                <a:solidFill>
                  <a:srgbClr val="00397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&lt;select&gt;</a:t>
            </a:r>
            <a:pPr indent="0" marL="0">
              <a:buNone/>
            </a:pPr>
            <a:r>
              <a:rPr lang="en-US" sz="1300" dirty="0">
                <a:solidFill>
                  <a:srgbClr val="3A3F44"/>
                </a:solidFill>
              </a:rPr>
              <a:t> e mensagem própria para duplicidade.</a:t>
            </a:r>
            <a:endParaRPr lang="en-US" sz="1300" dirty="0"/>
          </a:p>
        </p:txBody>
      </p:sp>
      <p:sp>
        <p:nvSpPr>
          <p:cNvPr id="21" name="codigo fundo"/>
          <p:cNvSpPr/>
          <p:nvPr/>
        </p:nvSpPr>
        <p:spPr>
          <a:xfrm>
            <a:off x="5431536" y="1188720"/>
            <a:ext cx="2944368" cy="1463040"/>
          </a:xfrm>
          <a:prstGeom prst="roundRect">
            <a:avLst>
              <a:gd name="adj" fmla="val 5000"/>
            </a:avLst>
          </a:prstGeom>
          <a:solidFill>
            <a:srgbClr val="1E2433"/>
          </a:solidFill>
          <a:ln w="12700">
            <a:solidFill>
              <a:srgbClr val="1E2433"/>
            </a:solidFill>
            <a:prstDash val="solid"/>
          </a:ln>
        </p:spPr>
      </p:sp>
      <p:sp>
        <p:nvSpPr>
          <p:cNvPr id="22" name="Shape 19"/>
          <p:cNvSpPr/>
          <p:nvPr/>
        </p:nvSpPr>
        <p:spPr>
          <a:xfrm>
            <a:off x="5596128" y="1307592"/>
            <a:ext cx="91440" cy="91440"/>
          </a:xfrm>
          <a:prstGeom prst="ellipse">
            <a:avLst/>
          </a:prstGeom>
          <a:solidFill>
            <a:srgbClr val="FF5F57"/>
          </a:solidFill>
          <a:ln w="12700">
            <a:solidFill>
              <a:srgbClr val="FF5F57"/>
            </a:solidFill>
            <a:prstDash val="solid"/>
          </a:ln>
        </p:spPr>
      </p:sp>
      <p:sp>
        <p:nvSpPr>
          <p:cNvPr id="23" name="Shape 20"/>
          <p:cNvSpPr/>
          <p:nvPr/>
        </p:nvSpPr>
        <p:spPr>
          <a:xfrm>
            <a:off x="5742432" y="1307592"/>
            <a:ext cx="91440" cy="91440"/>
          </a:xfrm>
          <a:prstGeom prst="ellipse">
            <a:avLst/>
          </a:prstGeom>
          <a:solidFill>
            <a:srgbClr val="FEBC2E"/>
          </a:solidFill>
          <a:ln w="12700">
            <a:solidFill>
              <a:srgbClr val="FEBC2E"/>
            </a:solidFill>
            <a:prstDash val="solid"/>
          </a:ln>
        </p:spPr>
      </p:sp>
      <p:sp>
        <p:nvSpPr>
          <p:cNvPr id="24" name="Shape 21"/>
          <p:cNvSpPr/>
          <p:nvPr/>
        </p:nvSpPr>
        <p:spPr>
          <a:xfrm>
            <a:off x="5888736" y="1307592"/>
            <a:ext cx="91440" cy="91440"/>
          </a:xfrm>
          <a:prstGeom prst="ellipse">
            <a:avLst/>
          </a:prstGeom>
          <a:solidFill>
            <a:srgbClr val="28C840"/>
          </a:solidFill>
          <a:ln w="12700">
            <a:solidFill>
              <a:srgbClr val="28C840"/>
            </a:solidFill>
            <a:prstDash val="solid"/>
          </a:ln>
        </p:spPr>
      </p:sp>
      <p:sp>
        <p:nvSpPr>
          <p:cNvPr id="25" name="Text 22"/>
          <p:cNvSpPr txBox="1"/>
          <p:nvPr/>
        </p:nvSpPr>
        <p:spPr>
          <a:xfrm>
            <a:off x="6089904" y="1243584"/>
            <a:ext cx="212140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terminal</a:t>
            </a:r>
            <a:endParaRPr lang="en-US" sz="900" dirty="0"/>
          </a:p>
        </p:txBody>
      </p:sp>
      <p:sp>
        <p:nvSpPr>
          <p:cNvPr id="26" name="codigo texto"/>
          <p:cNvSpPr txBox="1"/>
          <p:nvPr/>
        </p:nvSpPr>
        <p:spPr>
          <a:xfrm>
            <a:off x="5650992" y="1572768"/>
            <a:ext cx="2578608" cy="9875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7DC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python</a:t>
            </a:r>
            <a:pPr indent="0" marL="0">
              <a:buNone/>
            </a:pPr>
            <a:r>
              <a:rPr lang="en-US" sz="11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manage.py runserver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abra /academico/alunos/novo/</a:t>
            </a:r>
            <a:endParaRPr lang="en-US" sz="1100" dirty="0"/>
          </a:p>
        </p:txBody>
      </p:sp>
      <p:sp>
        <p:nvSpPr>
          <p:cNvPr id="27" name="pronto quando"/>
          <p:cNvSpPr/>
          <p:nvPr/>
        </p:nvSpPr>
        <p:spPr>
          <a:xfrm>
            <a:off x="5431536" y="2816352"/>
            <a:ext cx="2944368" cy="1773936"/>
          </a:xfrm>
          <a:prstGeom prst="roundRect">
            <a:avLst>
              <a:gd name="adj" fmla="val 3093"/>
            </a:avLst>
          </a:prstGeom>
          <a:solidFill>
            <a:srgbClr val="E3EFF1"/>
          </a:solidFill>
          <a:ln w="12700">
            <a:solidFill>
              <a:srgbClr val="E3EFF1"/>
            </a:solidFill>
            <a:prstDash val="solid"/>
          </a:ln>
        </p:spPr>
      </p:sp>
      <p:sp>
        <p:nvSpPr>
          <p:cNvPr id="28" name="Shape 25"/>
          <p:cNvSpPr/>
          <p:nvPr/>
        </p:nvSpPr>
        <p:spPr>
          <a:xfrm>
            <a:off x="5614416" y="2962656"/>
            <a:ext cx="512064" cy="512064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pic>
        <p:nvPicPr>
          <p:cNvPr id="29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737311" y="3085551"/>
            <a:ext cx="266273" cy="266273"/>
          </a:xfrm>
          <a:prstGeom prst="rect">
            <a:avLst/>
          </a:prstGeom>
        </p:spPr>
      </p:pic>
      <p:sp>
        <p:nvSpPr>
          <p:cNvPr id="30" name="Text 26"/>
          <p:cNvSpPr txBox="1"/>
          <p:nvPr/>
        </p:nvSpPr>
        <p:spPr>
          <a:xfrm>
            <a:off x="6272784" y="2962656"/>
            <a:ext cx="20116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0397B"/>
                </a:solidFill>
              </a:rPr>
              <a:t>Pronto quando</a:t>
            </a:r>
            <a:endParaRPr lang="en-US" sz="1500" dirty="0"/>
          </a:p>
        </p:txBody>
      </p:sp>
      <p:sp>
        <p:nvSpPr>
          <p:cNvPr id="31" name="Text 27"/>
          <p:cNvSpPr txBox="1"/>
          <p:nvPr/>
        </p:nvSpPr>
        <p:spPr>
          <a:xfrm>
            <a:off x="5614416" y="3584448"/>
            <a:ext cx="261518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3A3F44"/>
                </a:solidFill>
              </a:rPr>
              <a:t>os campos aparecem na tela e o erro sai embaixo do campo, não como traceback.</a:t>
            </a:r>
            <a:endParaRPr lang="en-US" sz="13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5"/>
          <p:cNvSpPr/>
          <p:nvPr>
            <p:ph idx="105" type="title" hasCustomPrompt="1"/>
          </p:nvPr>
        </p:nvSpPr>
        <p:spPr>
          <a:xfrm>
            <a:off x="786384" y="329184"/>
            <a:ext cx="758952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dirty="0">
                <a:solidFill>
                  <a:schemeClr val="tx2"/>
                </a:solidFill>
              </a:rPr>
              <a:t>Prática 3: CRUD de aluno</a:t>
            </a:r>
            <a:endParaRPr lang="en-US" sz="3200" dirty="0"/>
          </a:p>
        </p:txBody>
      </p:sp>
      <p:sp>
        <p:nvSpPr>
          <p:cNvPr id="4" name="Shape 1"/>
          <p:cNvSpPr/>
          <p:nvPr/>
        </p:nvSpPr>
        <p:spPr>
          <a:xfrm>
            <a:off x="6784848" y="512064"/>
            <a:ext cx="1591056" cy="274320"/>
          </a:xfrm>
          <a:prstGeom prst="roundRect">
            <a:avLst>
              <a:gd name="adj" fmla="val 50000"/>
            </a:avLst>
          </a:prstGeom>
          <a:solidFill>
            <a:srgbClr val="1185AA"/>
          </a:solidFill>
          <a:ln w="12700">
            <a:solidFill>
              <a:srgbClr val="1185AA"/>
            </a:solidFill>
            <a:prstDash val="solid"/>
          </a:ln>
        </p:spPr>
      </p:sp>
      <p:sp>
        <p:nvSpPr>
          <p:cNvPr id="5" name="Text 2"/>
          <p:cNvSpPr txBox="1"/>
          <p:nvPr/>
        </p:nvSpPr>
        <p:spPr>
          <a:xfrm>
            <a:off x="6784848" y="512064"/>
            <a:ext cx="15910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até o fim da aula</a:t>
            </a:r>
            <a:endParaRPr lang="en-US" sz="1100" dirty="0"/>
          </a:p>
        </p:txBody>
      </p:sp>
      <p:graphicFrame>
        <p:nvGraphicFramePr>
          <p:cNvPr id="2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68096" y="1188720"/>
          <a:ext cx="7607808" cy="914400"/>
        </p:xfrm>
        <a:graphic>
          <a:graphicData uri="http://schemas.openxmlformats.org/drawingml/2006/table">
            <a:tbl>
              <a:tblPr/>
              <a:tblGrid>
                <a:gridCol w="731520"/>
                <a:gridCol w="1828800"/>
                <a:gridCol w="5047488"/>
              </a:tblGrid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</a:rPr>
                        <a:t>TODO</a:t>
                      </a:r>
                      <a:endParaRPr lang="en-US" sz="1400" dirty="0"/>
                    </a:p>
                  </a:txBody>
                  <a:tcPr marL="109728" marR="109728" marT="36576" marB="36576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00397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</a:rPr>
                        <a:t>View</a:t>
                      </a:r>
                      <a:endParaRPr lang="en-US" sz="1400" dirty="0"/>
                    </a:p>
                  </a:txBody>
                  <a:tcPr marL="109728" marR="109728" marT="36576" marB="36576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00397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</a:rPr>
                        <a:t>Pronto quando</a:t>
                      </a:r>
                      <a:endParaRPr lang="en-US" sz="1400" dirty="0"/>
                    </a:p>
                  </a:txBody>
                  <a:tcPr marL="109728" marR="109728" marT="36576" marB="36576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00397B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3A3F44"/>
                          </a:solidFill>
                        </a:rPr>
                        <a:t>7</a:t>
                      </a:r>
                      <a:endParaRPr lang="en-US" sz="1400" dirty="0"/>
                    </a:p>
                  </a:txBody>
                  <a:tcPr marL="109728" marR="109728" marT="36576" marB="36576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00397B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aluno_lista</a:t>
                      </a:r>
                      <a:endParaRPr lang="en-US" sz="1400" dirty="0"/>
                    </a:p>
                  </a:txBody>
                  <a:tcPr marL="109728" marR="109728" marT="36576" marB="36576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3A3F44"/>
                          </a:solidFill>
                        </a:rPr>
                        <a:t>a lista aparece e a busca filtra por nome ou matrícula</a:t>
                      </a:r>
                      <a:endParaRPr lang="en-US" sz="1400" dirty="0"/>
                    </a:p>
                  </a:txBody>
                  <a:tcPr marL="109728" marR="109728" marT="36576" marB="36576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3A3F44"/>
                          </a:solidFill>
                        </a:rPr>
                        <a:t>8</a:t>
                      </a:r>
                      <a:endParaRPr lang="en-US" sz="1400" dirty="0"/>
                    </a:p>
                  </a:txBody>
                  <a:tcPr marL="109728" marR="109728" marT="36576" marB="36576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E3EFF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00397B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aluno_novo</a:t>
                      </a:r>
                      <a:endParaRPr lang="en-US" sz="1400" dirty="0"/>
                    </a:p>
                  </a:txBody>
                  <a:tcPr marL="109728" marR="109728" marT="36576" marB="36576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E3EFF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3A3F44"/>
                          </a:solidFill>
                        </a:rPr>
                        <a:t>cadastra, redireciona e, com erro, volta o form preenchido</a:t>
                      </a:r>
                      <a:endParaRPr lang="en-US" sz="1400" dirty="0"/>
                    </a:p>
                  </a:txBody>
                  <a:tcPr marL="109728" marR="109728" marT="36576" marB="36576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E3EFF1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3A3F44"/>
                          </a:solidFill>
                        </a:rPr>
                        <a:t>9a</a:t>
                      </a:r>
                      <a:endParaRPr lang="en-US" sz="1400" dirty="0"/>
                    </a:p>
                  </a:txBody>
                  <a:tcPr marL="109728" marR="109728" marT="36576" marB="36576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00397B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aluno_editar</a:t>
                      </a:r>
                      <a:endParaRPr lang="en-US" sz="1400" dirty="0"/>
                    </a:p>
                  </a:txBody>
                  <a:tcPr marL="109728" marR="109728" marT="36576" marB="36576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3A3F44"/>
                          </a:solidFill>
                        </a:rPr>
                        <a:t>altera sem criar outro; id inexistente dá 404</a:t>
                      </a:r>
                      <a:endParaRPr lang="en-US" sz="1400" dirty="0"/>
                    </a:p>
                  </a:txBody>
                  <a:tcPr marL="109728" marR="109728" marT="36576" marB="36576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3A3F44"/>
                          </a:solidFill>
                        </a:rPr>
                        <a:t>9b</a:t>
                      </a:r>
                      <a:endParaRPr lang="en-US" sz="1400" dirty="0"/>
                    </a:p>
                  </a:txBody>
                  <a:tcPr marL="109728" marR="109728" marT="36576" marB="36576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E3EFF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00397B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aluno_excluir</a:t>
                      </a:r>
                      <a:endParaRPr lang="en-US" sz="1400" dirty="0"/>
                    </a:p>
                  </a:txBody>
                  <a:tcPr marL="109728" marR="109728" marT="36576" marB="36576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E3EFF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3A3F44"/>
                          </a:solidFill>
                        </a:rPr>
                        <a:t>GET confirma, POST executa; aluno com notas vira mensagem</a:t>
                      </a:r>
                      <a:endParaRPr lang="en-US" sz="1400" dirty="0"/>
                    </a:p>
                  </a:txBody>
                  <a:tcPr marL="109728" marR="109728" marT="36576" marB="36576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E3EFF1"/>
                    </a:solidFill>
                  </a:tcPr>
                </a:tc>
              </a:tr>
            </a:tbl>
          </a:graphicData>
        </a:graphic>
      </p:graphicFrame>
      <p:sp>
        <p:nvSpPr>
          <p:cNvPr id="7" name="destaque"/>
          <p:cNvSpPr/>
          <p:nvPr/>
        </p:nvSpPr>
        <p:spPr>
          <a:xfrm>
            <a:off x="768096" y="3730752"/>
            <a:ext cx="7607808" cy="786384"/>
          </a:xfrm>
          <a:prstGeom prst="roundRect">
            <a:avLst>
              <a:gd name="adj" fmla="val 6977"/>
            </a:avLst>
          </a:prstGeom>
          <a:solidFill>
            <a:srgbClr val="E3EFF1"/>
          </a:solidFill>
          <a:ln w="12700">
            <a:solidFill>
              <a:srgbClr val="E3EFF1"/>
            </a:solidFill>
            <a:prstDash val="solid"/>
          </a:ln>
        </p:spPr>
      </p:sp>
      <p:sp>
        <p:nvSpPr>
          <p:cNvPr id="8" name="Shape 4"/>
          <p:cNvSpPr/>
          <p:nvPr/>
        </p:nvSpPr>
        <p:spPr>
          <a:xfrm>
            <a:off x="950976" y="3895344"/>
            <a:ext cx="457200" cy="45720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pic>
        <p:nvPicPr>
          <p:cNvPr id="9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60704" y="4005072"/>
            <a:ext cx="237744" cy="237744"/>
          </a:xfrm>
          <a:prstGeom prst="rect">
            <a:avLst/>
          </a:prstGeom>
        </p:spPr>
      </p:pic>
      <p:sp>
        <p:nvSpPr>
          <p:cNvPr id="10" name="Text 5"/>
          <p:cNvSpPr txBox="1"/>
          <p:nvPr/>
        </p:nvSpPr>
        <p:spPr>
          <a:xfrm>
            <a:off x="1572768" y="3730752"/>
            <a:ext cx="6647688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397B"/>
                </a:solidFill>
              </a:rPr>
              <a:t>Gabarito ao lado: </a:t>
            </a:r>
            <a:pPr indent="0" marL="0">
              <a:buNone/>
            </a:pPr>
            <a:r>
              <a:rPr lang="en-US" sz="1400" dirty="0">
                <a:solidFill>
                  <a:srgbClr val="00397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contas/views.py</a:t>
            </a:r>
            <a:pPr indent="0" marL="0">
              <a:buNone/>
            </a:pPr>
            <a:r>
              <a:rPr lang="en-US" sz="1400" dirty="0">
                <a:solidFill>
                  <a:srgbClr val="3A3F44"/>
                </a:solidFill>
              </a:rPr>
              <a:t> tem </a:t>
            </a:r>
            <a:pPr indent="0" marL="0">
              <a:buNone/>
            </a:pPr>
            <a:r>
              <a:rPr lang="en-US" sz="1400" dirty="0">
                <a:solidFill>
                  <a:srgbClr val="00397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usuario_novo</a:t>
            </a:r>
            <a:pPr indent="0" marL="0">
              <a:buNone/>
            </a:pPr>
            <a:r>
              <a:rPr lang="en-US" sz="1400" dirty="0">
                <a:solidFill>
                  <a:srgbClr val="3A3F44"/>
                </a:solidFill>
              </a:rPr>
              <a:t>, </a:t>
            </a:r>
            <a:pPr indent="0" marL="0">
              <a:buNone/>
            </a:pPr>
            <a:r>
              <a:rPr lang="en-US" sz="1400" dirty="0">
                <a:solidFill>
                  <a:srgbClr val="00397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usuario_editar</a:t>
            </a:r>
            <a:pPr indent="0" marL="0">
              <a:buNone/>
            </a:pPr>
            <a:r>
              <a:rPr lang="en-US" sz="1400" dirty="0">
                <a:solidFill>
                  <a:srgbClr val="3A3F44"/>
                </a:solidFill>
              </a:rPr>
              <a:t> e </a:t>
            </a:r>
            <a:pPr indent="0" marL="0">
              <a:buNone/>
            </a:pPr>
            <a:r>
              <a:rPr lang="en-US" sz="1400" dirty="0">
                <a:solidFill>
                  <a:srgbClr val="00397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usuario_excluir</a:t>
            </a:r>
            <a:pPr indent="0" marL="0">
              <a:buNone/>
            </a:pPr>
            <a:r>
              <a:rPr lang="en-US" sz="1400" dirty="0">
                <a:solidFill>
                  <a:srgbClr val="3A3F44"/>
                </a:solidFill>
              </a:rPr>
              <a:t> com o mesmo desenho, comentados linha a linha.</a:t>
            </a:r>
            <a:endParaRPr lang="en-US" sz="14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5"/>
          <p:cNvSpPr/>
          <p:nvPr>
            <p:ph idx="105" type="title" hasCustomPrompt="1"/>
          </p:nvPr>
        </p:nvSpPr>
        <p:spPr>
          <a:xfrm>
            <a:off x="786384" y="329184"/>
            <a:ext cx="758952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dirty="0">
                <a:solidFill>
                  <a:schemeClr val="tx2"/>
                </a:solidFill>
              </a:rPr>
              <a:t>Teste como usuário, não só com o verificar.py</a:t>
            </a:r>
            <a:endParaRPr lang="en-US" sz="3200" dirty="0"/>
          </a:p>
        </p:txBody>
      </p:sp>
      <p:sp>
        <p:nvSpPr>
          <p:cNvPr id="4" name="Shape 1"/>
          <p:cNvSpPr/>
          <p:nvPr/>
        </p:nvSpPr>
        <p:spPr>
          <a:xfrm>
            <a:off x="768096" y="1188720"/>
            <a:ext cx="3712464" cy="932688"/>
          </a:xfrm>
          <a:prstGeom prst="roundRect">
            <a:avLst>
              <a:gd name="adj" fmla="val 5882"/>
            </a:avLst>
          </a:prstGeom>
          <a:solidFill>
            <a:srgbClr val="E3EFF1"/>
          </a:solidFill>
          <a:ln w="12700">
            <a:solidFill>
              <a:srgbClr val="E3EFF1"/>
            </a:solidFill>
            <a:prstDash val="solid"/>
          </a:ln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69264" y="1481328"/>
            <a:ext cx="329184" cy="329184"/>
          </a:xfrm>
          <a:prstGeom prst="rect">
            <a:avLst/>
          </a:prstGeom>
        </p:spPr>
      </p:pic>
      <p:sp>
        <p:nvSpPr>
          <p:cNvPr id="6" name="Text 2"/>
          <p:cNvSpPr txBox="1"/>
          <p:nvPr/>
        </p:nvSpPr>
        <p:spPr>
          <a:xfrm>
            <a:off x="1481328" y="1298448"/>
            <a:ext cx="2880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397B"/>
                </a:solidFill>
              </a:rPr>
              <a:t>Cadastre a mesma matrícula duas vezes</a:t>
            </a:r>
            <a:endParaRPr lang="en-US" sz="1400" dirty="0"/>
          </a:p>
        </p:txBody>
      </p:sp>
      <p:sp>
        <p:nvSpPr>
          <p:cNvPr id="7" name="Text 3"/>
          <p:cNvSpPr txBox="1"/>
          <p:nvPr/>
        </p:nvSpPr>
        <p:spPr>
          <a:xfrm>
            <a:off x="1481328" y="1682496"/>
            <a:ext cx="28803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A3F44"/>
                </a:solidFill>
              </a:rPr>
              <a:t>Esperado: mensagem no campo</a:t>
            </a:r>
            <a:endParaRPr lang="en-US" sz="1300" dirty="0"/>
          </a:p>
        </p:txBody>
      </p:sp>
      <p:sp>
        <p:nvSpPr>
          <p:cNvPr id="8" name="Shape 4"/>
          <p:cNvSpPr/>
          <p:nvPr/>
        </p:nvSpPr>
        <p:spPr>
          <a:xfrm>
            <a:off x="4663440" y="1188720"/>
            <a:ext cx="3712464" cy="932688"/>
          </a:xfrm>
          <a:prstGeom prst="roundRect">
            <a:avLst>
              <a:gd name="adj" fmla="val 5882"/>
            </a:avLst>
          </a:prstGeom>
          <a:solidFill>
            <a:srgbClr val="E3EFF1"/>
          </a:solidFill>
          <a:ln w="12700">
            <a:solidFill>
              <a:srgbClr val="E3EFF1"/>
            </a:solidFill>
            <a:prstDash val="solid"/>
          </a:ln>
        </p:spPr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64608" y="1481328"/>
            <a:ext cx="329184" cy="329184"/>
          </a:xfrm>
          <a:prstGeom prst="rect">
            <a:avLst/>
          </a:prstGeom>
        </p:spPr>
      </p:pic>
      <p:sp>
        <p:nvSpPr>
          <p:cNvPr id="10" name="Text 5"/>
          <p:cNvSpPr txBox="1"/>
          <p:nvPr/>
        </p:nvSpPr>
        <p:spPr>
          <a:xfrm>
            <a:off x="5376672" y="1298448"/>
            <a:ext cx="2880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397B"/>
                </a:solidFill>
              </a:rPr>
              <a:t>Salve e aperte F5 na lista</a:t>
            </a:r>
            <a:endParaRPr lang="en-US" sz="1400" dirty="0"/>
          </a:p>
        </p:txBody>
      </p:sp>
      <p:sp>
        <p:nvSpPr>
          <p:cNvPr id="11" name="Text 6"/>
          <p:cNvSpPr txBox="1"/>
          <p:nvPr/>
        </p:nvSpPr>
        <p:spPr>
          <a:xfrm>
            <a:off x="5376672" y="1682496"/>
            <a:ext cx="28803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A3F44"/>
                </a:solidFill>
              </a:rPr>
              <a:t>Esperado: nada duplica</a:t>
            </a:r>
            <a:endParaRPr lang="en-US" sz="1300" dirty="0"/>
          </a:p>
        </p:txBody>
      </p:sp>
      <p:sp>
        <p:nvSpPr>
          <p:cNvPr id="12" name="Shape 7"/>
          <p:cNvSpPr/>
          <p:nvPr/>
        </p:nvSpPr>
        <p:spPr>
          <a:xfrm>
            <a:off x="768096" y="2286000"/>
            <a:ext cx="3712464" cy="932688"/>
          </a:xfrm>
          <a:prstGeom prst="roundRect">
            <a:avLst>
              <a:gd name="adj" fmla="val 5882"/>
            </a:avLst>
          </a:prstGeom>
          <a:solidFill>
            <a:srgbClr val="E3EFF1"/>
          </a:solidFill>
          <a:ln w="12700">
            <a:solidFill>
              <a:srgbClr val="E3EFF1"/>
            </a:solidFill>
            <a:prstDash val="solid"/>
          </a:ln>
        </p:spPr>
      </p:sp>
      <p:pic>
        <p:nvPicPr>
          <p:cNvPr id="13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69264" y="2578608"/>
            <a:ext cx="329184" cy="329184"/>
          </a:xfrm>
          <a:prstGeom prst="rect">
            <a:avLst/>
          </a:prstGeom>
        </p:spPr>
      </p:pic>
      <p:sp>
        <p:nvSpPr>
          <p:cNvPr id="14" name="Text 8"/>
          <p:cNvSpPr txBox="1"/>
          <p:nvPr/>
        </p:nvSpPr>
        <p:spPr>
          <a:xfrm>
            <a:off x="1481328" y="2395728"/>
            <a:ext cx="2880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397B"/>
                </a:solidFill>
              </a:rPr>
              <a:t>Edite um e-mail e conte os alunos</a:t>
            </a:r>
            <a:endParaRPr lang="en-US" sz="1400" dirty="0"/>
          </a:p>
        </p:txBody>
      </p:sp>
      <p:sp>
        <p:nvSpPr>
          <p:cNvPr id="15" name="Text 9"/>
          <p:cNvSpPr txBox="1"/>
          <p:nvPr/>
        </p:nvSpPr>
        <p:spPr>
          <a:xfrm>
            <a:off x="1481328" y="2779776"/>
            <a:ext cx="28803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A3F44"/>
                </a:solidFill>
              </a:rPr>
              <a:t>Esperado: mesmo total de antes</a:t>
            </a:r>
            <a:endParaRPr lang="en-US" sz="1300" dirty="0"/>
          </a:p>
        </p:txBody>
      </p:sp>
      <p:sp>
        <p:nvSpPr>
          <p:cNvPr id="16" name="Shape 10"/>
          <p:cNvSpPr/>
          <p:nvPr/>
        </p:nvSpPr>
        <p:spPr>
          <a:xfrm>
            <a:off x="4663440" y="2286000"/>
            <a:ext cx="3712464" cy="932688"/>
          </a:xfrm>
          <a:prstGeom prst="roundRect">
            <a:avLst>
              <a:gd name="adj" fmla="val 5882"/>
            </a:avLst>
          </a:prstGeom>
          <a:solidFill>
            <a:srgbClr val="E3EFF1"/>
          </a:solidFill>
          <a:ln w="12700">
            <a:solidFill>
              <a:srgbClr val="E3EFF1"/>
            </a:solidFill>
            <a:prstDash val="solid"/>
          </a:ln>
        </p:spPr>
      </p:sp>
      <p:pic>
        <p:nvPicPr>
          <p:cNvPr id="17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64608" y="2578608"/>
            <a:ext cx="329184" cy="329184"/>
          </a:xfrm>
          <a:prstGeom prst="rect">
            <a:avLst/>
          </a:prstGeom>
        </p:spPr>
      </p:pic>
      <p:sp>
        <p:nvSpPr>
          <p:cNvPr id="18" name="Text 11"/>
          <p:cNvSpPr txBox="1"/>
          <p:nvPr/>
        </p:nvSpPr>
        <p:spPr>
          <a:xfrm>
            <a:off x="5376672" y="2395728"/>
            <a:ext cx="2880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397B"/>
                </a:solidFill>
              </a:rPr>
              <a:t>Abra </a:t>
            </a:r>
            <a:pPr indent="0" marL="0">
              <a:buNone/>
            </a:pPr>
            <a:r>
              <a:rPr lang="en-US" sz="1400" b="1" dirty="0">
                <a:solidFill>
                  <a:srgbClr val="00397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/academico/alunos/999/editar/</a:t>
            </a:r>
            <a:endParaRPr lang="en-US" sz="1400" dirty="0"/>
          </a:p>
        </p:txBody>
      </p:sp>
      <p:sp>
        <p:nvSpPr>
          <p:cNvPr id="19" name="Text 12"/>
          <p:cNvSpPr txBox="1"/>
          <p:nvPr/>
        </p:nvSpPr>
        <p:spPr>
          <a:xfrm>
            <a:off x="5376672" y="2779776"/>
            <a:ext cx="28803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A3F44"/>
                </a:solidFill>
              </a:rPr>
              <a:t>Esperado: página 404</a:t>
            </a:r>
            <a:endParaRPr lang="en-US" sz="1300" dirty="0"/>
          </a:p>
        </p:txBody>
      </p:sp>
      <p:sp>
        <p:nvSpPr>
          <p:cNvPr id="20" name="Shape 13"/>
          <p:cNvSpPr/>
          <p:nvPr/>
        </p:nvSpPr>
        <p:spPr>
          <a:xfrm>
            <a:off x="768096" y="3383280"/>
            <a:ext cx="3712464" cy="932688"/>
          </a:xfrm>
          <a:prstGeom prst="roundRect">
            <a:avLst>
              <a:gd name="adj" fmla="val 5882"/>
            </a:avLst>
          </a:prstGeom>
          <a:solidFill>
            <a:srgbClr val="E3EFF1"/>
          </a:solidFill>
          <a:ln w="12700">
            <a:solidFill>
              <a:srgbClr val="E3EFF1"/>
            </a:solidFill>
            <a:prstDash val="solid"/>
          </a:ln>
        </p:spPr>
      </p:sp>
      <p:pic>
        <p:nvPicPr>
          <p:cNvPr id="21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69264" y="3675888"/>
            <a:ext cx="329184" cy="329184"/>
          </a:xfrm>
          <a:prstGeom prst="rect">
            <a:avLst/>
          </a:prstGeom>
        </p:spPr>
      </p:pic>
      <p:sp>
        <p:nvSpPr>
          <p:cNvPr id="22" name="Text 14"/>
          <p:cNvSpPr txBox="1"/>
          <p:nvPr/>
        </p:nvSpPr>
        <p:spPr>
          <a:xfrm>
            <a:off x="1481328" y="3493008"/>
            <a:ext cx="2880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397B"/>
                </a:solidFill>
              </a:rPr>
              <a:t>Exclua um aluno com inscrição</a:t>
            </a:r>
            <a:endParaRPr lang="en-US" sz="1400" dirty="0"/>
          </a:p>
        </p:txBody>
      </p:sp>
      <p:sp>
        <p:nvSpPr>
          <p:cNvPr id="23" name="Text 15"/>
          <p:cNvSpPr txBox="1"/>
          <p:nvPr/>
        </p:nvSpPr>
        <p:spPr>
          <a:xfrm>
            <a:off x="1481328" y="3877056"/>
            <a:ext cx="28803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A3F44"/>
                </a:solidFill>
              </a:rPr>
              <a:t>Esperado: mensagem, e o aluno continua</a:t>
            </a:r>
            <a:endParaRPr lang="en-US" sz="1300" dirty="0"/>
          </a:p>
        </p:txBody>
      </p:sp>
      <p:sp>
        <p:nvSpPr>
          <p:cNvPr id="24" name="Shape 16"/>
          <p:cNvSpPr/>
          <p:nvPr/>
        </p:nvSpPr>
        <p:spPr>
          <a:xfrm>
            <a:off x="4663440" y="3383280"/>
            <a:ext cx="3712464" cy="932688"/>
          </a:xfrm>
          <a:prstGeom prst="roundRect">
            <a:avLst>
              <a:gd name="adj" fmla="val 5882"/>
            </a:avLst>
          </a:prstGeom>
          <a:solidFill>
            <a:srgbClr val="E3EFF1"/>
          </a:solidFill>
          <a:ln w="12700">
            <a:solidFill>
              <a:srgbClr val="E3EFF1"/>
            </a:solidFill>
            <a:prstDash val="solid"/>
          </a:ln>
        </p:spPr>
      </p:sp>
      <p:pic>
        <p:nvPicPr>
          <p:cNvPr id="25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864608" y="3675888"/>
            <a:ext cx="329184" cy="329184"/>
          </a:xfrm>
          <a:prstGeom prst="rect">
            <a:avLst/>
          </a:prstGeom>
        </p:spPr>
      </p:pic>
      <p:sp>
        <p:nvSpPr>
          <p:cNvPr id="26" name="Text 17"/>
          <p:cNvSpPr txBox="1"/>
          <p:nvPr/>
        </p:nvSpPr>
        <p:spPr>
          <a:xfrm>
            <a:off x="5376672" y="3493008"/>
            <a:ext cx="2880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397B"/>
                </a:solidFill>
              </a:rPr>
              <a:t>Saia e abra </a:t>
            </a:r>
            <a:pPr indent="0" marL="0">
              <a:buNone/>
            </a:pPr>
            <a:r>
              <a:rPr lang="en-US" sz="1400" b="1" dirty="0">
                <a:solidFill>
                  <a:srgbClr val="00397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/academico/alunos/</a:t>
            </a:r>
            <a:endParaRPr lang="en-US" sz="1400" dirty="0"/>
          </a:p>
        </p:txBody>
      </p:sp>
      <p:sp>
        <p:nvSpPr>
          <p:cNvPr id="27" name="Text 18"/>
          <p:cNvSpPr txBox="1"/>
          <p:nvPr/>
        </p:nvSpPr>
        <p:spPr>
          <a:xfrm>
            <a:off x="5376672" y="3877056"/>
            <a:ext cx="28803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A3F44"/>
                </a:solidFill>
              </a:rPr>
              <a:t>Esperado: vai para o login</a:t>
            </a:r>
            <a:endParaRPr lang="en-US" sz="13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5"/>
          <p:cNvSpPr/>
          <p:nvPr>
            <p:ph idx="105" type="title" hasCustomPrompt="1"/>
          </p:nvPr>
        </p:nvSpPr>
        <p:spPr>
          <a:xfrm>
            <a:off x="786384" y="329184"/>
            <a:ext cx="758952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dirty="0">
                <a:solidFill>
                  <a:schemeClr val="tx2"/>
                </a:solidFill>
              </a:rPr>
              <a:t>Para o próximo encontro</a:t>
            </a:r>
            <a:endParaRPr lang="en-US" sz="3200" dirty="0"/>
          </a:p>
        </p:txBody>
      </p:sp>
      <p:sp>
        <p:nvSpPr>
          <p:cNvPr id="4" name="card Leitura"/>
          <p:cNvSpPr/>
          <p:nvPr/>
        </p:nvSpPr>
        <p:spPr>
          <a:xfrm>
            <a:off x="768096" y="1188720"/>
            <a:ext cx="2414016" cy="2514600"/>
          </a:xfrm>
          <a:prstGeom prst="roundRect">
            <a:avLst>
              <a:gd name="adj" fmla="val 2273"/>
            </a:avLst>
          </a:prstGeom>
          <a:solidFill>
            <a:srgbClr val="E3EFF1"/>
          </a:solidFill>
          <a:ln w="12700">
            <a:solidFill>
              <a:srgbClr val="E3EFF1"/>
            </a:solidFill>
            <a:prstDash val="solid"/>
          </a:ln>
        </p:spPr>
      </p:sp>
      <p:sp>
        <p:nvSpPr>
          <p:cNvPr id="5" name="Shape 2"/>
          <p:cNvSpPr/>
          <p:nvPr/>
        </p:nvSpPr>
        <p:spPr>
          <a:xfrm>
            <a:off x="996696" y="1417320"/>
            <a:ext cx="621792" cy="621792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45926" y="1566550"/>
            <a:ext cx="323332" cy="323332"/>
          </a:xfrm>
          <a:prstGeom prst="rect">
            <a:avLst/>
          </a:prstGeom>
        </p:spPr>
      </p:pic>
      <p:sp>
        <p:nvSpPr>
          <p:cNvPr id="7" name="Text 3"/>
          <p:cNvSpPr txBox="1"/>
          <p:nvPr/>
        </p:nvSpPr>
        <p:spPr>
          <a:xfrm>
            <a:off x="996696" y="2176272"/>
            <a:ext cx="2002536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00397B"/>
                </a:solidFill>
              </a:rPr>
              <a:t>Leitura</a:t>
            </a:r>
            <a:endParaRPr lang="en-US" sz="1600" dirty="0"/>
          </a:p>
        </p:txBody>
      </p:sp>
      <p:sp>
        <p:nvSpPr>
          <p:cNvPr id="8" name="Text 4"/>
          <p:cNvSpPr txBox="1"/>
          <p:nvPr/>
        </p:nvSpPr>
        <p:spPr>
          <a:xfrm>
            <a:off x="996696" y="2761488"/>
            <a:ext cx="2002536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rgbClr val="3A3F44"/>
                </a:solidFill>
              </a:rPr>
              <a:t>Texto 03, seção “O problema N+1”, e o texto 05 (views, URLs e templates).</a:t>
            </a:r>
            <a:endParaRPr lang="en-US" sz="1400" dirty="0"/>
          </a:p>
        </p:txBody>
      </p:sp>
      <p:sp>
        <p:nvSpPr>
          <p:cNvPr id="9" name="card Código"/>
          <p:cNvSpPr/>
          <p:nvPr/>
        </p:nvSpPr>
        <p:spPr>
          <a:xfrm>
            <a:off x="3364992" y="1188720"/>
            <a:ext cx="2414016" cy="2514600"/>
          </a:xfrm>
          <a:prstGeom prst="roundRect">
            <a:avLst>
              <a:gd name="adj" fmla="val 2273"/>
            </a:avLst>
          </a:prstGeom>
          <a:solidFill>
            <a:srgbClr val="E3EFF1"/>
          </a:solidFill>
          <a:ln w="12700">
            <a:solidFill>
              <a:srgbClr val="E3EFF1"/>
            </a:solidFill>
            <a:prstDash val="solid"/>
          </a:ln>
        </p:spPr>
      </p:sp>
      <p:sp>
        <p:nvSpPr>
          <p:cNvPr id="10" name="Shape 6"/>
          <p:cNvSpPr/>
          <p:nvPr/>
        </p:nvSpPr>
        <p:spPr>
          <a:xfrm>
            <a:off x="3593592" y="1417320"/>
            <a:ext cx="621792" cy="621792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42822" y="1566550"/>
            <a:ext cx="323332" cy="323332"/>
          </a:xfrm>
          <a:prstGeom prst="rect">
            <a:avLst/>
          </a:prstGeom>
        </p:spPr>
      </p:pic>
      <p:sp>
        <p:nvSpPr>
          <p:cNvPr id="12" name="Text 7"/>
          <p:cNvSpPr txBox="1"/>
          <p:nvPr/>
        </p:nvSpPr>
        <p:spPr>
          <a:xfrm>
            <a:off x="3593592" y="2176272"/>
            <a:ext cx="2002536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00397B"/>
                </a:solidFill>
              </a:rPr>
              <a:t>Código</a:t>
            </a:r>
            <a:endParaRPr lang="en-US" sz="1600" dirty="0"/>
          </a:p>
        </p:txBody>
      </p:sp>
      <p:sp>
        <p:nvSpPr>
          <p:cNvPr id="13" name="Text 8"/>
          <p:cNvSpPr txBox="1"/>
          <p:nvPr/>
        </p:nvSpPr>
        <p:spPr>
          <a:xfrm>
            <a:off x="3593592" y="2761488"/>
            <a:ext cx="2002536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rgbClr val="3A3F44"/>
                </a:solidFill>
              </a:rPr>
              <a:t>Fechar os TODOs 4 a 9 e rodar </a:t>
            </a:r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rgbClr val="00397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python verificar.py</a:t>
            </a:r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rgbClr val="3A3F44"/>
                </a:solidFill>
              </a:rPr>
              <a:t>.</a:t>
            </a:r>
            <a:endParaRPr lang="en-US" sz="1400" dirty="0"/>
          </a:p>
        </p:txBody>
      </p:sp>
      <p:sp>
        <p:nvSpPr>
          <p:cNvPr id="14" name="card Grupo"/>
          <p:cNvSpPr/>
          <p:nvPr/>
        </p:nvSpPr>
        <p:spPr>
          <a:xfrm>
            <a:off x="5961888" y="1188720"/>
            <a:ext cx="2414016" cy="2514600"/>
          </a:xfrm>
          <a:prstGeom prst="roundRect">
            <a:avLst>
              <a:gd name="adj" fmla="val 2273"/>
            </a:avLst>
          </a:prstGeom>
          <a:solidFill>
            <a:srgbClr val="E3EFF1"/>
          </a:solidFill>
          <a:ln w="12700">
            <a:solidFill>
              <a:srgbClr val="E3EFF1"/>
            </a:solidFill>
            <a:prstDash val="solid"/>
          </a:ln>
        </p:spPr>
      </p:sp>
      <p:sp>
        <p:nvSpPr>
          <p:cNvPr id="15" name="Shape 10"/>
          <p:cNvSpPr/>
          <p:nvPr/>
        </p:nvSpPr>
        <p:spPr>
          <a:xfrm>
            <a:off x="6190488" y="1417320"/>
            <a:ext cx="621792" cy="621792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39718" y="1566550"/>
            <a:ext cx="323332" cy="323332"/>
          </a:xfrm>
          <a:prstGeom prst="rect">
            <a:avLst/>
          </a:prstGeom>
        </p:spPr>
      </p:pic>
      <p:sp>
        <p:nvSpPr>
          <p:cNvPr id="17" name="Text 11"/>
          <p:cNvSpPr txBox="1"/>
          <p:nvPr/>
        </p:nvSpPr>
        <p:spPr>
          <a:xfrm>
            <a:off x="6190488" y="2176272"/>
            <a:ext cx="2002536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00397B"/>
                </a:solidFill>
              </a:rPr>
              <a:t>Grupo</a:t>
            </a:r>
            <a:endParaRPr lang="en-US" sz="1600" dirty="0"/>
          </a:p>
        </p:txBody>
      </p:sp>
      <p:sp>
        <p:nvSpPr>
          <p:cNvPr id="18" name="Text 12"/>
          <p:cNvSpPr txBox="1"/>
          <p:nvPr/>
        </p:nvSpPr>
        <p:spPr>
          <a:xfrm>
            <a:off x="6190488" y="2761488"/>
            <a:ext cx="2002536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rgbClr val="3A3F44"/>
                </a:solidFill>
              </a:rPr>
              <a:t>Cada integrante explica uma view do CRUD de aluno para os outros, sem olhar o código.</a:t>
            </a:r>
            <a:endParaRPr lang="en-US" sz="1400" dirty="0"/>
          </a:p>
        </p:txBody>
      </p:sp>
      <p:sp>
        <p:nvSpPr>
          <p:cNvPr id="19" name="destaque"/>
          <p:cNvSpPr/>
          <p:nvPr/>
        </p:nvSpPr>
        <p:spPr>
          <a:xfrm>
            <a:off x="768096" y="3931920"/>
            <a:ext cx="7607808" cy="658368"/>
          </a:xfrm>
          <a:prstGeom prst="roundRect">
            <a:avLst>
              <a:gd name="adj" fmla="val 8333"/>
            </a:avLst>
          </a:prstGeom>
          <a:solidFill>
            <a:srgbClr val="E3EFF1"/>
          </a:solidFill>
          <a:ln w="12700">
            <a:solidFill>
              <a:srgbClr val="E3EFF1"/>
            </a:solidFill>
            <a:prstDash val="solid"/>
          </a:ln>
        </p:spPr>
      </p:sp>
      <p:sp>
        <p:nvSpPr>
          <p:cNvPr id="20" name="Shape 14"/>
          <p:cNvSpPr/>
          <p:nvPr/>
        </p:nvSpPr>
        <p:spPr>
          <a:xfrm>
            <a:off x="950976" y="4032504"/>
            <a:ext cx="457200" cy="45720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pic>
        <p:nvPicPr>
          <p:cNvPr id="21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60704" y="4142232"/>
            <a:ext cx="237744" cy="237744"/>
          </a:xfrm>
          <a:prstGeom prst="rect">
            <a:avLst/>
          </a:prstGeom>
        </p:spPr>
      </p:pic>
      <p:sp>
        <p:nvSpPr>
          <p:cNvPr id="22" name="Text 15"/>
          <p:cNvSpPr txBox="1"/>
          <p:nvPr/>
        </p:nvSpPr>
        <p:spPr>
          <a:xfrm>
            <a:off x="1572768" y="3931920"/>
            <a:ext cx="664768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0397B"/>
                </a:solidFill>
              </a:rPr>
              <a:t>Próxima aula: </a:t>
            </a:r>
            <a:pPr indent="0" marL="0">
              <a:buNone/>
            </a:pPr>
            <a:r>
              <a:rPr lang="en-US" sz="1500" dirty="0">
                <a:solidFill>
                  <a:srgbClr val="3A3F44"/>
                </a:solidFill>
              </a:rPr>
              <a:t>inscrições e notas, o problema N+1, design de interface e o admin.</a:t>
            </a:r>
            <a:endParaRPr lang="en-US" sz="15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ARA0095 RAD">
  <a:themeElements>
    <a:clrScheme name="ARA0095 RAD">
      <a:dk1>
        <a:srgbClr val="3A3F44"/>
      </a:dk1>
      <a:lt1>
        <a:srgbClr val="FFFFFF"/>
      </a:lt1>
      <a:dk2>
        <a:srgbClr val="00397B"/>
      </a:dk2>
      <a:lt2>
        <a:srgbClr val="E3EFF1"/>
      </a:lt2>
      <a:accent1>
        <a:srgbClr val="1185AA"/>
      </a:accent1>
      <a:accent2>
        <a:srgbClr val="D06110"/>
      </a:accent2>
      <a:accent3>
        <a:srgbClr val="54C8E1"/>
      </a:accent3>
      <a:accent4>
        <a:srgbClr val="892900"/>
      </a:accent4>
      <a:accent5>
        <a:srgbClr val="9FE8ED"/>
      </a:accent5>
      <a:accent6>
        <a:srgbClr val="FCBCA1"/>
      </a:accent6>
      <a:hlink>
        <a:srgbClr val="1185AA"/>
      </a:hlink>
      <a:folHlink>
        <a:srgbClr val="892900"/>
      </a:folHlink>
    </a:clrScheme>
    <a:fontScheme name="ARA0095 RAD">
      <a:majorFont>
        <a:latin typeface="Calibri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22</Slides>
  <Notes>22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22</vt:i4>
      </vt:variant>
    </vt:vector>
  </HeadingPairs>
  <TitlesOfParts>
    <vt:vector size="2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CRUD completo: editar, excluir e validar</dc:title>
  <dc:subject>PptxGenJS Presentation</dc:subject>
  <dc:creator>ARA0095</dc:creator>
  <cp:lastModifiedBy>ARA0095</cp:lastModifiedBy>
  <cp:revision>1</cp:revision>
  <dcterms:created xsi:type="dcterms:W3CDTF">2026-10-23T01:37:17Z</dcterms:created>
  <dcterms:modified xsi:type="dcterms:W3CDTF">2026-10-23T01:37:17Z</dcterms:modified>
</cp:coreProperties>
</file>