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5.xml" ContentType="application/vnd.openxmlformats-officedocument.presentationml.slide+xml"/>
  <Override PartName="/ppt/slideLayouts/slideLayout3.xml" ContentType="application/vnd.openxmlformats-officedocument.presentationml.slideLayout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notesSlides/notesSlide22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23.xml" ContentType="application/vnd.openxmlformats-officedocument.presentationml.slide+xml"/>
  <Override PartName="/ppt/slides/slide26.xml" ContentType="application/vnd.openxmlformats-officedocument.presentationml.slide+xml"/>
  <Override PartName="/ppt/tableStyles.xml" ContentType="application/vnd.openxmlformats-officedocument.presentationml.tableStyles+xml"/>
  <Override PartName="/ppt/notesSlides/notesSlide4.xml" ContentType="application/vnd.openxmlformats-officedocument.presentationml.notesSlide+xml"/>
  <Override PartName="/ppt/presentation.xml" ContentType="application/vnd.openxmlformats-officedocument.presentationml.presentation.main+xml"/>
  <Override PartName="/ppt/notesSlides/notesSlide7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9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9144000" cy="5143500"/>
  <p:notesSz cx="5143500" cy="9144000"/>
  <p:defaultTextStyle>
    <a:defPPr>
      <a:defRPr lang="pt-BR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 /><Relationship Id="rId31" Type="http://schemas.openxmlformats.org/officeDocument/2006/relationships/tableStyles" Target="tableStyles.xml" /><Relationship Id="rId3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21232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796749454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880001732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29694903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643077089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43938130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 ?>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 ?>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 ?>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19953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694312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Abertura. Esta aula continua de onde a aula de Django parou: os grupos saíram com os TODOs 1 a 3 (modelos) para fechar em casa. Hoje: regras de negócio (onde cada uma mora), formulários que validam e o CRUD de aluno completo.</a:t>
            </a:r>
            <a:endParaRPr lang="en-US"/>
          </a:p>
        </p:txBody>
      </p:sp>
      <p:sp>
        <p:nvSpPr>
          <p:cNvPr id="1405131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5520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1540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≈ 4 min. Leia os quatro incidentes e pergunte à turma, antes de explicar: algum deles é erro de SQL? Não. São decisões de projeto que ficaram sem dono. Volte a este slide no fim da exposição e peça para a turma dizer qual camada resolve cada incidente: F5 → POST/Redirect/GET (view); e-mail → instance= (view); notas sumiram → on_delete=PROTECT (modelo/banco); nota 11 → validators (modelo) + mensagem (form).</a:t>
            </a:r>
            <a:endParaRPr lang="en-US"/>
          </a:p>
        </p:txBody>
      </p:sp>
      <p:sp>
        <p:nvSpPr>
          <p:cNvPr id="103915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59767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01726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≈ 1 min.</a:t>
            </a:r>
            <a:endParaRPr lang="en-US"/>
          </a:p>
        </p:txBody>
      </p:sp>
      <p:sp>
        <p:nvSpPr>
          <p:cNvPr id="9899680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72347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869842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50 minutos de exposição com demonstração, depois laboratório até o fim da aula.</a:t>
            </a:r>
            <a:endParaRPr lang="en-US"/>
          </a:p>
        </p:txBody>
      </p:sp>
      <p:sp>
        <p:nvSpPr>
          <p:cNvPr id="21378392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6945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52423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≈ 4 min. Correção coletiva do dever de casa (TODOs 1 a 3). Peça para cada grupo conferir item a item. Quem não terminou usa este slide como referência e migra antes do laboratório. Lembre: fazer os três modelos juntos e migrar uma vez só evita a pergunta de default para coluna nova.</a:t>
            </a:r>
            <a:endParaRPr lang="en-US"/>
          </a:p>
        </p:txBody>
      </p:sp>
      <p:sp>
        <p:nvSpPr>
          <p:cNvPr id="9986401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20521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10145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≈ 3 min. Pergunte antes de revelar: um aluno tirou 0 e 8; que média aparece? Resposta: None (a célula fica vazia). Em Python, 0 é falso, então `not self.nota1` é True para a nota zero. Correção: comparar com None explicitamente (`if self.nota1 is None or self.nota2 is None`). Está em material/09-erros-comuns.md e os testes do verificar.py conferem.</a:t>
            </a:r>
            <a:endParaRPr lang="en-US"/>
          </a:p>
        </p:txBody>
      </p:sp>
      <p:sp>
        <p:nvSpPr>
          <p:cNvPr id="9036478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7CEE6B3-1743-6899-EFF4-269A7E5D46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0518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99313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≈ 5 min. A ideia central da aula. Leia de baixo para cima: o banco é a última barreira (vale até para quem grava pelo shell); o modelo carrega a regra de negócio (vale para tela, admin e seed); o formulário traduz em mensagem e normaliza; a view só orquestra. Conecte com o requisito 5 da entrega: a regra de negócio mora no modelo.</a:t>
            </a:r>
            <a:endParaRPr lang="en-US"/>
          </a:p>
        </p:txBody>
      </p:sp>
      <p:sp>
        <p:nvSpPr>
          <p:cNvPr id="491072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51127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58206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≈ 5 min. Percorra a tabela ligando cada linha às camadas do slide anterior. Destaque a matrícula única: checar com `if Aluno.objects.filter(...)` não basta, porque duas abas podem salvar ao mesmo tempo; quem garante é o UNIQUE do banco, e o ModelForm só traduz o erro. Esta tabela é praticamente o que o bônus de validação pede no README.</a:t>
            </a:r>
            <a:endParaRPr lang="en-US"/>
          </a:p>
        </p:txBody>
      </p:sp>
      <p:sp>
        <p:nvSpPr>
          <p:cNvPr id="254209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0640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54209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≈ 6 min. Demonstração ao vivo: cadastre uma disciplina com código ' ara0095 ' e carga 0. Mostre o erro aparecendo embaixo do campo e o código salvo normalizado. Depois apague o `return` do clean_codigo e mostre o NOT NULL constraint failed: o campo virou None. É o erro mais comum desta parte (material/09).</a:t>
            </a:r>
            <a:endParaRPr lang="en-US"/>
          </a:p>
        </p:txBody>
      </p:sp>
      <p:sp>
        <p:nvSpPr>
          <p:cNvPr id="1733513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555484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52539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≈ 4 min. Desenhe o fluxo antes de mostrar código. Os dois caminhos que voltam para a tela (GET e POST inválido) usam o mesmo render; o único caminho que sai é o POST válido, e ele sai com redirect. Peça para a turma abrir contas/views.py, usuario_novo, e achar cada caixa do diagrama no código.</a:t>
            </a:r>
            <a:endParaRPr lang="en-US"/>
          </a:p>
        </p:txBody>
      </p:sp>
      <p:sp>
        <p:nvSpPr>
          <p:cNvPr id="5930539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3024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33290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≈ 3 min. Demonstração: troque temporariamente o redirect por um render da lista, cadastre um aluno e aperte F5. O navegador pergunta se quer reenviar o formulário; confirme e mostre a duplicata (ou o erro de UNIQUE). Volte o redirect e repita: o F5 só repete o GET.</a:t>
            </a:r>
            <a:endParaRPr lang="en-US"/>
          </a:p>
        </p:txBody>
      </p:sp>
      <p:sp>
        <p:nvSpPr>
          <p:cNvPr id="17134414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205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526303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≈ 4 min. É a pergunta 6 da arguição (material/07): qual a única diferença entre criar e editar? Resposta: buscar o objeto e passar instance=. Sem instance o save() faz INSERT e cria outro aluno (o chamado do e-mail). Com instance vira UPDATE ... WHERE id = %s, o WHERE obrigatório do item 4 da rubrica. Mostre também /academico/alunos/999/editar/ devolvendo 404.</a:t>
            </a:r>
            <a:endParaRPr lang="en-US"/>
          </a:p>
        </p:txBody>
      </p:sp>
      <p:sp>
        <p:nvSpPr>
          <p:cNvPr id="15069781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8518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451620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≈ 4 min. GET precisa ser seguro: robôs de busca, pré-carregadores e o histórico do navegador visitam URLs sozinhos. Por isso o GET só mostra a confirmação, e o POST (com csrf_token) executa. Demonstração: tente excluir um aluno que tem inscrição; com PROTECT o banco recusa, e o try/except transforma o ProtectedError em mensagem.</a:t>
            </a:r>
            <a:endParaRPr lang="en-US"/>
          </a:p>
        </p:txBody>
      </p:sp>
      <p:sp>
        <p:nvSpPr>
          <p:cNvPr id="15299894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4130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32139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≈ 5 min. Abra para debate antes de mostrar as colunas: num sistema acadêmico, apagar ou desativar? O app contas usa soft delete (usuario_excluir) e explica por quê no docstring: o registro tem valor histórico. Não existe resposta única; o bônus (+0,5) vale pela justificativa no README, com o que se ganha e o que se perde.</a:t>
            </a:r>
            <a:endParaRPr lang="en-US"/>
          </a:p>
        </p:txBody>
      </p:sp>
      <p:sp>
        <p:nvSpPr>
          <p:cNvPr id="537295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4642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59479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≈ 3 min. Requisito 9 da entrega: duplicidade vira mensagem, não traceback. Generalize: todo erro que dá para prever tem uma resposta na tela. Lembre que o DEBUG=True mostra a página amarela para estudar; em produção, o usuário veria um erro 500 genérico.</a:t>
            </a:r>
            <a:endParaRPr lang="en-US"/>
          </a:p>
        </p:txBody>
      </p:sp>
      <p:sp>
        <p:nvSpPr>
          <p:cNvPr id="6292473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A33419-B0C7-D0FA-052C-C97BD97D0CE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9756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26214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≈ 1 min. Se der tempo, volte ao slide 2 e peça para a turma resolver cada chamado com o que viu.</a:t>
            </a:r>
            <a:endParaRPr lang="en-US"/>
          </a:p>
        </p:txBody>
      </p:sp>
      <p:sp>
        <p:nvSpPr>
          <p:cNvPr id="1626520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0916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705915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Início do laboratório.</a:t>
            </a:r>
            <a:endParaRPr lang="en-US"/>
          </a:p>
        </p:txBody>
      </p:sp>
      <p:sp>
        <p:nvSpPr>
          <p:cNvPr id="34461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73272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30160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Em duplas, 10 min. Cada trecho tem um defeito que já apareceu em trabalhos. Respostas: A) falta instance=aluno: o save() cria outro aluno. B) apaga no GET, sem confirmação: qualquer robô ou pré-carregador exclui alunos. C) falta o return: o código vira None e o banco reclama de NOT NULL. D) sem redirect: o F5 reenvia o POST e duplica o cadastro. Atividade verificadora: cada dupla diz o defeito e a correção de um trecho sorteado.</a:t>
            </a:r>
            <a:endParaRPr lang="en-US"/>
          </a:p>
        </p:txBody>
      </p:sp>
      <p:sp>
        <p:nvSpPr>
          <p:cNvPr id="726593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3AA412-22AC-C76E-50DF-745F4B6F059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98EE8F1-3594-C9E1-6CF5-CC9115EBE42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8282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36294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≈ 20 min. Os três forms são rápidos (uma lista de campos no Meta). Quem já terminou em casa adianta as validações do bônus. Circule pelos grupos conferindo o widget de data: sem format='%Y-%m-%d' a data some ao editar.</a:t>
            </a:r>
            <a:endParaRPr lang="en-US"/>
          </a:p>
        </p:txBody>
      </p:sp>
      <p:sp>
        <p:nvSpPr>
          <p:cNvPr id="14816055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74692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03818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Até o fim da aula. É o bloco que mais vale (item 2 da rubrica) e o resto do trabalho repete este padrão. Sugira que cada integrante implemente uma view e explique para os outros antes de seguir.</a:t>
            </a:r>
            <a:endParaRPr lang="en-US"/>
          </a:p>
        </p:txBody>
      </p:sp>
      <p:sp>
        <p:nvSpPr>
          <p:cNvPr id="13230066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81961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426224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Atividade verificadora da aula: antes de sair, cada grupo mostra ao professor pelo menos três destes testes funcionando. O verificar.py confere o código; estes testes conferem a experiência de quem usa.</a:t>
            </a:r>
            <a:endParaRPr lang="en-US"/>
          </a:p>
        </p:txBody>
      </p:sp>
      <p:sp>
        <p:nvSpPr>
          <p:cNvPr id="3258584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96697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20755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Próxima aula: inscrições e notas (N:N), problema N+1, design de interface e admin.</a:t>
            </a:r>
            <a:endParaRPr lang="en-US"/>
          </a:p>
        </p:txBody>
      </p:sp>
      <p:sp>
        <p:nvSpPr>
          <p:cNvPr id="16100762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NTEUDO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5620" name="Shape 0"/>
          <p:cNvSpPr/>
          <p:nvPr/>
        </p:nvSpPr>
        <p:spPr bwMode="auto">
          <a:xfrm>
            <a:off x="0" y="0"/>
            <a:ext cx="9144000" cy="1828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52410243" name="Shape 1"/>
          <p:cNvSpPr/>
          <p:nvPr/>
        </p:nvSpPr>
        <p:spPr bwMode="auto">
          <a:xfrm>
            <a:off x="219456" y="676656"/>
            <a:ext cx="384048" cy="0"/>
          </a:xfrm>
          <a:prstGeom prst="line">
            <a:avLst/>
          </a:prstGeom>
          <a:noFill/>
          <a:ln w="38100">
            <a:solidFill>
              <a:schemeClr val="tx2"/>
            </a:solidFill>
            <a:prstDash val="solid"/>
          </a:ln>
        </p:spPr>
      </p:sp>
      <p:sp>
        <p:nvSpPr>
          <p:cNvPr id="301041421" name="Shape 2"/>
          <p:cNvSpPr/>
          <p:nvPr/>
        </p:nvSpPr>
        <p:spPr bwMode="auto">
          <a:xfrm>
            <a:off x="0" y="4901184"/>
            <a:ext cx="7498080" cy="242316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7586503" name="Shape 3"/>
          <p:cNvSpPr/>
          <p:nvPr/>
        </p:nvSpPr>
        <p:spPr bwMode="auto">
          <a:xfrm>
            <a:off x="7498080" y="4901184"/>
            <a:ext cx="1581912" cy="24231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61707340" name="Shape 4"/>
          <p:cNvSpPr/>
          <p:nvPr/>
        </p:nvSpPr>
        <p:spPr bwMode="auto">
          <a:xfrm>
            <a:off x="9079992" y="4901184"/>
            <a:ext cx="64008" cy="242316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76317953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200">
                <a:solidFill>
                  <a:schemeClr val="tx2"/>
                </a:solidFill>
              </a:defRPr>
            </a:lvl1pPr>
          </a:lstStyle>
          <a:p>
            <a:pPr marL="0" indent="0" algn="l">
              <a:buNone/>
              <a:defRPr/>
            </a:pPr>
            <a:endParaRPr lang="en-US" sz="320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APA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7220705" name="Shape 0"/>
          <p:cNvSpPr/>
          <p:nvPr/>
        </p:nvSpPr>
        <p:spPr bwMode="auto">
          <a:xfrm>
            <a:off x="0" y="0"/>
            <a:ext cx="768096" cy="51435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398588756" name="Shape 1"/>
          <p:cNvSpPr/>
          <p:nvPr/>
        </p:nvSpPr>
        <p:spPr bwMode="auto">
          <a:xfrm>
            <a:off x="768096" y="0"/>
            <a:ext cx="5349240" cy="51435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17485327" name="Shape 2"/>
          <p:cNvSpPr/>
          <p:nvPr/>
        </p:nvSpPr>
        <p:spPr bwMode="auto">
          <a:xfrm>
            <a:off x="6117336" y="0"/>
            <a:ext cx="3026664" cy="51435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1471173165" name="Text 3"/>
          <p:cNvSpPr/>
          <p:nvPr/>
        </p:nvSpPr>
        <p:spPr bwMode="auto">
          <a:xfrm>
            <a:off x="996696" y="502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accent5"/>
                </a:solidFill>
              </a:rPr>
              <a:t>ARA0095 · Desenvolvimento Rápido de Aplicações em Python</a:t>
            </a:r>
            <a:endParaRPr lang="en-US" sz="1200"/>
          </a:p>
        </p:txBody>
      </p:sp>
      <p:sp>
        <p:nvSpPr>
          <p:cNvPr id="731778837" name="Text 4"/>
          <p:cNvSpPr/>
          <p:nvPr>
            <p:ph type="title" idx="104" hasCustomPrompt="1"/>
          </p:nvPr>
        </p:nvSpPr>
        <p:spPr bwMode="auto">
          <a:xfrm>
            <a:off x="996696" y="1325880"/>
            <a:ext cx="443484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  <a:defRPr/>
            </a:pPr>
            <a:endParaRPr lang="en-US" sz="4000"/>
          </a:p>
        </p:txBody>
      </p:sp>
      <p:sp>
        <p:nvSpPr>
          <p:cNvPr id="2099032543" name="Text 4"/>
          <p:cNvSpPr/>
          <p:nvPr>
            <p:ph type="body" idx="105" hasCustomPrompt="1"/>
          </p:nvPr>
        </p:nvSpPr>
        <p:spPr bwMode="auto">
          <a:xfrm>
            <a:off x="996696" y="3200400"/>
            <a:ext cx="4434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  <a:defRPr/>
            </a:pPr>
            <a:endParaRPr lang="en-US" sz="16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IVISOR">
    <p:bg>
      <p:bgPr shadeToTitle="0">
        <a:solidFill>
          <a:schemeClr val="accen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092344" name="Shape 0"/>
          <p:cNvSpPr/>
          <p:nvPr/>
        </p:nvSpPr>
        <p:spPr bwMode="auto">
          <a:xfrm>
            <a:off x="0" y="0"/>
            <a:ext cx="768096" cy="5143500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723586254" name="Shape 1"/>
          <p:cNvSpPr/>
          <p:nvPr/>
        </p:nvSpPr>
        <p:spPr bwMode="auto">
          <a:xfrm>
            <a:off x="768096" y="0"/>
            <a:ext cx="5349240" cy="51435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297304436" name="Shape 2"/>
          <p:cNvSpPr/>
          <p:nvPr/>
        </p:nvSpPr>
        <p:spPr bwMode="auto">
          <a:xfrm>
            <a:off x="6117336" y="0"/>
            <a:ext cx="3026664" cy="51435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749769561" name="Text 3"/>
          <p:cNvSpPr/>
          <p:nvPr/>
        </p:nvSpPr>
        <p:spPr bwMode="auto">
          <a:xfrm>
            <a:off x="996696" y="502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00">
                <a:solidFill>
                  <a:schemeClr val="accent5"/>
                </a:solidFill>
              </a:rPr>
              <a:t>ARA0095 · Desenvolvimento Rápido de Aplicações em Python</a:t>
            </a:r>
            <a:endParaRPr lang="en-US" sz="1200"/>
          </a:p>
        </p:txBody>
      </p:sp>
      <p:sp>
        <p:nvSpPr>
          <p:cNvPr id="1726210324" name="Text 4"/>
          <p:cNvSpPr/>
          <p:nvPr>
            <p:ph type="title" idx="104" hasCustomPrompt="1"/>
          </p:nvPr>
        </p:nvSpPr>
        <p:spPr bwMode="auto">
          <a:xfrm>
            <a:off x="996696" y="1737360"/>
            <a:ext cx="4434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400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  <a:defRPr/>
            </a:pPr>
            <a:endParaRPr lang="en-US" sz="4000"/>
          </a:p>
        </p:txBody>
      </p:sp>
      <p:sp>
        <p:nvSpPr>
          <p:cNvPr id="1526905277" name="Text 4"/>
          <p:cNvSpPr/>
          <p:nvPr>
            <p:ph type="body" idx="105" hasCustomPrompt="1"/>
          </p:nvPr>
        </p:nvSpPr>
        <p:spPr bwMode="auto">
          <a:xfrm>
            <a:off x="996696" y="3246120"/>
            <a:ext cx="4434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>
                <a:solidFill>
                  <a:schemeClr val="bg2"/>
                </a:solidFill>
              </a:defRPr>
            </a:lvl1pPr>
          </a:lstStyle>
          <a:p>
            <a:pPr marL="0" indent="0" algn="l">
              <a:buNone/>
              <a:defRPr/>
            </a:pPr>
            <a:endParaRPr lang="en-US" sz="1600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9.png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0.png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1524137" name="Text 4"/>
          <p:cNvSpPr/>
          <p:nvPr>
            <p:ph type="title" idx="104" hasCustomPrompt="1"/>
          </p:nvPr>
        </p:nvSpPr>
        <p:spPr bwMode="auto">
          <a:xfrm>
            <a:off x="996696" y="1325880"/>
            <a:ext cx="4434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  <a:defRPr/>
            </a:pPr>
            <a:r>
              <a:rPr lang="en-US" sz="4000">
                <a:solidFill>
                  <a:schemeClr val="bg1"/>
                </a:solidFill>
              </a:rPr>
              <a:t>CRUD completo: editar, excluir e </a:t>
            </a:r>
            <a:r>
              <a:rPr lang="pt-BR" sz="4000">
                <a:solidFill>
                  <a:schemeClr val="bg1"/>
                </a:solidFill>
              </a:rPr>
              <a:t>validar</a:t>
            </a:r>
            <a:endParaRPr lang="en-US" sz="4000"/>
          </a:p>
        </p:txBody>
      </p:sp>
      <p:sp>
        <p:nvSpPr>
          <p:cNvPr id="1586631941" name="Text 4"/>
          <p:cNvSpPr/>
          <p:nvPr>
            <p:ph type="body" idx="105" hasCustomPrompt="1"/>
          </p:nvPr>
        </p:nvSpPr>
        <p:spPr bwMode="auto">
          <a:xfrm>
            <a:off x="996696" y="3200400"/>
            <a:ext cx="4434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en-US" sz="1600">
                <a:solidFill>
                  <a:schemeClr val="bg2"/>
                </a:solidFill>
              </a:rPr>
              <a:t>Aula 1 de 3 · Tema 5, Aplicando RAD</a:t>
            </a:r>
            <a:endParaRPr lang="en-US" sz="1600"/>
          </a:p>
          <a:p>
            <a:pPr marL="0" indent="0" algn="l">
              <a:buNone/>
              <a:defRPr/>
            </a:pPr>
            <a:r>
              <a:rPr lang="en-US" sz="1600">
                <a:solidFill>
                  <a:schemeClr val="bg2"/>
                </a:solidFill>
              </a:rPr>
              <a:t>Modelagem de negócios e dados: onde mora cada regra</a:t>
            </a:r>
            <a:endParaRPr lang="en-US" sz="1600"/>
          </a:p>
        </p:txBody>
      </p:sp>
      <p:sp>
        <p:nvSpPr>
          <p:cNvPr id="1341674705" name="capa fundo"/>
          <p:cNvSpPr/>
          <p:nvPr/>
        </p:nvSpPr>
        <p:spPr bwMode="auto">
          <a:xfrm>
            <a:off x="5669280" y="1666608"/>
            <a:ext cx="3246120" cy="1810283"/>
          </a:xfrm>
          <a:prstGeom prst="roundRect">
            <a:avLst>
              <a:gd name="adj" fmla="val 4041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569762609" name="Shape 3"/>
          <p:cNvSpPr/>
          <p:nvPr/>
        </p:nvSpPr>
        <p:spPr bwMode="auto">
          <a:xfrm>
            <a:off x="5833872" y="178548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0775744" name="Shape 4"/>
          <p:cNvSpPr/>
          <p:nvPr/>
        </p:nvSpPr>
        <p:spPr bwMode="auto">
          <a:xfrm>
            <a:off x="5980176" y="178548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500723156" name="Shape 5"/>
          <p:cNvSpPr/>
          <p:nvPr/>
        </p:nvSpPr>
        <p:spPr bwMode="auto">
          <a:xfrm>
            <a:off x="6126480" y="178548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061027229" name="Text 6"/>
          <p:cNvSpPr txBox="1"/>
          <p:nvPr/>
        </p:nvSpPr>
        <p:spPr bwMode="auto">
          <a:xfrm>
            <a:off x="6327648" y="1721472"/>
            <a:ext cx="24231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academico/views.py · TODO 9a</a:t>
            </a:r>
            <a:endParaRPr lang="en-US" sz="900"/>
          </a:p>
        </p:txBody>
      </p:sp>
      <p:sp>
        <p:nvSpPr>
          <p:cNvPr id="482900226" name="capa texto"/>
          <p:cNvSpPr txBox="1"/>
          <p:nvPr/>
        </p:nvSpPr>
        <p:spPr bwMode="auto">
          <a:xfrm>
            <a:off x="5888736" y="2050656"/>
            <a:ext cx="2880360" cy="13347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aluno = get_object_or_404(Aluno, pk=pk)</a:t>
            </a:r>
            <a:endParaRPr lang="en-US" sz="950"/>
          </a:p>
          <a:p>
            <a:pPr marL="0" indent="0">
              <a:buNone/>
              <a:defRPr/>
            </a:pPr>
            <a:r>
              <a:rPr lang="en-US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form = AlunoForm(request.POST,</a:t>
            </a:r>
            <a:endParaRPr lang="en-US" sz="950"/>
          </a:p>
          <a:p>
            <a:pPr marL="0" indent="0">
              <a:buNone/>
              <a:defRPr/>
            </a:pPr>
            <a:r>
              <a:rPr lang="en-US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         instance=aluno)</a:t>
            </a:r>
            <a:endParaRPr lang="en-US" sz="950"/>
          </a:p>
          <a:p>
            <a:pPr marL="0" indent="0">
              <a:buNone/>
              <a:defRPr/>
            </a:pPr>
            <a:r>
              <a:rPr lang="en-US" sz="9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lang="en-US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form.is_valid():</a:t>
            </a:r>
            <a:endParaRPr lang="en-US" sz="950"/>
          </a:p>
          <a:p>
            <a:pPr marL="0" indent="0">
              <a:buNone/>
              <a:defRPr/>
            </a:pPr>
            <a:r>
              <a:rPr lang="en-US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form.save()  </a:t>
            </a:r>
            <a:r>
              <a:rPr lang="en-US" sz="950" i="1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# UPDATE</a:t>
            </a:r>
            <a:endParaRPr lang="en-US" sz="950"/>
          </a:p>
          <a:p>
            <a:pPr marL="0" indent="0">
              <a:buNone/>
              <a:defRPr/>
            </a:pPr>
            <a:r>
              <a:rPr lang="en-US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en-US" sz="9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en-US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redirect(</a:t>
            </a:r>
            <a:endParaRPr lang="en-US" sz="950"/>
          </a:p>
          <a:p>
            <a:pPr marL="0" indent="0">
              <a:buNone/>
              <a:defRPr/>
            </a:pPr>
            <a:r>
              <a:rPr lang="en-US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en-US" sz="95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"academico:aluno_lista"</a:t>
            </a:r>
            <a:r>
              <a:rPr lang="en-US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)</a:t>
            </a:r>
            <a:endParaRPr lang="en-US" sz="9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6860032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Situação-problema</a:t>
            </a:r>
            <a:endParaRPr lang="en-US" sz="3200"/>
          </a:p>
        </p:txBody>
      </p:sp>
      <p:sp>
        <p:nvSpPr>
          <p:cNvPr id="559777527" name="Text 1"/>
          <p:cNvSpPr txBox="1"/>
          <p:nvPr/>
        </p:nvSpPr>
        <p:spPr bwMode="auto">
          <a:xfrm>
            <a:off x="768096" y="1078992"/>
            <a:ext cx="7607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>
                <a:solidFill>
                  <a:srgbClr val="3A3F44"/>
                </a:solidFill>
              </a:rPr>
              <a:t>Primeira semana do sistema no ar. A secretaria abre quatro chamados:</a:t>
            </a:r>
            <a:endParaRPr lang="en-US" sz="1600"/>
          </a:p>
        </p:txBody>
      </p:sp>
      <p:sp>
        <p:nvSpPr>
          <p:cNvPr id="163552541" name="card “Apertei F5 e o aluno apareceu duas vezes”"/>
          <p:cNvSpPr/>
          <p:nvPr/>
        </p:nvSpPr>
        <p:spPr bwMode="auto">
          <a:xfrm>
            <a:off x="768096" y="1572768"/>
            <a:ext cx="3712464" cy="1207008"/>
          </a:xfrm>
          <a:prstGeom prst="roundRect">
            <a:avLst>
              <a:gd name="adj" fmla="val 4545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303161609" name="Shape 3"/>
          <p:cNvSpPr/>
          <p:nvPr/>
        </p:nvSpPr>
        <p:spPr bwMode="auto">
          <a:xfrm>
            <a:off x="969264" y="17556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06413925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92159" y="1878543"/>
            <a:ext cx="266273" cy="266273"/>
          </a:xfrm>
          <a:prstGeom prst="rect">
            <a:avLst/>
          </a:prstGeom>
        </p:spPr>
      </p:pic>
      <p:sp>
        <p:nvSpPr>
          <p:cNvPr id="785725866" name="Text 4"/>
          <p:cNvSpPr txBox="1"/>
          <p:nvPr/>
        </p:nvSpPr>
        <p:spPr bwMode="auto">
          <a:xfrm>
            <a:off x="1636776" y="1755648"/>
            <a:ext cx="2660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0397B"/>
                </a:solidFill>
              </a:rPr>
              <a:t>“Apertei F5 e o aluno apareceu duas vezes”</a:t>
            </a:r>
            <a:endParaRPr lang="en-US" sz="1500"/>
          </a:p>
        </p:txBody>
      </p:sp>
      <p:sp>
        <p:nvSpPr>
          <p:cNvPr id="1551443169" name="Text 5"/>
          <p:cNvSpPr txBox="1"/>
          <p:nvPr/>
        </p:nvSpPr>
        <p:spPr bwMode="auto">
          <a:xfrm>
            <a:off x="996696" y="2377440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Ou, com o UNIQUE, uma tela amarela de erro.</a:t>
            </a:r>
            <a:endParaRPr lang="en-US" sz="1400"/>
          </a:p>
        </p:txBody>
      </p:sp>
      <p:sp>
        <p:nvSpPr>
          <p:cNvPr id="1384404854" name="card “Editei o e-mail e surgiu outro aluno”"/>
          <p:cNvSpPr/>
          <p:nvPr/>
        </p:nvSpPr>
        <p:spPr bwMode="auto">
          <a:xfrm>
            <a:off x="4663440" y="1572768"/>
            <a:ext cx="3712464" cy="1207008"/>
          </a:xfrm>
          <a:prstGeom prst="roundRect">
            <a:avLst>
              <a:gd name="adj" fmla="val 4545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27566297" name="Shape 7"/>
          <p:cNvSpPr/>
          <p:nvPr/>
        </p:nvSpPr>
        <p:spPr bwMode="auto">
          <a:xfrm>
            <a:off x="4864607" y="17556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24475215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987503" y="1878543"/>
            <a:ext cx="266273" cy="266273"/>
          </a:xfrm>
          <a:prstGeom prst="rect">
            <a:avLst/>
          </a:prstGeom>
        </p:spPr>
      </p:pic>
      <p:sp>
        <p:nvSpPr>
          <p:cNvPr id="1344524854" name="Text 8"/>
          <p:cNvSpPr txBox="1"/>
          <p:nvPr/>
        </p:nvSpPr>
        <p:spPr bwMode="auto">
          <a:xfrm>
            <a:off x="5532120" y="1755648"/>
            <a:ext cx="2660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0397B"/>
                </a:solidFill>
              </a:rPr>
              <a:t>“Editei o e-mail e surgiu outro aluno”</a:t>
            </a:r>
            <a:endParaRPr lang="en-US" sz="1500"/>
          </a:p>
        </p:txBody>
      </p:sp>
      <p:sp>
        <p:nvSpPr>
          <p:cNvPr id="1564817193" name="Text 9"/>
          <p:cNvSpPr txBox="1"/>
          <p:nvPr/>
        </p:nvSpPr>
        <p:spPr bwMode="auto">
          <a:xfrm>
            <a:off x="4892039" y="2377440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O original continua lá, com o e-mail antigo.</a:t>
            </a:r>
            <a:endParaRPr lang="en-US" sz="1400"/>
          </a:p>
        </p:txBody>
      </p:sp>
      <p:sp>
        <p:nvSpPr>
          <p:cNvPr id="938344904" name="card “Excluí um aluno e as notas sumiram”"/>
          <p:cNvSpPr/>
          <p:nvPr/>
        </p:nvSpPr>
        <p:spPr bwMode="auto">
          <a:xfrm>
            <a:off x="768096" y="2944368"/>
            <a:ext cx="3712464" cy="1207008"/>
          </a:xfrm>
          <a:prstGeom prst="roundRect">
            <a:avLst>
              <a:gd name="adj" fmla="val 4545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712627379" name="Shape 11"/>
          <p:cNvSpPr/>
          <p:nvPr/>
        </p:nvSpPr>
        <p:spPr bwMode="auto">
          <a:xfrm>
            <a:off x="969264" y="31272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9408999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1092159" y="3250143"/>
            <a:ext cx="266273" cy="266273"/>
          </a:xfrm>
          <a:prstGeom prst="rect">
            <a:avLst/>
          </a:prstGeom>
        </p:spPr>
      </p:pic>
      <p:sp>
        <p:nvSpPr>
          <p:cNvPr id="2044330904" name="Text 12"/>
          <p:cNvSpPr txBox="1"/>
          <p:nvPr/>
        </p:nvSpPr>
        <p:spPr bwMode="auto">
          <a:xfrm>
            <a:off x="1636776" y="3127248"/>
            <a:ext cx="2660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0397B"/>
                </a:solidFill>
              </a:rPr>
              <a:t>“Excluí um aluno e as notas sumiram”</a:t>
            </a:r>
            <a:endParaRPr lang="en-US" sz="1500"/>
          </a:p>
        </p:txBody>
      </p:sp>
      <p:sp>
        <p:nvSpPr>
          <p:cNvPr id="923455458" name="Text 13"/>
          <p:cNvSpPr txBox="1"/>
          <p:nvPr/>
        </p:nvSpPr>
        <p:spPr bwMode="auto">
          <a:xfrm>
            <a:off x="996696" y="3749040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O histórico do semestre foi junto, sem aviso.</a:t>
            </a:r>
            <a:endParaRPr lang="en-US" sz="1400"/>
          </a:p>
        </p:txBody>
      </p:sp>
      <p:sp>
        <p:nvSpPr>
          <p:cNvPr id="1993099808" name="card “O sistema aceitou nota 11”"/>
          <p:cNvSpPr/>
          <p:nvPr/>
        </p:nvSpPr>
        <p:spPr bwMode="auto">
          <a:xfrm>
            <a:off x="4663440" y="2944368"/>
            <a:ext cx="3712464" cy="1207008"/>
          </a:xfrm>
          <a:prstGeom prst="roundRect">
            <a:avLst>
              <a:gd name="adj" fmla="val 4545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648841481" name="Shape 15"/>
          <p:cNvSpPr/>
          <p:nvPr/>
        </p:nvSpPr>
        <p:spPr bwMode="auto">
          <a:xfrm>
            <a:off x="4864607" y="312724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72120919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4987503" y="3250143"/>
            <a:ext cx="266273" cy="266273"/>
          </a:xfrm>
          <a:prstGeom prst="rect">
            <a:avLst/>
          </a:prstGeom>
        </p:spPr>
      </p:pic>
      <p:sp>
        <p:nvSpPr>
          <p:cNvPr id="761882822" name="Text 16"/>
          <p:cNvSpPr txBox="1"/>
          <p:nvPr/>
        </p:nvSpPr>
        <p:spPr bwMode="auto">
          <a:xfrm>
            <a:off x="5532120" y="3127248"/>
            <a:ext cx="26609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0397B"/>
                </a:solidFill>
              </a:rPr>
              <a:t>“O sistema aceitou nota 11”</a:t>
            </a:r>
            <a:endParaRPr lang="en-US" sz="1500"/>
          </a:p>
        </p:txBody>
      </p:sp>
      <p:sp>
        <p:nvSpPr>
          <p:cNvPr id="1034473106" name="Text 17"/>
          <p:cNvSpPr txBox="1"/>
          <p:nvPr/>
        </p:nvSpPr>
        <p:spPr bwMode="auto">
          <a:xfrm>
            <a:off x="4892039" y="3749040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Ninguém percebeu até o boletim sair.</a:t>
            </a:r>
            <a:endParaRPr lang="en-US" sz="1400"/>
          </a:p>
        </p:txBody>
      </p:sp>
      <p:sp>
        <p:nvSpPr>
          <p:cNvPr id="242873263" name="Text 18"/>
          <p:cNvSpPr txBox="1"/>
          <p:nvPr/>
        </p:nvSpPr>
        <p:spPr bwMode="auto">
          <a:xfrm>
            <a:off x="768096" y="4443984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i="1">
                <a:solidFill>
                  <a:srgbClr val="1185AA"/>
                </a:solidFill>
              </a:rPr>
              <a:t>Nenhum é erro de SQL. São decisões de projeto. Onde mora cada uma?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783394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Objetivos da aula</a:t>
            </a:r>
            <a:endParaRPr lang="en-US" sz="3200"/>
          </a:p>
        </p:txBody>
      </p:sp>
      <p:sp>
        <p:nvSpPr>
          <p:cNvPr id="1630537199" name="card Decidir onde mora cada regra"/>
          <p:cNvSpPr/>
          <p:nvPr/>
        </p:nvSpPr>
        <p:spPr bwMode="auto">
          <a:xfrm>
            <a:off x="768096" y="1371600"/>
            <a:ext cx="2414016" cy="292608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988624621" name="Shape 2"/>
          <p:cNvSpPr/>
          <p:nvPr/>
        </p:nvSpPr>
        <p:spPr bwMode="auto">
          <a:xfrm>
            <a:off x="996696" y="160020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74859815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45926" y="1749430"/>
            <a:ext cx="323332" cy="323332"/>
          </a:xfrm>
          <a:prstGeom prst="rect">
            <a:avLst/>
          </a:prstGeom>
        </p:spPr>
      </p:pic>
      <p:sp>
        <p:nvSpPr>
          <p:cNvPr id="210946483" name="Text 3"/>
          <p:cNvSpPr txBox="1"/>
          <p:nvPr/>
        </p:nvSpPr>
        <p:spPr bwMode="auto">
          <a:xfrm>
            <a:off x="996696" y="235915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397B"/>
                </a:solidFill>
              </a:rPr>
              <a:t>Decidir onde mora cada regra</a:t>
            </a:r>
            <a:endParaRPr lang="en-US" sz="1600"/>
          </a:p>
        </p:txBody>
      </p:sp>
      <p:sp>
        <p:nvSpPr>
          <p:cNvPr id="1502260746" name="Text 4"/>
          <p:cNvSpPr txBox="1"/>
          <p:nvPr/>
        </p:nvSpPr>
        <p:spPr bwMode="auto">
          <a:xfrm>
            <a:off x="996696" y="2944368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Integridade no modelo e no banco, mensagem no formulário, fluxo na view.</a:t>
            </a:r>
            <a:endParaRPr lang="en-US" sz="1400"/>
          </a:p>
        </p:txBody>
      </p:sp>
      <p:sp>
        <p:nvSpPr>
          <p:cNvPr id="1771711504" name="card Completar o CRUD"/>
          <p:cNvSpPr/>
          <p:nvPr/>
        </p:nvSpPr>
        <p:spPr bwMode="auto">
          <a:xfrm>
            <a:off x="3364992" y="1371600"/>
            <a:ext cx="2414016" cy="292608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777506194" name="Shape 6"/>
          <p:cNvSpPr/>
          <p:nvPr/>
        </p:nvSpPr>
        <p:spPr bwMode="auto">
          <a:xfrm>
            <a:off x="3593592" y="160020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41089587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742822" y="1749430"/>
            <a:ext cx="323332" cy="323332"/>
          </a:xfrm>
          <a:prstGeom prst="rect">
            <a:avLst/>
          </a:prstGeom>
        </p:spPr>
      </p:pic>
      <p:sp>
        <p:nvSpPr>
          <p:cNvPr id="1005459025" name="Text 7"/>
          <p:cNvSpPr txBox="1"/>
          <p:nvPr/>
        </p:nvSpPr>
        <p:spPr bwMode="auto">
          <a:xfrm>
            <a:off x="3593592" y="235915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397B"/>
                </a:solidFill>
              </a:rPr>
              <a:t>Completar o CRUD</a:t>
            </a:r>
            <a:endParaRPr lang="en-US" sz="1600"/>
          </a:p>
        </p:txBody>
      </p:sp>
      <p:sp>
        <p:nvSpPr>
          <p:cNvPr id="875068257" name="Text 8"/>
          <p:cNvSpPr txBox="1"/>
          <p:nvPr/>
        </p:nvSpPr>
        <p:spPr bwMode="auto">
          <a:xfrm>
            <a:off x="3593592" y="2944368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Editar com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instance=</a:t>
            </a:r>
            <a:r>
              <a:rPr lang="en-US" sz="1400">
                <a:solidFill>
                  <a:srgbClr val="3A3F44"/>
                </a:solidFill>
              </a:rPr>
              <a:t>, excluir em duas requisições e redirecionar depois de salvar.</a:t>
            </a:r>
            <a:endParaRPr lang="en-US" sz="1400"/>
          </a:p>
        </p:txBody>
      </p:sp>
      <p:sp>
        <p:nvSpPr>
          <p:cNvPr id="1670814435" name="card Transformar erro em mensagem"/>
          <p:cNvSpPr/>
          <p:nvPr/>
        </p:nvSpPr>
        <p:spPr bwMode="auto">
          <a:xfrm>
            <a:off x="5961888" y="1371600"/>
            <a:ext cx="2414016" cy="292608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830683376" name="Shape 10"/>
          <p:cNvSpPr/>
          <p:nvPr/>
        </p:nvSpPr>
        <p:spPr bwMode="auto">
          <a:xfrm>
            <a:off x="6190488" y="160020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38828024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339718" y="1749430"/>
            <a:ext cx="323332" cy="323332"/>
          </a:xfrm>
          <a:prstGeom prst="rect">
            <a:avLst/>
          </a:prstGeom>
        </p:spPr>
      </p:pic>
      <p:sp>
        <p:nvSpPr>
          <p:cNvPr id="1788905177" name="Text 11"/>
          <p:cNvSpPr txBox="1"/>
          <p:nvPr/>
        </p:nvSpPr>
        <p:spPr bwMode="auto">
          <a:xfrm>
            <a:off x="6190488" y="235915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397B"/>
                </a:solidFill>
              </a:rPr>
              <a:t>Transformar erro em mensagem</a:t>
            </a:r>
            <a:endParaRPr lang="en-US" sz="1600"/>
          </a:p>
        </p:txBody>
      </p:sp>
      <p:sp>
        <p:nvSpPr>
          <p:cNvPr id="300209622" name="Text 12"/>
          <p:cNvSpPr txBox="1"/>
          <p:nvPr/>
        </p:nvSpPr>
        <p:spPr bwMode="auto">
          <a:xfrm>
            <a:off x="6190488" y="2944368"/>
            <a:ext cx="200253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Duplicidade,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ProtectedError</a:t>
            </a:r>
            <a:r>
              <a:rPr lang="en-US" sz="1400">
                <a:solidFill>
                  <a:srgbClr val="3A3F44"/>
                </a:solidFill>
              </a:rPr>
              <a:t> e validação viram aviso na tela, não traceback.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029836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Roteiro da aula</a:t>
            </a:r>
            <a:endParaRPr lang="en-US" sz="3200"/>
          </a:p>
        </p:txBody>
      </p:sp>
      <p:sp>
        <p:nvSpPr>
          <p:cNvPr id="660352263" name="Shape 1"/>
          <p:cNvSpPr/>
          <p:nvPr/>
        </p:nvSpPr>
        <p:spPr bwMode="auto">
          <a:xfrm>
            <a:off x="960120" y="1700784"/>
            <a:ext cx="7150607" cy="0"/>
          </a:xfrm>
          <a:prstGeom prst="line">
            <a:avLst/>
          </a:prstGeom>
          <a:noFill/>
          <a:ln w="25400">
            <a:solidFill>
              <a:srgbClr val="C9D6DD"/>
            </a:solidFill>
            <a:prstDash val="solid"/>
          </a:ln>
        </p:spPr>
      </p:sp>
      <p:sp>
        <p:nvSpPr>
          <p:cNvPr id="541702900" name="Shape 2"/>
          <p:cNvSpPr/>
          <p:nvPr/>
        </p:nvSpPr>
        <p:spPr bwMode="auto">
          <a:xfrm>
            <a:off x="768096" y="1508759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027617350" name="Text 3"/>
          <p:cNvSpPr txBox="1"/>
          <p:nvPr/>
        </p:nvSpPr>
        <p:spPr bwMode="auto">
          <a:xfrm>
            <a:off x="768096" y="150875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177074578" name="Text 4"/>
          <p:cNvSpPr txBox="1"/>
          <p:nvPr/>
        </p:nvSpPr>
        <p:spPr bwMode="auto">
          <a:xfrm>
            <a:off x="768096" y="2011680"/>
            <a:ext cx="1384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185AA"/>
                </a:solidFill>
              </a:rPr>
              <a:t>0 a 8 min</a:t>
            </a:r>
            <a:endParaRPr lang="en-US" sz="1100"/>
          </a:p>
        </p:txBody>
      </p:sp>
      <p:sp>
        <p:nvSpPr>
          <p:cNvPr id="1028288298" name="Text 5"/>
          <p:cNvSpPr txBox="1"/>
          <p:nvPr/>
        </p:nvSpPr>
        <p:spPr bwMode="auto">
          <a:xfrm>
            <a:off x="768096" y="2276856"/>
            <a:ext cx="1384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0397B"/>
                </a:solidFill>
              </a:rPr>
              <a:t>Abertura</a:t>
            </a:r>
            <a:endParaRPr lang="en-US" sz="1500"/>
          </a:p>
        </p:txBody>
      </p:sp>
      <p:sp>
        <p:nvSpPr>
          <p:cNvPr id="949686611" name="Text 6"/>
          <p:cNvSpPr txBox="1"/>
          <p:nvPr/>
        </p:nvSpPr>
        <p:spPr bwMode="auto">
          <a:xfrm>
            <a:off x="768096" y="2807208"/>
            <a:ext cx="133868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3A3F44"/>
                </a:solidFill>
              </a:rPr>
              <a:t>Os quatro chamados e a conferência dos TODOs 1 a 3.</a:t>
            </a:r>
            <a:endParaRPr lang="en-US" sz="1300"/>
          </a:p>
        </p:txBody>
      </p:sp>
      <p:sp>
        <p:nvSpPr>
          <p:cNvPr id="1788965515" name="Shape 7"/>
          <p:cNvSpPr/>
          <p:nvPr/>
        </p:nvSpPr>
        <p:spPr bwMode="auto">
          <a:xfrm>
            <a:off x="2289658" y="1508759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736323306" name="Text 8"/>
          <p:cNvSpPr txBox="1"/>
          <p:nvPr/>
        </p:nvSpPr>
        <p:spPr bwMode="auto">
          <a:xfrm>
            <a:off x="2289658" y="150875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590969308" name="Text 9"/>
          <p:cNvSpPr txBox="1"/>
          <p:nvPr/>
        </p:nvSpPr>
        <p:spPr bwMode="auto">
          <a:xfrm>
            <a:off x="2289658" y="2011680"/>
            <a:ext cx="1384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185AA"/>
                </a:solidFill>
              </a:rPr>
              <a:t>8 a 18 min</a:t>
            </a:r>
            <a:endParaRPr lang="en-US" sz="1100"/>
          </a:p>
        </p:txBody>
      </p:sp>
      <p:sp>
        <p:nvSpPr>
          <p:cNvPr id="1312294500" name="Text 10"/>
          <p:cNvSpPr txBox="1"/>
          <p:nvPr/>
        </p:nvSpPr>
        <p:spPr bwMode="auto">
          <a:xfrm>
            <a:off x="2289658" y="2276856"/>
            <a:ext cx="1384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0397B"/>
                </a:solidFill>
              </a:rPr>
              <a:t>Onde mora a regra</a:t>
            </a:r>
            <a:endParaRPr lang="en-US" sz="1500"/>
          </a:p>
        </p:txBody>
      </p:sp>
      <p:sp>
        <p:nvSpPr>
          <p:cNvPr id="1673698779" name="Text 11"/>
          <p:cNvSpPr txBox="1"/>
          <p:nvPr/>
        </p:nvSpPr>
        <p:spPr bwMode="auto">
          <a:xfrm>
            <a:off x="2289658" y="2807208"/>
            <a:ext cx="133868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3A3F44"/>
                </a:solidFill>
              </a:rPr>
              <a:t>Banco, modelo, formulário e view: quem garante o quê.</a:t>
            </a:r>
            <a:endParaRPr lang="en-US" sz="1300"/>
          </a:p>
        </p:txBody>
      </p:sp>
      <p:sp>
        <p:nvSpPr>
          <p:cNvPr id="1024648115" name="Shape 12"/>
          <p:cNvSpPr/>
          <p:nvPr/>
        </p:nvSpPr>
        <p:spPr bwMode="auto">
          <a:xfrm>
            <a:off x="3811219" y="1508759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568469385" name="Text 13"/>
          <p:cNvSpPr txBox="1"/>
          <p:nvPr/>
        </p:nvSpPr>
        <p:spPr bwMode="auto">
          <a:xfrm>
            <a:off x="3811219" y="150875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3</a:t>
            </a:r>
            <a:endParaRPr lang="en-US" sz="1400"/>
          </a:p>
        </p:txBody>
      </p:sp>
      <p:sp>
        <p:nvSpPr>
          <p:cNvPr id="104789532" name="Text 14"/>
          <p:cNvSpPr txBox="1"/>
          <p:nvPr/>
        </p:nvSpPr>
        <p:spPr bwMode="auto">
          <a:xfrm>
            <a:off x="3811219" y="2011680"/>
            <a:ext cx="1384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185AA"/>
                </a:solidFill>
              </a:rPr>
              <a:t>18 a 30 min</a:t>
            </a:r>
            <a:endParaRPr lang="en-US" sz="1100"/>
          </a:p>
        </p:txBody>
      </p:sp>
      <p:sp>
        <p:nvSpPr>
          <p:cNvPr id="749494062" name="Text 15"/>
          <p:cNvSpPr txBox="1"/>
          <p:nvPr/>
        </p:nvSpPr>
        <p:spPr bwMode="auto">
          <a:xfrm>
            <a:off x="3811219" y="2276856"/>
            <a:ext cx="1384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0397B"/>
                </a:solidFill>
              </a:rPr>
              <a:t>Forms que validam</a:t>
            </a:r>
            <a:endParaRPr lang="en-US" sz="1500"/>
          </a:p>
        </p:txBody>
      </p:sp>
      <p:sp>
        <p:nvSpPr>
          <p:cNvPr id="665184386" name="Text 16"/>
          <p:cNvSpPr txBox="1"/>
          <p:nvPr/>
        </p:nvSpPr>
        <p:spPr bwMode="auto">
          <a:xfrm>
            <a:off x="3811219" y="2807208"/>
            <a:ext cx="133868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clean_&lt;campo&gt;</a:t>
            </a:r>
            <a:r>
              <a:rPr lang="en-US" sz="1300">
                <a:solidFill>
                  <a:srgbClr val="3A3F44"/>
                </a:solidFill>
              </a:rPr>
              <a:t>, normalização e mensagens.</a:t>
            </a:r>
            <a:endParaRPr lang="en-US" sz="1300"/>
          </a:p>
        </p:txBody>
      </p:sp>
      <p:sp>
        <p:nvSpPr>
          <p:cNvPr id="1246315146" name="Shape 17"/>
          <p:cNvSpPr/>
          <p:nvPr/>
        </p:nvSpPr>
        <p:spPr bwMode="auto">
          <a:xfrm>
            <a:off x="5332781" y="1508759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830544230" name="Text 18"/>
          <p:cNvSpPr txBox="1"/>
          <p:nvPr/>
        </p:nvSpPr>
        <p:spPr bwMode="auto">
          <a:xfrm>
            <a:off x="5332781" y="150875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4</a:t>
            </a:r>
            <a:endParaRPr lang="en-US" sz="1400"/>
          </a:p>
        </p:txBody>
      </p:sp>
      <p:sp>
        <p:nvSpPr>
          <p:cNvPr id="542475304" name="Text 19"/>
          <p:cNvSpPr txBox="1"/>
          <p:nvPr/>
        </p:nvSpPr>
        <p:spPr bwMode="auto">
          <a:xfrm>
            <a:off x="5332781" y="2011680"/>
            <a:ext cx="1384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185AA"/>
                </a:solidFill>
              </a:rPr>
              <a:t>30 a 42 min</a:t>
            </a:r>
            <a:endParaRPr lang="en-US" sz="1100"/>
          </a:p>
        </p:txBody>
      </p:sp>
      <p:sp>
        <p:nvSpPr>
          <p:cNvPr id="1198409679" name="Text 20"/>
          <p:cNvSpPr txBox="1"/>
          <p:nvPr/>
        </p:nvSpPr>
        <p:spPr bwMode="auto">
          <a:xfrm>
            <a:off x="5332781" y="2276856"/>
            <a:ext cx="1384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0397B"/>
                </a:solidFill>
              </a:rPr>
              <a:t>Editar e excluir</a:t>
            </a:r>
            <a:endParaRPr lang="en-US" sz="1500"/>
          </a:p>
        </p:txBody>
      </p:sp>
      <p:sp>
        <p:nvSpPr>
          <p:cNvPr id="714298598" name="Text 21"/>
          <p:cNvSpPr txBox="1"/>
          <p:nvPr/>
        </p:nvSpPr>
        <p:spPr bwMode="auto">
          <a:xfrm>
            <a:off x="5332781" y="2807208"/>
            <a:ext cx="133868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instance=</a:t>
            </a:r>
            <a:r>
              <a:rPr lang="en-US" sz="1300">
                <a:solidFill>
                  <a:srgbClr val="3A3F44"/>
                </a:solidFill>
              </a:rPr>
              <a:t>, POST/Redirect/GET e as duas requisições.</a:t>
            </a:r>
            <a:endParaRPr lang="en-US" sz="1300"/>
          </a:p>
        </p:txBody>
      </p:sp>
      <p:sp>
        <p:nvSpPr>
          <p:cNvPr id="703384142" name="Shape 22"/>
          <p:cNvSpPr/>
          <p:nvPr/>
        </p:nvSpPr>
        <p:spPr bwMode="auto">
          <a:xfrm>
            <a:off x="6854342" y="1508759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578077911" name="Text 23"/>
          <p:cNvSpPr txBox="1"/>
          <p:nvPr/>
        </p:nvSpPr>
        <p:spPr bwMode="auto">
          <a:xfrm>
            <a:off x="6854342" y="150875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5</a:t>
            </a:r>
            <a:endParaRPr lang="en-US" sz="1400"/>
          </a:p>
        </p:txBody>
      </p:sp>
      <p:sp>
        <p:nvSpPr>
          <p:cNvPr id="1479383059" name="Text 24"/>
          <p:cNvSpPr txBox="1"/>
          <p:nvPr/>
        </p:nvSpPr>
        <p:spPr bwMode="auto">
          <a:xfrm>
            <a:off x="6854342" y="2011680"/>
            <a:ext cx="138440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185AA"/>
                </a:solidFill>
              </a:rPr>
              <a:t>42 a 50 min</a:t>
            </a:r>
            <a:endParaRPr lang="en-US" sz="1100"/>
          </a:p>
        </p:txBody>
      </p:sp>
      <p:sp>
        <p:nvSpPr>
          <p:cNvPr id="616040394" name="Text 25"/>
          <p:cNvSpPr txBox="1"/>
          <p:nvPr/>
        </p:nvSpPr>
        <p:spPr bwMode="auto">
          <a:xfrm>
            <a:off x="6854342" y="2276856"/>
            <a:ext cx="138440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0397B"/>
                </a:solidFill>
              </a:rPr>
              <a:t>Decisão de projeto</a:t>
            </a:r>
            <a:endParaRPr lang="en-US" sz="1500"/>
          </a:p>
        </p:txBody>
      </p:sp>
      <p:sp>
        <p:nvSpPr>
          <p:cNvPr id="1217760969" name="Text 26"/>
          <p:cNvSpPr txBox="1"/>
          <p:nvPr/>
        </p:nvSpPr>
        <p:spPr bwMode="auto">
          <a:xfrm>
            <a:off x="6854342" y="2807208"/>
            <a:ext cx="1338681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3A3F44"/>
                </a:solidFill>
              </a:rPr>
              <a:t>Delete ou soft delete? </a:t>
            </a: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PROTECT</a:t>
            </a:r>
            <a:r>
              <a:rPr lang="en-US" sz="1300">
                <a:solidFill>
                  <a:srgbClr val="3A3F44"/>
                </a:solidFill>
              </a:rPr>
              <a:t> em ação.</a:t>
            </a:r>
            <a:endParaRPr lang="en-US" sz="1300"/>
          </a:p>
        </p:txBody>
      </p:sp>
      <p:sp>
        <p:nvSpPr>
          <p:cNvPr id="2057508937" name="destaque"/>
          <p:cNvSpPr/>
          <p:nvPr/>
        </p:nvSpPr>
        <p:spPr bwMode="auto">
          <a:xfrm>
            <a:off x="768096" y="3794760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88535923" name="Shape 28"/>
          <p:cNvSpPr/>
          <p:nvPr/>
        </p:nvSpPr>
        <p:spPr bwMode="auto">
          <a:xfrm>
            <a:off x="950976" y="3895343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91988195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60704" y="4005072"/>
            <a:ext cx="237744" cy="237744"/>
          </a:xfrm>
          <a:prstGeom prst="rect">
            <a:avLst/>
          </a:prstGeom>
        </p:spPr>
      </p:pic>
      <p:sp>
        <p:nvSpPr>
          <p:cNvPr id="2086834300" name="Text 29"/>
          <p:cNvSpPr txBox="1"/>
          <p:nvPr/>
        </p:nvSpPr>
        <p:spPr bwMode="auto">
          <a:xfrm>
            <a:off x="1572768" y="3794760"/>
            <a:ext cx="664768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0397B"/>
                </a:solidFill>
              </a:rPr>
              <a:t>Depois da exposição: </a:t>
            </a:r>
            <a:r>
              <a:rPr lang="en-US" sz="1500">
                <a:solidFill>
                  <a:srgbClr val="3A3F44"/>
                </a:solidFill>
              </a:rPr>
              <a:t>laboratório. Ache o erro, formulários (TODOs 4 a 6) e CRUD de aluno (TODOs 7 a 9).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3781304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Conferência: o modelo de vocês está assim?</a:t>
            </a:r>
            <a:endParaRPr lang="en-US" sz="3200"/>
          </a:p>
        </p:txBody>
      </p:sp>
      <p:sp>
        <p:nvSpPr>
          <p:cNvPr id="1792775142" name="codigo fundo"/>
          <p:cNvSpPr/>
          <p:nvPr/>
        </p:nvSpPr>
        <p:spPr bwMode="auto">
          <a:xfrm>
            <a:off x="768096" y="1188720"/>
            <a:ext cx="4983480" cy="3429000"/>
          </a:xfrm>
          <a:prstGeom prst="roundRect">
            <a:avLst>
              <a:gd name="adj" fmla="val 2133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1298817406" name="Shape 2"/>
          <p:cNvSpPr/>
          <p:nvPr/>
        </p:nvSpPr>
        <p:spPr bwMode="auto">
          <a:xfrm>
            <a:off x="932688" y="130759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206970917" name="Shape 3"/>
          <p:cNvSpPr/>
          <p:nvPr/>
        </p:nvSpPr>
        <p:spPr bwMode="auto">
          <a:xfrm>
            <a:off x="1078992" y="130759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340442309" name="Shape 4"/>
          <p:cNvSpPr/>
          <p:nvPr/>
        </p:nvSpPr>
        <p:spPr bwMode="auto">
          <a:xfrm>
            <a:off x="1225296" y="130759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497600254" name="Text 5"/>
          <p:cNvSpPr txBox="1"/>
          <p:nvPr/>
        </p:nvSpPr>
        <p:spPr bwMode="auto">
          <a:xfrm>
            <a:off x="1426464" y="1243584"/>
            <a:ext cx="4160519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academico/models.py · TODO 3</a:t>
            </a:r>
            <a:endParaRPr lang="en-US" sz="900"/>
          </a:p>
        </p:txBody>
      </p:sp>
      <p:sp>
        <p:nvSpPr>
          <p:cNvPr id="2042488942" name="codigo texto"/>
          <p:cNvSpPr txBox="1"/>
          <p:nvPr/>
        </p:nvSpPr>
        <p:spPr bwMode="auto">
          <a:xfrm>
            <a:off x="987552" y="1572768"/>
            <a:ext cx="4617720" cy="29535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class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Inscricao(models.Model):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aluno = models.ForeignKey(Aluno,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on_delete=models.PROTECT,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related_name=</a:t>
            </a:r>
            <a:r>
              <a:rPr lang="en-US" sz="110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"inscricoes"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)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disciplina = models.ForeignKey(Disciplina,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on_delete=models.PROTECT)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nota1 = models.DecimalField(max_digits=</a:t>
            </a:r>
            <a:r>
              <a:rPr lang="en-US" sz="1100">
                <a:solidFill>
                  <a:srgbClr val="F78C6C"/>
                </a:solidFill>
                <a:latin typeface="Courier New"/>
                <a:ea typeface="Courier New"/>
                <a:cs typeface="Courier New"/>
              </a:rPr>
              <a:t>4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,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decimal_places=</a:t>
            </a:r>
            <a:r>
              <a:rPr lang="en-US" sz="1100">
                <a:solidFill>
                  <a:srgbClr val="F78C6C"/>
                </a:solidFill>
                <a:latin typeface="Courier New"/>
                <a:ea typeface="Courier New"/>
                <a:cs typeface="Courier New"/>
              </a:rPr>
              <a:t>2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, null=</a:t>
            </a:r>
            <a:r>
              <a:rPr lang="en-US" sz="11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, blank=</a:t>
            </a:r>
            <a:r>
              <a:rPr lang="en-US" sz="11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,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validators=[MinValueValidator(</a:t>
            </a:r>
            <a:r>
              <a:rPr lang="en-US" sz="1100">
                <a:solidFill>
                  <a:srgbClr val="F78C6C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),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            MaxValueValidator(</a:t>
            </a:r>
            <a:r>
              <a:rPr lang="en-US" sz="1100">
                <a:solidFill>
                  <a:srgbClr val="F78C6C"/>
                </a:solidFill>
                <a:latin typeface="Courier New"/>
                <a:ea typeface="Courier New"/>
                <a:cs typeface="Courier New"/>
              </a:rPr>
              <a:t>10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)])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en-US" sz="1100" i="1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# nota2: igual à nota1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en-US" sz="11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class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Meta: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db_table = </a:t>
            </a:r>
            <a:r>
              <a:rPr lang="en-US" sz="110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"inscricao"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constraints = [models.UniqueConstraint(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  fields=[</a:t>
            </a:r>
            <a:r>
              <a:rPr lang="en-US" sz="110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"aluno"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lang="en-US" sz="110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"disciplina"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],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  name=</a:t>
            </a:r>
            <a:r>
              <a:rPr lang="en-US" sz="110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"inscricao_unica_por_aluno_disciplina"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)]</a:t>
            </a:r>
            <a:endParaRPr lang="en-US" sz="1100"/>
          </a:p>
        </p:txBody>
      </p:sp>
      <p:sp>
        <p:nvSpPr>
          <p:cNvPr id="674792564" name="checklist"/>
          <p:cNvSpPr/>
          <p:nvPr/>
        </p:nvSpPr>
        <p:spPr bwMode="auto">
          <a:xfrm>
            <a:off x="5897880" y="1188720"/>
            <a:ext cx="2478024" cy="3429000"/>
          </a:xfrm>
          <a:prstGeom prst="roundRect">
            <a:avLst>
              <a:gd name="adj" fmla="val 2214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333690034" name="Text 8"/>
          <p:cNvSpPr txBox="1"/>
          <p:nvPr/>
        </p:nvSpPr>
        <p:spPr bwMode="auto">
          <a:xfrm>
            <a:off x="6080760" y="13258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397B"/>
                </a:solidFill>
              </a:rPr>
              <a:t>Confiram</a:t>
            </a:r>
            <a:endParaRPr lang="en-US" sz="1600"/>
          </a:p>
        </p:txBody>
      </p:sp>
      <p:pic>
        <p:nvPicPr>
          <p:cNvPr id="1790324467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6080760" y="1847088"/>
            <a:ext cx="182880" cy="182880"/>
          </a:xfrm>
          <a:prstGeom prst="rect">
            <a:avLst/>
          </a:prstGeom>
        </p:spPr>
      </p:pic>
      <p:sp>
        <p:nvSpPr>
          <p:cNvPr id="1359934254" name="Text 9"/>
          <p:cNvSpPr txBox="1"/>
          <p:nvPr/>
        </p:nvSpPr>
        <p:spPr bwMode="auto">
          <a:xfrm>
            <a:off x="6382512" y="177393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unique=True</a:t>
            </a:r>
            <a:r>
              <a:rPr lang="en-US" sz="1300">
                <a:solidFill>
                  <a:srgbClr val="3A3F44"/>
                </a:solidFill>
              </a:rPr>
              <a:t> na matrícula e no código</a:t>
            </a:r>
            <a:endParaRPr lang="en-US" sz="1300"/>
          </a:p>
        </p:txBody>
      </p:sp>
      <p:pic>
        <p:nvPicPr>
          <p:cNvPr id="1787218885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080760" y="2286000"/>
            <a:ext cx="182880" cy="182880"/>
          </a:xfrm>
          <a:prstGeom prst="rect">
            <a:avLst/>
          </a:prstGeom>
        </p:spPr>
      </p:pic>
      <p:sp>
        <p:nvSpPr>
          <p:cNvPr id="203136575" name="Text 10"/>
          <p:cNvSpPr txBox="1"/>
          <p:nvPr/>
        </p:nvSpPr>
        <p:spPr bwMode="auto">
          <a:xfrm>
            <a:off x="6382512" y="22128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null=True</a:t>
            </a:r>
            <a:r>
              <a:rPr lang="en-US" sz="1300">
                <a:solidFill>
                  <a:srgbClr val="3A3F44"/>
                </a:solidFill>
              </a:rPr>
              <a:t> só em data e número</a:t>
            </a:r>
            <a:endParaRPr lang="en-US" sz="1300"/>
          </a:p>
        </p:txBody>
      </p:sp>
      <p:pic>
        <p:nvPicPr>
          <p:cNvPr id="1120582854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080760" y="2724911"/>
            <a:ext cx="182880" cy="182880"/>
          </a:xfrm>
          <a:prstGeom prst="rect">
            <a:avLst/>
          </a:prstGeom>
        </p:spPr>
      </p:pic>
      <p:sp>
        <p:nvSpPr>
          <p:cNvPr id="380204606" name="Text 11"/>
          <p:cNvSpPr txBox="1"/>
          <p:nvPr/>
        </p:nvSpPr>
        <p:spPr bwMode="auto">
          <a:xfrm>
            <a:off x="6382512" y="265176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PROTECT</a:t>
            </a:r>
            <a:r>
              <a:rPr lang="en-US" sz="1300">
                <a:solidFill>
                  <a:srgbClr val="3A3F44"/>
                </a:solidFill>
              </a:rPr>
              <a:t> nas duas chaves estrangeiras</a:t>
            </a:r>
            <a:endParaRPr lang="en-US" sz="1300"/>
          </a:p>
        </p:txBody>
      </p:sp>
      <p:pic>
        <p:nvPicPr>
          <p:cNvPr id="1294858907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6080760" y="3163824"/>
            <a:ext cx="182880" cy="182880"/>
          </a:xfrm>
          <a:prstGeom prst="rect">
            <a:avLst/>
          </a:prstGeom>
        </p:spPr>
      </p:pic>
      <p:sp>
        <p:nvSpPr>
          <p:cNvPr id="161463981" name="Text 12"/>
          <p:cNvSpPr txBox="1"/>
          <p:nvPr/>
        </p:nvSpPr>
        <p:spPr bwMode="auto">
          <a:xfrm>
            <a:off x="6382512" y="309067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UniqueConstraint</a:t>
            </a:r>
            <a:r>
              <a:rPr lang="en-US" sz="1300">
                <a:solidFill>
                  <a:srgbClr val="3A3F44"/>
                </a:solidFill>
              </a:rPr>
              <a:t> no </a:t>
            </a: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Meta</a:t>
            </a:r>
            <a:endParaRPr lang="en-US" sz="1300"/>
          </a:p>
        </p:txBody>
      </p:sp>
      <p:pic>
        <p:nvPicPr>
          <p:cNvPr id="483766886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6080760" y="3602735"/>
            <a:ext cx="182880" cy="182880"/>
          </a:xfrm>
          <a:prstGeom prst="rect">
            <a:avLst/>
          </a:prstGeom>
        </p:spPr>
      </p:pic>
      <p:sp>
        <p:nvSpPr>
          <p:cNvPr id="1317465740" name="Text 13"/>
          <p:cNvSpPr txBox="1"/>
          <p:nvPr/>
        </p:nvSpPr>
        <p:spPr bwMode="auto">
          <a:xfrm>
            <a:off x="6382512" y="3529584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ordering</a:t>
            </a:r>
            <a:r>
              <a:rPr lang="en-US" sz="1300">
                <a:solidFill>
                  <a:srgbClr val="3A3F44"/>
                </a:solidFill>
              </a:rPr>
              <a:t> descomentado nos três</a:t>
            </a:r>
            <a:endParaRPr lang="en-US" sz="1300"/>
          </a:p>
        </p:txBody>
      </p:sp>
      <p:pic>
        <p:nvPicPr>
          <p:cNvPr id="347152806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6080760" y="4041648"/>
            <a:ext cx="182880" cy="182880"/>
          </a:xfrm>
          <a:prstGeom prst="rect">
            <a:avLst/>
          </a:prstGeom>
        </p:spPr>
      </p:pic>
      <p:sp>
        <p:nvSpPr>
          <p:cNvPr id="524688957" name="Text 14"/>
          <p:cNvSpPr txBox="1"/>
          <p:nvPr/>
        </p:nvSpPr>
        <p:spPr bwMode="auto">
          <a:xfrm>
            <a:off x="6382512" y="396849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__str__</a:t>
            </a:r>
            <a:r>
              <a:rPr lang="en-US" sz="1300">
                <a:solidFill>
                  <a:srgbClr val="3A3F44"/>
                </a:solidFill>
              </a:rPr>
              <a:t> legível nos três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005485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Ache o erro: a média</a:t>
            </a:r>
            <a:endParaRPr lang="en-US" sz="3200"/>
          </a:p>
        </p:txBody>
      </p:sp>
      <p:sp>
        <p:nvSpPr>
          <p:cNvPr id="27754814" name="codigo fundo"/>
          <p:cNvSpPr/>
          <p:nvPr/>
        </p:nvSpPr>
        <p:spPr bwMode="auto">
          <a:xfrm>
            <a:off x="768096" y="1280160"/>
            <a:ext cx="4480560" cy="2057400"/>
          </a:xfrm>
          <a:prstGeom prst="roundRect">
            <a:avLst>
              <a:gd name="adj" fmla="val 3556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350010028" name="Shape 2"/>
          <p:cNvSpPr/>
          <p:nvPr/>
        </p:nvSpPr>
        <p:spPr bwMode="auto">
          <a:xfrm>
            <a:off x="932688" y="139903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782329249" name="Shape 3"/>
          <p:cNvSpPr/>
          <p:nvPr/>
        </p:nvSpPr>
        <p:spPr bwMode="auto">
          <a:xfrm>
            <a:off x="1078992" y="139903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755944968" name="Shape 4"/>
          <p:cNvSpPr/>
          <p:nvPr/>
        </p:nvSpPr>
        <p:spPr bwMode="auto">
          <a:xfrm>
            <a:off x="1225296" y="139903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286509401" name="Text 5"/>
          <p:cNvSpPr txBox="1"/>
          <p:nvPr/>
        </p:nvSpPr>
        <p:spPr bwMode="auto">
          <a:xfrm>
            <a:off x="1426464" y="1335024"/>
            <a:ext cx="3657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academico/models.py · TODO 3c</a:t>
            </a:r>
            <a:endParaRPr lang="en-US" sz="900"/>
          </a:p>
        </p:txBody>
      </p:sp>
      <p:sp>
        <p:nvSpPr>
          <p:cNvPr id="2146265869" name="codigo texto"/>
          <p:cNvSpPr txBox="1"/>
          <p:nvPr/>
        </p:nvSpPr>
        <p:spPr bwMode="auto">
          <a:xfrm>
            <a:off x="987552" y="1664208"/>
            <a:ext cx="4114800" cy="15819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C3A6FF"/>
                </a:solidFill>
                <a:latin typeface="Courier New"/>
                <a:ea typeface="Courier New"/>
                <a:cs typeface="Courier New"/>
              </a:rPr>
              <a:t>@property</a:t>
            </a:r>
            <a:endParaRPr lang="en-US" sz="1300"/>
          </a:p>
          <a:p>
            <a:pPr marL="0" indent="0">
              <a:buNone/>
              <a:defRPr/>
            </a:pPr>
            <a:r>
              <a:rPr lang="en-US" sz="13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def</a:t>
            </a:r>
            <a:r>
              <a:rPr lang="en-US" sz="13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media(self):</a:t>
            </a:r>
            <a:endParaRPr lang="en-US" sz="1300"/>
          </a:p>
          <a:p>
            <a:pPr marL="0" indent="0">
              <a:buNone/>
              <a:defRPr/>
            </a:pPr>
            <a:r>
              <a:rPr lang="en-US" sz="13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en-US" sz="13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lang="en-US" sz="13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3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not</a:t>
            </a:r>
            <a:r>
              <a:rPr lang="en-US" sz="13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self.nota1 </a:t>
            </a:r>
            <a:r>
              <a:rPr lang="en-US" sz="13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or</a:t>
            </a:r>
            <a:r>
              <a:rPr lang="en-US" sz="13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3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not</a:t>
            </a:r>
            <a:r>
              <a:rPr lang="en-US" sz="13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self.nota2:</a:t>
            </a:r>
            <a:endParaRPr lang="en-US" sz="1300"/>
          </a:p>
          <a:p>
            <a:pPr marL="0" indent="0">
              <a:buNone/>
              <a:defRPr/>
            </a:pPr>
            <a:r>
              <a:rPr lang="en-US" sz="13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en-US" sz="13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en-US" sz="13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en-US" sz="13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None</a:t>
            </a:r>
            <a:endParaRPr lang="en-US" sz="1300"/>
          </a:p>
          <a:p>
            <a:pPr marL="0" indent="0">
              <a:buNone/>
              <a:defRPr/>
            </a:pPr>
            <a:r>
              <a:rPr lang="en-US" sz="13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en-US" sz="13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en-US" sz="13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(self.nota1 + self.nota2) / </a:t>
            </a:r>
            <a:r>
              <a:rPr lang="en-US" sz="1300">
                <a:solidFill>
                  <a:srgbClr val="F78C6C"/>
                </a:solidFill>
                <a:latin typeface="Courier New"/>
                <a:ea typeface="Courier New"/>
                <a:cs typeface="Courier New"/>
              </a:rPr>
              <a:t>2</a:t>
            </a:r>
            <a:endParaRPr lang="en-US" sz="1300"/>
          </a:p>
        </p:txBody>
      </p:sp>
      <p:sp>
        <p:nvSpPr>
          <p:cNvPr id="1748927899" name="pergunta"/>
          <p:cNvSpPr/>
          <p:nvPr/>
        </p:nvSpPr>
        <p:spPr bwMode="auto">
          <a:xfrm>
            <a:off x="5486400" y="1280160"/>
            <a:ext cx="2889504" cy="2057400"/>
          </a:xfrm>
          <a:prstGeom prst="roundRect">
            <a:avLst>
              <a:gd name="adj" fmla="val 266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648629285" name="Shape 8"/>
          <p:cNvSpPr/>
          <p:nvPr/>
        </p:nvSpPr>
        <p:spPr bwMode="auto">
          <a:xfrm>
            <a:off x="5687568" y="146304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066047385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810463" y="1585935"/>
            <a:ext cx="266273" cy="266273"/>
          </a:xfrm>
          <a:prstGeom prst="rect">
            <a:avLst/>
          </a:prstGeom>
        </p:spPr>
      </p:pic>
      <p:sp>
        <p:nvSpPr>
          <p:cNvPr id="493482966" name="Text 9"/>
          <p:cNvSpPr txBox="1"/>
          <p:nvPr/>
        </p:nvSpPr>
        <p:spPr bwMode="auto">
          <a:xfrm>
            <a:off x="6355080" y="14630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397B"/>
                </a:solidFill>
              </a:rPr>
              <a:t>A turma decide</a:t>
            </a:r>
            <a:endParaRPr lang="en-US" sz="1600"/>
          </a:p>
        </p:txBody>
      </p:sp>
      <p:sp>
        <p:nvSpPr>
          <p:cNvPr id="663995282" name="Text 10"/>
          <p:cNvSpPr txBox="1"/>
          <p:nvPr/>
        </p:nvSpPr>
        <p:spPr bwMode="auto">
          <a:xfrm>
            <a:off x="5687568" y="2148840"/>
            <a:ext cx="2560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Um aluno tirou </a:t>
            </a:r>
            <a:r>
              <a:rPr lang="en-US" sz="1400" b="1">
                <a:solidFill>
                  <a:srgbClr val="3A3F44"/>
                </a:solidFill>
              </a:rPr>
              <a:t>0</a:t>
            </a:r>
            <a:r>
              <a:rPr lang="en-US" sz="1400">
                <a:solidFill>
                  <a:srgbClr val="3A3F44"/>
                </a:solidFill>
              </a:rPr>
              <a:t> na primeira prova e </a:t>
            </a:r>
            <a:r>
              <a:rPr lang="en-US" sz="1400" b="1">
                <a:solidFill>
                  <a:srgbClr val="3A3F44"/>
                </a:solidFill>
              </a:rPr>
              <a:t>8</a:t>
            </a:r>
            <a:r>
              <a:rPr lang="en-US" sz="1400">
                <a:solidFill>
                  <a:srgbClr val="3A3F44"/>
                </a:solidFill>
              </a:rPr>
              <a:t> na segunda.</a:t>
            </a:r>
            <a:endParaRPr lang="en-US" sz="1400"/>
          </a:p>
          <a:p>
            <a:pPr marL="0" indent="0">
              <a:spcAft>
                <a:spcPts val="600"/>
              </a:spcAft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Que média aparece na lista?</a:t>
            </a:r>
            <a:endParaRPr lang="en-US" sz="1400"/>
          </a:p>
        </p:txBody>
      </p:sp>
      <p:sp>
        <p:nvSpPr>
          <p:cNvPr id="525753757" name="destaque"/>
          <p:cNvSpPr/>
          <p:nvPr/>
        </p:nvSpPr>
        <p:spPr bwMode="auto">
          <a:xfrm>
            <a:off x="768096" y="3657600"/>
            <a:ext cx="7607808" cy="731520"/>
          </a:xfrm>
          <a:prstGeom prst="roundRect">
            <a:avLst>
              <a:gd name="adj" fmla="val 7500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986965737" name="Shape 12"/>
          <p:cNvSpPr/>
          <p:nvPr/>
        </p:nvSpPr>
        <p:spPr bwMode="auto">
          <a:xfrm>
            <a:off x="950976" y="3794760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02920938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060704" y="3904488"/>
            <a:ext cx="237744" cy="237744"/>
          </a:xfrm>
          <a:prstGeom prst="rect">
            <a:avLst/>
          </a:prstGeom>
        </p:spPr>
      </p:pic>
      <p:sp>
        <p:nvSpPr>
          <p:cNvPr id="1348116964" name="Text 13"/>
          <p:cNvSpPr txBox="1"/>
          <p:nvPr/>
        </p:nvSpPr>
        <p:spPr bwMode="auto">
          <a:xfrm>
            <a:off x="1572768" y="3657600"/>
            <a:ext cx="66476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0397B"/>
                </a:solidFill>
              </a:rPr>
              <a:t>Por que importa: </a:t>
            </a:r>
            <a:r>
              <a:rPr lang="en-US" sz="1500">
                <a:solidFill>
                  <a:srgbClr val="3A3F44"/>
                </a:solidFill>
              </a:rPr>
              <a:t>zero é uma nota válida. Uma regra de negócio errada no modelo vale para todas as telas, o admin e o boletim.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6807003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Resposta: a média</a:t>
            </a:r>
            <a:endParaRPr lang="en-US" sz="3200"/>
          </a:p>
        </p:txBody>
      </p:sp>
      <p:sp>
        <p:nvSpPr>
          <p:cNvPr id="1385602904" name="codigo fundo"/>
          <p:cNvSpPr/>
          <p:nvPr/>
        </p:nvSpPr>
        <p:spPr bwMode="auto">
          <a:xfrm>
            <a:off x="768096" y="1280160"/>
            <a:ext cx="4480560" cy="2057400"/>
          </a:xfrm>
          <a:prstGeom prst="roundRect">
            <a:avLst>
              <a:gd name="adj" fmla="val 4651"/>
            </a:avLst>
          </a:prstGeom>
          <a:solidFill>
            <a:srgbClr val="1E2433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79572132" name="forma"/>
          <p:cNvSpPr/>
          <p:nvPr/>
        </p:nvSpPr>
        <p:spPr bwMode="auto">
          <a:xfrm>
            <a:off x="932688" y="1399032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470010641" name="forma"/>
          <p:cNvSpPr/>
          <p:nvPr/>
        </p:nvSpPr>
        <p:spPr bwMode="auto">
          <a:xfrm>
            <a:off x="1078992" y="1399032"/>
            <a:ext cx="91440" cy="9144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007771018" name="forma"/>
          <p:cNvSpPr/>
          <p:nvPr/>
        </p:nvSpPr>
        <p:spPr bwMode="auto">
          <a:xfrm>
            <a:off x="1225296" y="1399032"/>
            <a:ext cx="91440" cy="9144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092964038" name="codigo rotulo"/>
          <p:cNvSpPr txBox="1"/>
          <p:nvPr/>
        </p:nvSpPr>
        <p:spPr bwMode="auto">
          <a:xfrm>
            <a:off x="1426464" y="1335024"/>
            <a:ext cx="365760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  <a:defRPr/>
            </a:pPr>
            <a:r>
              <a:rPr lang="pt-BR" sz="9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academico/models.py · TODO 3c · corrigido</a:t>
            </a:r>
            <a:endParaRPr lang="pt-BR" sz="900"/>
          </a:p>
        </p:txBody>
      </p:sp>
      <p:sp>
        <p:nvSpPr>
          <p:cNvPr id="1352255145" name="codigo texto"/>
          <p:cNvSpPr txBox="1"/>
          <p:nvPr/>
        </p:nvSpPr>
        <p:spPr bwMode="auto">
          <a:xfrm>
            <a:off x="987552" y="1664208"/>
            <a:ext cx="4114800" cy="16002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marL="0" indent="0">
              <a:buNone/>
              <a:defRPr/>
            </a:pPr>
            <a:r>
              <a:rPr lang="pt-BR" sz="1100">
                <a:solidFill>
                  <a:srgbClr val="C3A6FF"/>
                </a:solidFill>
                <a:latin typeface="Courier New"/>
                <a:ea typeface="Courier New"/>
                <a:cs typeface="Courier New"/>
              </a:rPr>
              <a:t>@property</a:t>
            </a:r>
            <a:endParaRPr lang="pt-BR" sz="1100"/>
          </a:p>
          <a:p>
            <a:pPr marL="0" indent="0">
              <a:buNone/>
              <a:defRPr/>
            </a:pPr>
            <a:r>
              <a:rPr lang="pt-BR" sz="11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def</a:t>
            </a:r>
            <a:r>
              <a:rPr lang="pt-BR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media(self):</a:t>
            </a:r>
            <a:endParaRPr lang="pt-BR" sz="1100"/>
          </a:p>
          <a:p>
            <a:pPr marL="0" indent="0">
              <a:buNone/>
              <a:defRPr/>
            </a:pPr>
            <a:r>
              <a:rPr lang="pt-BR" sz="1100">
                <a:solidFill>
                  <a:srgbClr val="7EE787"/>
                </a:solidFill>
                <a:latin typeface="Courier New"/>
                <a:ea typeface="Courier New"/>
                <a:cs typeface="Courier New"/>
              </a:rPr>
              <a:t>    if self.nota1 is None or self.nota2 is None:</a:t>
            </a:r>
            <a:endParaRPr lang="pt-BR" sz="1100"/>
          </a:p>
          <a:p>
            <a:pPr marL="0" indent="0">
              <a:buNone/>
              <a:defRPr/>
            </a:pPr>
            <a:r>
              <a:rPr lang="pt-BR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pt-BR" sz="11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pt-BR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lang="pt-BR" sz="11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None</a:t>
            </a:r>
            <a:endParaRPr lang="pt-BR" sz="1100"/>
          </a:p>
          <a:p>
            <a:pPr marL="0" indent="0">
              <a:buNone/>
              <a:defRPr/>
            </a:pPr>
            <a:r>
              <a:rPr lang="pt-BR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pt-BR" sz="11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pt-BR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(self.nota1 + self.nota2) / </a:t>
            </a:r>
            <a:r>
              <a:rPr lang="pt-BR" sz="1100">
                <a:solidFill>
                  <a:srgbClr val="F78C6C"/>
                </a:solidFill>
                <a:latin typeface="Courier New"/>
                <a:ea typeface="Courier New"/>
                <a:cs typeface="Courier New"/>
              </a:rPr>
              <a:t>2</a:t>
            </a:r>
            <a:endParaRPr lang="pt-BR" sz="1100"/>
          </a:p>
        </p:txBody>
      </p:sp>
      <p:sp>
        <p:nvSpPr>
          <p:cNvPr id="1864955906" name="painel"/>
          <p:cNvSpPr/>
          <p:nvPr/>
        </p:nvSpPr>
        <p:spPr bwMode="auto">
          <a:xfrm>
            <a:off x="5486400" y="1280160"/>
            <a:ext cx="2889504" cy="2057400"/>
          </a:xfrm>
          <a:prstGeom prst="roundRect">
            <a:avLst>
              <a:gd name="adj" fmla="val 4651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2004084715" name="texto"/>
          <p:cNvSpPr txBox="1"/>
          <p:nvPr/>
        </p:nvSpPr>
        <p:spPr bwMode="auto">
          <a:xfrm>
            <a:off x="5669280" y="1426464"/>
            <a:ext cx="2523744" cy="17647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pt-BR" sz="1600" b="1">
                <a:solidFill>
                  <a:srgbClr val="00397B"/>
                </a:solidFill>
              </a:rPr>
              <a:t>A média some</a:t>
            </a:r>
            <a:endParaRPr lang="pt-BR" sz="16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pt-BR" sz="1300">
                <a:solidFill>
                  <a:srgbClr val="3A3F44"/>
                </a:solidFill>
              </a:rPr>
              <a:t>Com 0 e 8, a lista mostra a célula </a:t>
            </a:r>
            <a:r>
              <a:rPr lang="pt-BR" sz="1300" b="1">
                <a:solidFill>
                  <a:srgbClr val="3A3F44"/>
                </a:solidFill>
              </a:rPr>
              <a:t>vazia</a:t>
            </a:r>
            <a:r>
              <a:rPr lang="pt-BR" sz="1300">
                <a:solidFill>
                  <a:srgbClr val="3A3F44"/>
                </a:solidFill>
              </a:rPr>
              <a:t> (</a:t>
            </a:r>
            <a:r>
              <a:rPr lang="pt-BR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None</a:t>
            </a:r>
            <a:r>
              <a:rPr lang="pt-BR" sz="1300">
                <a:solidFill>
                  <a:srgbClr val="3A3F44"/>
                </a:solidFill>
              </a:rPr>
              <a:t>), e não </a:t>
            </a:r>
            <a:r>
              <a:rPr lang="pt-BR" sz="1300" b="1">
                <a:solidFill>
                  <a:srgbClr val="3A3F44"/>
                </a:solidFill>
              </a:rPr>
              <a:t>4</a:t>
            </a:r>
            <a:r>
              <a:rPr lang="pt-BR" sz="1300">
                <a:solidFill>
                  <a:srgbClr val="3A3F44"/>
                </a:solidFill>
              </a:rPr>
              <a:t>.</a:t>
            </a:r>
            <a:endParaRPr lang="pt-BR" sz="1300"/>
          </a:p>
          <a:p>
            <a:pPr marL="0" indent="0">
              <a:spcAft>
                <a:spcPts val="400"/>
              </a:spcAft>
              <a:buNone/>
              <a:defRPr/>
            </a:pPr>
            <a:r>
              <a:rPr lang="pt-BR" sz="1300">
                <a:solidFill>
                  <a:srgbClr val="3A3F44"/>
                </a:solidFill>
              </a:rPr>
              <a:t>Em Python, </a:t>
            </a:r>
            <a:r>
              <a:rPr lang="pt-BR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pt-BR" sz="1300">
                <a:solidFill>
                  <a:srgbClr val="3A3F44"/>
                </a:solidFill>
              </a:rPr>
              <a:t> é falso: </a:t>
            </a:r>
            <a:r>
              <a:rPr lang="pt-BR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not self.nota1</a:t>
            </a:r>
            <a:r>
              <a:rPr lang="pt-BR" sz="1300">
                <a:solidFill>
                  <a:srgbClr val="3A3F44"/>
                </a:solidFill>
              </a:rPr>
              <a:t> dá </a:t>
            </a:r>
            <a:r>
              <a:rPr lang="pt-BR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True</a:t>
            </a:r>
            <a:r>
              <a:rPr lang="pt-BR" sz="1300">
                <a:solidFill>
                  <a:srgbClr val="3A3F44"/>
                </a:solidFill>
              </a:rPr>
              <a:t> para a nota zero.</a:t>
            </a:r>
            <a:endParaRPr lang="pt-BR" sz="1300"/>
          </a:p>
        </p:txBody>
      </p:sp>
      <p:sp>
        <p:nvSpPr>
          <p:cNvPr id="188005666" name="destaque"/>
          <p:cNvSpPr/>
          <p:nvPr/>
        </p:nvSpPr>
        <p:spPr bwMode="auto">
          <a:xfrm>
            <a:off x="768096" y="3657600"/>
            <a:ext cx="7607808" cy="731520"/>
          </a:xfrm>
          <a:prstGeom prst="roundRect">
            <a:avLst>
              <a:gd name="adj" fmla="val 4651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131202372" name="texto"/>
          <p:cNvSpPr txBox="1"/>
          <p:nvPr/>
        </p:nvSpPr>
        <p:spPr bwMode="auto">
          <a:xfrm>
            <a:off x="1042416" y="3657600"/>
            <a:ext cx="7059168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  <a:defRPr/>
            </a:pPr>
            <a:r>
              <a:rPr lang="pt-BR" sz="1400" b="1">
                <a:solidFill>
                  <a:srgbClr val="3A3F44"/>
                </a:solidFill>
              </a:rPr>
              <a:t>Correção:</a:t>
            </a:r>
            <a:r>
              <a:rPr lang="pt-BR" sz="1400">
                <a:solidFill>
                  <a:srgbClr val="3A3F44"/>
                </a:solidFill>
              </a:rPr>
              <a:t> comparar com </a:t>
            </a:r>
            <a:r>
              <a:rPr lang="pt-BR" sz="120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None</a:t>
            </a:r>
            <a:r>
              <a:rPr lang="pt-BR" sz="1400">
                <a:solidFill>
                  <a:srgbClr val="3A3F44"/>
                </a:solidFill>
              </a:rPr>
              <a:t> usando </a:t>
            </a:r>
            <a:r>
              <a:rPr lang="pt-BR" sz="120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is None</a:t>
            </a:r>
            <a:r>
              <a:rPr lang="pt-BR" sz="1400">
                <a:solidFill>
                  <a:srgbClr val="3A3F44"/>
                </a:solidFill>
              </a:rPr>
              <a:t>. Zero é nota; </a:t>
            </a:r>
            <a:r>
              <a:rPr lang="pt-BR" sz="120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None</a:t>
            </a:r>
            <a:r>
              <a:rPr lang="pt-BR" sz="1400">
                <a:solidFill>
                  <a:srgbClr val="3A3F44"/>
                </a:solidFill>
              </a:rPr>
              <a:t> é nota que ainda não existe.</a:t>
            </a:r>
            <a:endParaRPr lang="pt-BR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08117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Onde mora cada regra</a:t>
            </a:r>
            <a:endParaRPr lang="en-US" sz="3200"/>
          </a:p>
        </p:txBody>
      </p:sp>
      <p:sp>
        <p:nvSpPr>
          <p:cNvPr id="1228569355" name="camada View"/>
          <p:cNvSpPr/>
          <p:nvPr/>
        </p:nvSpPr>
        <p:spPr bwMode="auto">
          <a:xfrm>
            <a:off x="768096" y="1188720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54C8E1"/>
          </a:solidFill>
          <a:ln w="12700">
            <a:solidFill>
              <a:srgbClr val="54C8E1"/>
            </a:solidFill>
            <a:prstDash val="solid"/>
          </a:ln>
        </p:spPr>
      </p:sp>
      <p:sp>
        <p:nvSpPr>
          <p:cNvPr id="2117382257" name="Text 2"/>
          <p:cNvSpPr txBox="1"/>
          <p:nvPr/>
        </p:nvSpPr>
        <p:spPr bwMode="auto">
          <a:xfrm>
            <a:off x="768096" y="11887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00397B"/>
                </a:solidFill>
              </a:rPr>
              <a:t>View</a:t>
            </a:r>
            <a:endParaRPr lang="en-US" sz="1700"/>
          </a:p>
        </p:txBody>
      </p:sp>
      <p:sp>
        <p:nvSpPr>
          <p:cNvPr id="470362970" name="descricao View"/>
          <p:cNvSpPr/>
          <p:nvPr/>
        </p:nvSpPr>
        <p:spPr bwMode="auto">
          <a:xfrm>
            <a:off x="2743200" y="1188720"/>
            <a:ext cx="5632704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270677574" name="Text 4"/>
          <p:cNvSpPr txBox="1"/>
          <p:nvPr/>
        </p:nvSpPr>
        <p:spPr bwMode="auto">
          <a:xfrm>
            <a:off x="2926080" y="118872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@login_required</a:t>
            </a:r>
            <a:r>
              <a:rPr lang="en-US" sz="1400">
                <a:solidFill>
                  <a:srgbClr val="3A3F44"/>
                </a:solidFill>
              </a:rPr>
              <a:t>,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is_valid()</a:t>
            </a:r>
            <a:r>
              <a:rPr lang="en-US" sz="1400">
                <a:solidFill>
                  <a:srgbClr val="3A3F44"/>
                </a:solidFill>
              </a:rPr>
              <a:t>,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redirect</a:t>
            </a:r>
            <a:r>
              <a:rPr lang="en-US" sz="1400">
                <a:solidFill>
                  <a:srgbClr val="3A3F44"/>
                </a:solidFill>
              </a:rPr>
              <a:t>. Orquestra o fluxo. Não valida dado e não monta HTML.</a:t>
            </a:r>
            <a:endParaRPr lang="en-US" sz="1400"/>
          </a:p>
        </p:txBody>
      </p:sp>
      <p:sp>
        <p:nvSpPr>
          <p:cNvPr id="1449455271" name="camada Formulário"/>
          <p:cNvSpPr/>
          <p:nvPr/>
        </p:nvSpPr>
        <p:spPr bwMode="auto">
          <a:xfrm>
            <a:off x="768096" y="1975104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691384425" name="Text 6"/>
          <p:cNvSpPr txBox="1"/>
          <p:nvPr/>
        </p:nvSpPr>
        <p:spPr bwMode="auto">
          <a:xfrm>
            <a:off x="768096" y="197510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FFFFFF"/>
                </a:solidFill>
              </a:rPr>
              <a:t>Formulário</a:t>
            </a:r>
            <a:endParaRPr lang="en-US" sz="1700"/>
          </a:p>
        </p:txBody>
      </p:sp>
      <p:sp>
        <p:nvSpPr>
          <p:cNvPr id="643518303" name="descricao Formulário"/>
          <p:cNvSpPr/>
          <p:nvPr/>
        </p:nvSpPr>
        <p:spPr bwMode="auto">
          <a:xfrm>
            <a:off x="2743200" y="1975104"/>
            <a:ext cx="5632704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501737075" name="Text 8"/>
          <p:cNvSpPr txBox="1"/>
          <p:nvPr/>
        </p:nvSpPr>
        <p:spPr bwMode="auto">
          <a:xfrm>
            <a:off x="2926080" y="1975104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clean_&lt;campo&gt;</a:t>
            </a:r>
            <a:r>
              <a:rPr lang="en-US" sz="1400">
                <a:solidFill>
                  <a:srgbClr val="3A3F44"/>
                </a:solidFill>
              </a:rPr>
              <a:t>,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error_messages</a:t>
            </a:r>
            <a:r>
              <a:rPr lang="en-US" sz="1400">
                <a:solidFill>
                  <a:srgbClr val="3A3F44"/>
                </a:solidFill>
              </a:rPr>
              <a:t>,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queryset</a:t>
            </a:r>
            <a:r>
              <a:rPr lang="en-US" sz="1400">
                <a:solidFill>
                  <a:srgbClr val="3A3F44"/>
                </a:solidFill>
              </a:rPr>
              <a:t>. Normaliza a entrada e traduz a regra em mensagem.</a:t>
            </a:r>
            <a:endParaRPr lang="en-US" sz="1400"/>
          </a:p>
        </p:txBody>
      </p:sp>
      <p:sp>
        <p:nvSpPr>
          <p:cNvPr id="943577917" name="camada Modelo"/>
          <p:cNvSpPr/>
          <p:nvPr/>
        </p:nvSpPr>
        <p:spPr bwMode="auto">
          <a:xfrm>
            <a:off x="768096" y="2761488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0B5E8A"/>
          </a:solidFill>
          <a:ln w="12700">
            <a:solidFill>
              <a:srgbClr val="0B5E8A"/>
            </a:solidFill>
            <a:prstDash val="solid"/>
          </a:ln>
        </p:spPr>
      </p:sp>
      <p:sp>
        <p:nvSpPr>
          <p:cNvPr id="1523328207" name="Text 10"/>
          <p:cNvSpPr txBox="1"/>
          <p:nvPr/>
        </p:nvSpPr>
        <p:spPr bwMode="auto">
          <a:xfrm>
            <a:off x="768096" y="276148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FFFFFF"/>
                </a:solidFill>
              </a:rPr>
              <a:t>Modelo</a:t>
            </a:r>
            <a:endParaRPr lang="en-US" sz="1700"/>
          </a:p>
        </p:txBody>
      </p:sp>
      <p:sp>
        <p:nvSpPr>
          <p:cNvPr id="577242887" name="descricao Modelo"/>
          <p:cNvSpPr/>
          <p:nvPr/>
        </p:nvSpPr>
        <p:spPr bwMode="auto">
          <a:xfrm>
            <a:off x="2743200" y="2761488"/>
            <a:ext cx="5632704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22231249" name="Text 12"/>
          <p:cNvSpPr txBox="1"/>
          <p:nvPr/>
        </p:nvSpPr>
        <p:spPr bwMode="auto">
          <a:xfrm>
            <a:off x="2926080" y="2761488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validators</a:t>
            </a:r>
            <a:r>
              <a:rPr lang="en-US" sz="1400">
                <a:solidFill>
                  <a:srgbClr val="3A3F44"/>
                </a:solidFill>
              </a:rPr>
              <a:t>,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on_delete</a:t>
            </a:r>
            <a:r>
              <a:rPr lang="en-US" sz="1400">
                <a:solidFill>
                  <a:srgbClr val="3A3F44"/>
                </a:solidFill>
              </a:rPr>
              <a:t>,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media</a:t>
            </a:r>
            <a:r>
              <a:rPr lang="en-US" sz="1400">
                <a:solidFill>
                  <a:srgbClr val="3A3F44"/>
                </a:solidFill>
              </a:rPr>
              <a:t>. A regra de negócio, válida em qualquer caminho: tela, admin, seed.</a:t>
            </a:r>
            <a:endParaRPr lang="en-US" sz="1400"/>
          </a:p>
        </p:txBody>
      </p:sp>
      <p:sp>
        <p:nvSpPr>
          <p:cNvPr id="480600474" name="camada Banco"/>
          <p:cNvSpPr/>
          <p:nvPr/>
        </p:nvSpPr>
        <p:spPr bwMode="auto">
          <a:xfrm>
            <a:off x="768096" y="3547872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00397B"/>
          </a:solidFill>
          <a:ln w="12700">
            <a:solidFill>
              <a:srgbClr val="00397B"/>
            </a:solidFill>
            <a:prstDash val="solid"/>
          </a:ln>
        </p:spPr>
      </p:sp>
      <p:sp>
        <p:nvSpPr>
          <p:cNvPr id="1035949543" name="Text 14"/>
          <p:cNvSpPr txBox="1"/>
          <p:nvPr/>
        </p:nvSpPr>
        <p:spPr bwMode="auto">
          <a:xfrm>
            <a:off x="768096" y="354787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700" b="1">
                <a:solidFill>
                  <a:srgbClr val="FFFFFF"/>
                </a:solidFill>
              </a:rPr>
              <a:t>Banco</a:t>
            </a:r>
            <a:endParaRPr lang="en-US" sz="1700"/>
          </a:p>
        </p:txBody>
      </p:sp>
      <p:sp>
        <p:nvSpPr>
          <p:cNvPr id="570278908" name="descricao Banco"/>
          <p:cNvSpPr/>
          <p:nvPr/>
        </p:nvSpPr>
        <p:spPr bwMode="auto">
          <a:xfrm>
            <a:off x="2743200" y="3547872"/>
            <a:ext cx="5632704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747697718" name="Text 16"/>
          <p:cNvSpPr txBox="1"/>
          <p:nvPr/>
        </p:nvSpPr>
        <p:spPr bwMode="auto">
          <a:xfrm>
            <a:off x="2926080" y="3547872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UNIQUE</a:t>
            </a:r>
            <a:r>
              <a:rPr lang="en-US" sz="1400">
                <a:solidFill>
                  <a:srgbClr val="3A3F44"/>
                </a:solidFill>
              </a:rPr>
              <a:t>,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FOREIGN KEY</a:t>
            </a:r>
            <a:r>
              <a:rPr lang="en-US" sz="1400">
                <a:solidFill>
                  <a:srgbClr val="3A3F44"/>
                </a:solidFill>
              </a:rPr>
              <a:t>,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NOT NULL</a:t>
            </a:r>
            <a:r>
              <a:rPr lang="en-US" sz="1400">
                <a:solidFill>
                  <a:srgbClr val="3A3F44"/>
                </a:solidFill>
              </a:rPr>
              <a:t>. A última barreira: vale até para quem grava pelo shell.</a:t>
            </a:r>
            <a:endParaRPr lang="en-US" sz="1400"/>
          </a:p>
        </p:txBody>
      </p:sp>
      <p:sp>
        <p:nvSpPr>
          <p:cNvPr id="368089709" name="Text 17"/>
          <p:cNvSpPr txBox="1"/>
          <p:nvPr/>
        </p:nvSpPr>
        <p:spPr bwMode="auto">
          <a:xfrm>
            <a:off x="768096" y="4416552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i="1">
                <a:solidFill>
                  <a:srgbClr val="1185AA"/>
                </a:solidFill>
              </a:rPr>
              <a:t>Integridade mora no modelo e no banco. Mensagem mora no formulário.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9611018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Cada regra no seu lugar</a:t>
            </a:r>
            <a:endParaRPr lang="en-US" sz="3200"/>
          </a:p>
        </p:txBody>
      </p:sp>
      <p:graphicFrame>
        <p:nvGraphicFramePr>
          <p:cNvPr id="1843565911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768096" y="1188720"/>
          <a:ext cx="7607808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057400"/>
                <a:gridCol w="2651760"/>
                <a:gridCol w="2898648"/>
              </a:tblGrid>
              <a:tr h="42976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Regra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00397B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Onde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00397B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Por quê ali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00397B"/>
                    </a:solidFill>
                  </a:tcPr>
                </a:tc>
              </a:tr>
              <a:tr h="42976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Matrícula única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unique=True</a:t>
                      </a: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 + mensagem no form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Duas abas podem salvar juntas; só o banco garante.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Nota entre 0 e 10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validators</a:t>
                      </a: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 no modelo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Vale também para o admin e o shell.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  <a:tr h="42976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Carga horária positiva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modelo + </a:t>
                      </a: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clean_carga_horaria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Integridade no modelo, mensagem amigável no form.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Código em maiúsculas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clean_codigo</a:t>
                      </a: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 no form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É normalização: “ara0095 ” vira “ARA0095”.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  <a:tr h="42976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Só aluno ativo se inscreve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queryset</a:t>
                      </a: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 no </a:t>
                      </a: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InscricaoForm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Melhor esconder a opção do que aceitar e reclamar.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Aluno com notas não some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on_delete=PROTECT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O banco recusa destruir o histórico.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427843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Formulário que valida e normaliza</a:t>
            </a:r>
            <a:endParaRPr lang="en-US" sz="3200"/>
          </a:p>
        </p:txBody>
      </p:sp>
      <p:sp>
        <p:nvSpPr>
          <p:cNvPr id="434911727" name="codigo fundo"/>
          <p:cNvSpPr/>
          <p:nvPr/>
        </p:nvSpPr>
        <p:spPr bwMode="auto">
          <a:xfrm>
            <a:off x="768096" y="1188720"/>
            <a:ext cx="4709160" cy="3429000"/>
          </a:xfrm>
          <a:prstGeom prst="roundRect">
            <a:avLst>
              <a:gd name="adj" fmla="val 2133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1988357110" name="Shape 2"/>
          <p:cNvSpPr/>
          <p:nvPr/>
        </p:nvSpPr>
        <p:spPr bwMode="auto">
          <a:xfrm>
            <a:off x="932688" y="130759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372861511" name="Shape 3"/>
          <p:cNvSpPr/>
          <p:nvPr/>
        </p:nvSpPr>
        <p:spPr bwMode="auto">
          <a:xfrm>
            <a:off x="1078992" y="130759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468972925" name="Shape 4"/>
          <p:cNvSpPr/>
          <p:nvPr/>
        </p:nvSpPr>
        <p:spPr bwMode="auto">
          <a:xfrm>
            <a:off x="1225296" y="130759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042680287" name="Text 5"/>
          <p:cNvSpPr txBox="1"/>
          <p:nvPr/>
        </p:nvSpPr>
        <p:spPr bwMode="auto">
          <a:xfrm>
            <a:off x="1426464" y="1243584"/>
            <a:ext cx="3886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academico/forms.py · TODO 5</a:t>
            </a:r>
            <a:endParaRPr lang="en-US" sz="900"/>
          </a:p>
        </p:txBody>
      </p:sp>
      <p:sp>
        <p:nvSpPr>
          <p:cNvPr id="24220673" name="codigo texto"/>
          <p:cNvSpPr txBox="1"/>
          <p:nvPr/>
        </p:nvSpPr>
        <p:spPr bwMode="auto">
          <a:xfrm>
            <a:off x="987552" y="1572768"/>
            <a:ext cx="4343400" cy="29535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class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DisciplinaForm(BootstrapMixin, forms.ModelForm):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class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Meta: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model = Disciplina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fields = [</a:t>
            </a:r>
            <a:r>
              <a:rPr lang="en-US" sz="105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"codigo"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lang="en-US" sz="105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"nome"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,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          </a:t>
            </a:r>
            <a:r>
              <a:rPr lang="en-US" sz="105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"carga_horaria"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, </a:t>
            </a:r>
            <a:r>
              <a:rPr lang="en-US" sz="105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"periodo"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]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def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clean_codigo(self):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codigo = self.cleaned_data[</a:t>
            </a:r>
            <a:r>
              <a:rPr lang="en-US" sz="105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"codigo"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]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codigo.strip().upper()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def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clean_carga_horaria(self):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ch = self.cleaned_data[</a:t>
            </a:r>
            <a:r>
              <a:rPr lang="en-US" sz="105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"carga_horaria"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]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ch &lt;= </a:t>
            </a:r>
            <a:r>
              <a:rPr lang="en-US" sz="1050">
                <a:solidFill>
                  <a:srgbClr val="F78C6C"/>
                </a:solidFill>
                <a:latin typeface="Courier New"/>
                <a:ea typeface="Courier New"/>
                <a:cs typeface="Courier New"/>
              </a:rPr>
              <a:t>0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: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raise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forms.ValidationError(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        </a:t>
            </a:r>
            <a:r>
              <a:rPr lang="en-US" sz="105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"Informe uma carga horária positiva."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)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ch</a:t>
            </a:r>
            <a:endParaRPr lang="en-US" sz="1050"/>
          </a:p>
        </p:txBody>
      </p:sp>
      <p:sp>
        <p:nvSpPr>
          <p:cNvPr id="1620674204" name="nota 0"/>
          <p:cNvSpPr/>
          <p:nvPr/>
        </p:nvSpPr>
        <p:spPr bwMode="auto">
          <a:xfrm>
            <a:off x="5669280" y="1188720"/>
            <a:ext cx="2706624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887707640" name="Text 8"/>
          <p:cNvSpPr txBox="1"/>
          <p:nvPr/>
        </p:nvSpPr>
        <p:spPr bwMode="auto">
          <a:xfrm>
            <a:off x="5852160" y="12801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0397B"/>
                </a:solidFill>
              </a:rPr>
              <a:t>Roda dentro do </a:t>
            </a:r>
            <a:r>
              <a:rPr lang="en-US" sz="1250" b="1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is_valid()</a:t>
            </a:r>
            <a:endParaRPr lang="en-US" sz="1400"/>
          </a:p>
        </p:txBody>
      </p:sp>
      <p:sp>
        <p:nvSpPr>
          <p:cNvPr id="1935021666" name="Text 9"/>
          <p:cNvSpPr txBox="1"/>
          <p:nvPr/>
        </p:nvSpPr>
        <p:spPr bwMode="auto">
          <a:xfrm>
            <a:off x="5852160" y="1609344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3A3F44"/>
                </a:solidFill>
              </a:rPr>
              <a:t>Um </a:t>
            </a: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clean_&lt;campo&gt;</a:t>
            </a:r>
            <a:r>
              <a:rPr lang="en-US" sz="1300">
                <a:solidFill>
                  <a:srgbClr val="3A3F44"/>
                </a:solidFill>
              </a:rPr>
              <a:t> por campo, na ordem do </a:t>
            </a: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fields</a:t>
            </a:r>
            <a:r>
              <a:rPr lang="en-US" sz="1300">
                <a:solidFill>
                  <a:srgbClr val="3A3F44"/>
                </a:solidFill>
              </a:rPr>
              <a:t>.</a:t>
            </a:r>
            <a:endParaRPr lang="en-US" sz="1300"/>
          </a:p>
        </p:txBody>
      </p:sp>
      <p:sp>
        <p:nvSpPr>
          <p:cNvPr id="1868076698" name="nota 1"/>
          <p:cNvSpPr/>
          <p:nvPr/>
        </p:nvSpPr>
        <p:spPr bwMode="auto">
          <a:xfrm>
            <a:off x="5669280" y="2359152"/>
            <a:ext cx="2706624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959705733" name="Text 11"/>
          <p:cNvSpPr txBox="1"/>
          <p:nvPr/>
        </p:nvSpPr>
        <p:spPr bwMode="auto">
          <a:xfrm>
            <a:off x="5852160" y="24505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0397B"/>
                </a:solidFill>
              </a:rPr>
              <a:t>Sempre </a:t>
            </a:r>
            <a:r>
              <a:rPr lang="en-US" sz="1250" b="1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return</a:t>
            </a:r>
            <a:endParaRPr lang="en-US" sz="1400"/>
          </a:p>
        </p:txBody>
      </p:sp>
      <p:sp>
        <p:nvSpPr>
          <p:cNvPr id="1436369182" name="Text 12"/>
          <p:cNvSpPr txBox="1"/>
          <p:nvPr/>
        </p:nvSpPr>
        <p:spPr bwMode="auto">
          <a:xfrm>
            <a:off x="5852160" y="2779776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3A3F44"/>
                </a:solidFill>
              </a:rPr>
              <a:t>O que o método devolve é o valor que será salvo. Sem </a:t>
            </a: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en-US" sz="1300">
                <a:solidFill>
                  <a:srgbClr val="3A3F44"/>
                </a:solidFill>
              </a:rPr>
              <a:t>, vira </a:t>
            </a: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None</a:t>
            </a:r>
            <a:r>
              <a:rPr lang="en-US" sz="1300">
                <a:solidFill>
                  <a:srgbClr val="3A3F44"/>
                </a:solidFill>
              </a:rPr>
              <a:t>.</a:t>
            </a:r>
            <a:endParaRPr lang="en-US" sz="1300"/>
          </a:p>
        </p:txBody>
      </p:sp>
      <p:sp>
        <p:nvSpPr>
          <p:cNvPr id="986361260" name="nota 2"/>
          <p:cNvSpPr/>
          <p:nvPr/>
        </p:nvSpPr>
        <p:spPr bwMode="auto">
          <a:xfrm>
            <a:off x="5669280" y="3529584"/>
            <a:ext cx="2706624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487721137" name="Text 14"/>
          <p:cNvSpPr txBox="1"/>
          <p:nvPr/>
        </p:nvSpPr>
        <p:spPr bwMode="auto">
          <a:xfrm>
            <a:off x="5852160" y="362102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0397B"/>
                </a:solidFill>
              </a:rPr>
              <a:t>Erro aparece no campo</a:t>
            </a:r>
            <a:endParaRPr lang="en-US" sz="1400"/>
          </a:p>
        </p:txBody>
      </p:sp>
      <p:sp>
        <p:nvSpPr>
          <p:cNvPr id="1370805576" name="Text 15"/>
          <p:cNvSpPr txBox="1"/>
          <p:nvPr/>
        </p:nvSpPr>
        <p:spPr bwMode="auto">
          <a:xfrm>
            <a:off x="5852160" y="395020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ValidationError</a:t>
            </a:r>
            <a:r>
              <a:rPr lang="en-US" sz="1300">
                <a:solidFill>
                  <a:srgbClr val="3A3F44"/>
                </a:solidFill>
              </a:rPr>
              <a:t> volta a tela preenchida, com a mensagem embaixo do campo.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7488216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O padrão da view com formulário</a:t>
            </a:r>
            <a:endParaRPr lang="en-US" sz="3200"/>
          </a:p>
        </p:txBody>
      </p:sp>
      <p:sp>
        <p:nvSpPr>
          <p:cNvPr id="1409118389" name="Shape 1"/>
          <p:cNvSpPr/>
          <p:nvPr/>
        </p:nvSpPr>
        <p:spPr bwMode="auto">
          <a:xfrm>
            <a:off x="768096" y="1234440"/>
            <a:ext cx="822960" cy="713232"/>
          </a:xfrm>
          <a:prstGeom prst="roundRect">
            <a:avLst>
              <a:gd name="adj" fmla="val 7692"/>
            </a:avLst>
          </a:prstGeom>
          <a:solidFill>
            <a:srgbClr val="00397B"/>
          </a:solidFill>
          <a:ln w="12700">
            <a:solidFill>
              <a:srgbClr val="00397B"/>
            </a:solidFill>
            <a:prstDash val="solid"/>
          </a:ln>
        </p:spPr>
      </p:sp>
      <p:sp>
        <p:nvSpPr>
          <p:cNvPr id="406928230" name="Text 2"/>
          <p:cNvSpPr txBox="1"/>
          <p:nvPr/>
        </p:nvSpPr>
        <p:spPr bwMode="auto">
          <a:xfrm>
            <a:off x="768096" y="1234440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FFFFFF"/>
                </a:solidFill>
              </a:rPr>
              <a:t>GET</a:t>
            </a:r>
            <a:endParaRPr lang="en-US" sz="1500"/>
          </a:p>
        </p:txBody>
      </p:sp>
      <p:sp>
        <p:nvSpPr>
          <p:cNvPr id="798490184" name="Shape 3"/>
          <p:cNvSpPr/>
          <p:nvPr/>
        </p:nvSpPr>
        <p:spPr bwMode="auto">
          <a:xfrm>
            <a:off x="1865376" y="12344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946840071" name="Text 4"/>
          <p:cNvSpPr txBox="1"/>
          <p:nvPr/>
        </p:nvSpPr>
        <p:spPr bwMode="auto">
          <a:xfrm>
            <a:off x="1938528" y="1234440"/>
            <a:ext cx="16367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AlunoForm()</a:t>
            </a:r>
            <a:endParaRPr lang="en-US" sz="1300"/>
          </a:p>
          <a:p>
            <a:pPr marL="0" indent="0" algn="ctr">
              <a:buNone/>
              <a:defRPr/>
            </a:pPr>
            <a:r>
              <a:rPr lang="en-US" sz="1300">
                <a:solidFill>
                  <a:srgbClr val="00397B"/>
                </a:solidFill>
              </a:rPr>
              <a:t>formulário vazio</a:t>
            </a:r>
            <a:endParaRPr lang="en-US" sz="1300"/>
          </a:p>
        </p:txBody>
      </p:sp>
      <p:sp>
        <p:nvSpPr>
          <p:cNvPr id="208954924" name="Shape 5"/>
          <p:cNvSpPr/>
          <p:nvPr/>
        </p:nvSpPr>
        <p:spPr bwMode="auto">
          <a:xfrm>
            <a:off x="1609344" y="1591056"/>
            <a:ext cx="237744" cy="0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472887438" name="Shape 6"/>
          <p:cNvSpPr/>
          <p:nvPr/>
        </p:nvSpPr>
        <p:spPr bwMode="auto">
          <a:xfrm>
            <a:off x="3666744" y="1591056"/>
            <a:ext cx="237744" cy="0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254249651" name="Shape 7"/>
          <p:cNvSpPr/>
          <p:nvPr/>
        </p:nvSpPr>
        <p:spPr bwMode="auto">
          <a:xfrm>
            <a:off x="3922776" y="12344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639123503" name="Text 8"/>
          <p:cNvSpPr txBox="1"/>
          <p:nvPr/>
        </p:nvSpPr>
        <p:spPr bwMode="auto">
          <a:xfrm>
            <a:off x="3995928" y="1234440"/>
            <a:ext cx="1453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render(...)</a:t>
            </a:r>
            <a:endParaRPr lang="en-US" sz="1300"/>
          </a:p>
          <a:p>
            <a:pPr marL="0" indent="0" algn="ctr">
              <a:buNone/>
              <a:defRPr/>
            </a:pPr>
            <a:r>
              <a:rPr lang="en-US" sz="1300">
                <a:solidFill>
                  <a:srgbClr val="00397B"/>
                </a:solidFill>
              </a:rPr>
              <a:t>mostra a tela</a:t>
            </a:r>
            <a:endParaRPr lang="en-US" sz="1300"/>
          </a:p>
        </p:txBody>
      </p:sp>
      <p:sp>
        <p:nvSpPr>
          <p:cNvPr id="1487128533" name="Shape 9"/>
          <p:cNvSpPr/>
          <p:nvPr/>
        </p:nvSpPr>
        <p:spPr bwMode="auto">
          <a:xfrm>
            <a:off x="768096" y="2377440"/>
            <a:ext cx="822960" cy="713232"/>
          </a:xfrm>
          <a:prstGeom prst="roundRect">
            <a:avLst>
              <a:gd name="adj" fmla="val 7692"/>
            </a:avLst>
          </a:prstGeom>
          <a:solidFill>
            <a:srgbClr val="00397B"/>
          </a:solidFill>
          <a:ln w="12700">
            <a:solidFill>
              <a:srgbClr val="00397B"/>
            </a:solidFill>
            <a:prstDash val="solid"/>
          </a:ln>
        </p:spPr>
      </p:sp>
      <p:sp>
        <p:nvSpPr>
          <p:cNvPr id="1462179545" name="Text 10"/>
          <p:cNvSpPr txBox="1"/>
          <p:nvPr/>
        </p:nvSpPr>
        <p:spPr bwMode="auto">
          <a:xfrm>
            <a:off x="768096" y="2377440"/>
            <a:ext cx="822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500" b="1">
                <a:solidFill>
                  <a:srgbClr val="FFFFFF"/>
                </a:solidFill>
              </a:rPr>
              <a:t>POST</a:t>
            </a:r>
            <a:endParaRPr lang="en-US" sz="1500"/>
          </a:p>
        </p:txBody>
      </p:sp>
      <p:sp>
        <p:nvSpPr>
          <p:cNvPr id="403766925" name="Shape 11"/>
          <p:cNvSpPr/>
          <p:nvPr/>
        </p:nvSpPr>
        <p:spPr bwMode="auto">
          <a:xfrm>
            <a:off x="1865376" y="23774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479920702" name="Text 12"/>
          <p:cNvSpPr txBox="1"/>
          <p:nvPr/>
        </p:nvSpPr>
        <p:spPr bwMode="auto">
          <a:xfrm>
            <a:off x="1938528" y="2377440"/>
            <a:ext cx="1636776" cy="713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AlunoForm(</a:t>
            </a:r>
            <a:br>
              <a:rPr lang="en-US" sz="1150">
                <a:solidFill>
                  <a:srgbClr val="00397B"/>
                </a:solidFill>
              </a:rPr>
            </a:b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request.POST)</a:t>
            </a:r>
            <a:endParaRPr lang="en-US" sz="1150"/>
          </a:p>
        </p:txBody>
      </p:sp>
      <p:sp>
        <p:nvSpPr>
          <p:cNvPr id="499865798" name="Shape 13"/>
          <p:cNvSpPr/>
          <p:nvPr/>
        </p:nvSpPr>
        <p:spPr bwMode="auto">
          <a:xfrm>
            <a:off x="1609344" y="2734056"/>
            <a:ext cx="237744" cy="0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665389343" name="Shape 14"/>
          <p:cNvSpPr/>
          <p:nvPr/>
        </p:nvSpPr>
        <p:spPr bwMode="auto">
          <a:xfrm>
            <a:off x="3666744" y="2734056"/>
            <a:ext cx="237744" cy="0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537802878" name="Shape 15"/>
          <p:cNvSpPr/>
          <p:nvPr/>
        </p:nvSpPr>
        <p:spPr bwMode="auto">
          <a:xfrm>
            <a:off x="3922776" y="2377440"/>
            <a:ext cx="1600200" cy="713232"/>
          </a:xfrm>
          <a:prstGeom prst="roundRect">
            <a:avLst>
              <a:gd name="adj" fmla="val 7692"/>
            </a:avLst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560998066" name="Text 16"/>
          <p:cNvSpPr txBox="1"/>
          <p:nvPr/>
        </p:nvSpPr>
        <p:spPr bwMode="auto">
          <a:xfrm>
            <a:off x="3995928" y="2377440"/>
            <a:ext cx="1453896" cy="713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form.is_valid()</a:t>
            </a:r>
            <a:r>
              <a:rPr lang="en-US" sz="1150">
                <a:solidFill>
                  <a:srgbClr val="FFFFFF"/>
                </a:solidFill>
              </a:rPr>
              <a:t>?</a:t>
            </a:r>
            <a:endParaRPr lang="en-US" sz="1150"/>
          </a:p>
        </p:txBody>
      </p:sp>
      <p:sp>
        <p:nvSpPr>
          <p:cNvPr id="777412543" name="Shape 17"/>
          <p:cNvSpPr/>
          <p:nvPr/>
        </p:nvSpPr>
        <p:spPr bwMode="auto">
          <a:xfrm>
            <a:off x="5541264" y="2734056"/>
            <a:ext cx="237744" cy="0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1508534160" name="Text 18"/>
          <p:cNvSpPr txBox="1"/>
          <p:nvPr/>
        </p:nvSpPr>
        <p:spPr bwMode="auto">
          <a:xfrm>
            <a:off x="5559552" y="2432303"/>
            <a:ext cx="237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185AA"/>
                </a:solidFill>
              </a:rPr>
              <a:t>sim</a:t>
            </a:r>
            <a:endParaRPr lang="en-US" sz="1100"/>
          </a:p>
        </p:txBody>
      </p:sp>
      <p:sp>
        <p:nvSpPr>
          <p:cNvPr id="1720282071" name="Shape 19"/>
          <p:cNvSpPr/>
          <p:nvPr/>
        </p:nvSpPr>
        <p:spPr bwMode="auto">
          <a:xfrm>
            <a:off x="5797296" y="2377440"/>
            <a:ext cx="1280160" cy="713232"/>
          </a:xfrm>
          <a:prstGeom prst="roundRect">
            <a:avLst>
              <a:gd name="adj" fmla="val 7692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662692607" name="Text 20"/>
          <p:cNvSpPr txBox="1"/>
          <p:nvPr/>
        </p:nvSpPr>
        <p:spPr bwMode="auto">
          <a:xfrm>
            <a:off x="5870448" y="2377440"/>
            <a:ext cx="11338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save()</a:t>
            </a:r>
            <a:r>
              <a:rPr lang="en-US" sz="1300">
                <a:solidFill>
                  <a:srgbClr val="00397B"/>
                </a:solidFill>
              </a:rPr>
              <a:t> +</a:t>
            </a:r>
            <a:endParaRPr lang="en-US" sz="1300"/>
          </a:p>
          <a:p>
            <a:pPr marL="0" indent="0" algn="ctr">
              <a:buNone/>
              <a:defRPr/>
            </a:pPr>
            <a:r>
              <a:rPr lang="en-US" sz="1300">
                <a:solidFill>
                  <a:srgbClr val="00397B"/>
                </a:solidFill>
              </a:rPr>
              <a:t>mensagem</a:t>
            </a:r>
            <a:endParaRPr lang="en-US" sz="1300"/>
          </a:p>
        </p:txBody>
      </p:sp>
      <p:sp>
        <p:nvSpPr>
          <p:cNvPr id="854630708" name="Shape 21"/>
          <p:cNvSpPr/>
          <p:nvPr/>
        </p:nvSpPr>
        <p:spPr bwMode="auto">
          <a:xfrm>
            <a:off x="7095744" y="2734056"/>
            <a:ext cx="182880" cy="0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457884434" name="Shape 22"/>
          <p:cNvSpPr/>
          <p:nvPr/>
        </p:nvSpPr>
        <p:spPr bwMode="auto">
          <a:xfrm>
            <a:off x="7296912" y="2377440"/>
            <a:ext cx="1078992" cy="713232"/>
          </a:xfrm>
          <a:prstGeom prst="roundRect">
            <a:avLst>
              <a:gd name="adj" fmla="val 7692"/>
            </a:avLst>
          </a:prstGeom>
          <a:solidFill>
            <a:srgbClr val="00397B"/>
          </a:solidFill>
          <a:ln w="12700">
            <a:solidFill>
              <a:srgbClr val="00397B"/>
            </a:solidFill>
            <a:prstDash val="solid"/>
          </a:ln>
        </p:spPr>
      </p:sp>
      <p:sp>
        <p:nvSpPr>
          <p:cNvPr id="349333904" name="Text 23"/>
          <p:cNvSpPr txBox="1"/>
          <p:nvPr/>
        </p:nvSpPr>
        <p:spPr bwMode="auto">
          <a:xfrm>
            <a:off x="7370064" y="2377440"/>
            <a:ext cx="932688" cy="7132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300">
                <a:solidFill>
                  <a:srgbClr val="FFFFFF"/>
                </a:solidFill>
                <a:latin typeface="Courier New"/>
                <a:ea typeface="Courier New"/>
                <a:cs typeface="Courier New"/>
              </a:rPr>
              <a:t>redirect</a:t>
            </a:r>
            <a:endParaRPr lang="en-US" sz="1300"/>
          </a:p>
        </p:txBody>
      </p:sp>
      <p:sp>
        <p:nvSpPr>
          <p:cNvPr id="460266464" name="Shape 24"/>
          <p:cNvSpPr/>
          <p:nvPr/>
        </p:nvSpPr>
        <p:spPr bwMode="auto">
          <a:xfrm>
            <a:off x="4722876" y="3108960"/>
            <a:ext cx="0" cy="384048"/>
          </a:xfrm>
          <a:prstGeom prst="line">
            <a:avLst/>
          </a:prstGeom>
          <a:noFill/>
          <a:ln w="25400">
            <a:solidFill>
              <a:srgbClr val="1185AA"/>
            </a:solidFill>
            <a:prstDash val="solid"/>
            <a:tailEnd type="triangle"/>
          </a:ln>
        </p:spPr>
      </p:sp>
      <p:sp>
        <p:nvSpPr>
          <p:cNvPr id="192926273" name="Text 25"/>
          <p:cNvSpPr txBox="1"/>
          <p:nvPr/>
        </p:nvSpPr>
        <p:spPr bwMode="auto">
          <a:xfrm>
            <a:off x="4800600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100" b="1">
                <a:solidFill>
                  <a:srgbClr val="1185AA"/>
                </a:solidFill>
              </a:rPr>
              <a:t>não</a:t>
            </a:r>
            <a:endParaRPr lang="en-US" sz="1100"/>
          </a:p>
        </p:txBody>
      </p:sp>
      <p:sp>
        <p:nvSpPr>
          <p:cNvPr id="445332017" name="Shape 26"/>
          <p:cNvSpPr/>
          <p:nvPr/>
        </p:nvSpPr>
        <p:spPr bwMode="auto">
          <a:xfrm>
            <a:off x="3922776" y="3511296"/>
            <a:ext cx="3154680" cy="713232"/>
          </a:xfrm>
          <a:prstGeom prst="roundRect">
            <a:avLst>
              <a:gd name="adj" fmla="val 7692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600990566" name="Text 27"/>
          <p:cNvSpPr txBox="1"/>
          <p:nvPr/>
        </p:nvSpPr>
        <p:spPr bwMode="auto">
          <a:xfrm>
            <a:off x="3995928" y="3511296"/>
            <a:ext cx="300837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render(...)</a:t>
            </a:r>
            <a:r>
              <a:rPr lang="en-US" sz="1300">
                <a:solidFill>
                  <a:srgbClr val="00397B"/>
                </a:solidFill>
              </a:rPr>
              <a:t> com os erros: o formulário volta preenchido</a:t>
            </a:r>
            <a:endParaRPr lang="en-US" sz="1300"/>
          </a:p>
        </p:txBody>
      </p:sp>
      <p:sp>
        <p:nvSpPr>
          <p:cNvPr id="1004710495" name="Text 28"/>
          <p:cNvSpPr txBox="1"/>
          <p:nvPr/>
        </p:nvSpPr>
        <p:spPr bwMode="auto">
          <a:xfrm>
            <a:off x="768096" y="4416552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i="1">
                <a:solidFill>
                  <a:srgbClr val="1185AA"/>
                </a:solidFill>
              </a:rPr>
              <a:t>Toda tela de cadastro e edição do sistema segue este desenho, inclusive as do </a:t>
            </a:r>
            <a:r>
              <a:rPr lang="en-US" sz="1350" i="1">
                <a:solidFill>
                  <a:srgbClr val="1185AA"/>
                </a:solidFill>
                <a:latin typeface="Courier New"/>
                <a:ea typeface="Courier New"/>
                <a:cs typeface="Courier New"/>
              </a:rPr>
              <a:t>contas</a:t>
            </a:r>
            <a:r>
              <a:rPr lang="en-US" sz="1500" i="1">
                <a:solidFill>
                  <a:srgbClr val="1185AA"/>
                </a:solidFill>
              </a:rPr>
              <a:t>.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643706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POST/Redirect/GET: por que redirecionar</a:t>
            </a:r>
            <a:endParaRPr lang="en-US" sz="3200"/>
          </a:p>
        </p:txBody>
      </p:sp>
      <p:sp>
        <p:nvSpPr>
          <p:cNvPr id="902099297" name="Sem redirect"/>
          <p:cNvSpPr/>
          <p:nvPr/>
        </p:nvSpPr>
        <p:spPr bwMode="auto">
          <a:xfrm>
            <a:off x="768096" y="1188720"/>
            <a:ext cx="3712464" cy="3200400"/>
          </a:xfrm>
          <a:prstGeom prst="roundRect">
            <a:avLst>
              <a:gd name="adj" fmla="val 1714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609269154" name="Shape 2"/>
          <p:cNvSpPr/>
          <p:nvPr/>
        </p:nvSpPr>
        <p:spPr bwMode="auto">
          <a:xfrm>
            <a:off x="969264" y="1353312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01812762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92159" y="1476207"/>
            <a:ext cx="266273" cy="266273"/>
          </a:xfrm>
          <a:prstGeom prst="rect">
            <a:avLst/>
          </a:prstGeom>
        </p:spPr>
      </p:pic>
      <p:sp>
        <p:nvSpPr>
          <p:cNvPr id="1330316778" name="Text 3"/>
          <p:cNvSpPr txBox="1"/>
          <p:nvPr/>
        </p:nvSpPr>
        <p:spPr bwMode="auto">
          <a:xfrm>
            <a:off x="1636776" y="135331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00397B"/>
                </a:solidFill>
              </a:rPr>
              <a:t>Sem redirect</a:t>
            </a:r>
            <a:endParaRPr lang="en-US" sz="1700"/>
          </a:p>
        </p:txBody>
      </p:sp>
      <p:sp>
        <p:nvSpPr>
          <p:cNvPr id="414665227" name="Shape 4"/>
          <p:cNvSpPr/>
          <p:nvPr/>
        </p:nvSpPr>
        <p:spPr bwMode="auto">
          <a:xfrm>
            <a:off x="1042416" y="2093976"/>
            <a:ext cx="292608" cy="29260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908070640" name="Text 5"/>
          <p:cNvSpPr txBox="1"/>
          <p:nvPr/>
        </p:nvSpPr>
        <p:spPr bwMode="auto">
          <a:xfrm>
            <a:off x="1042416" y="2093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719444971" name="Text 6"/>
          <p:cNvSpPr txBox="1"/>
          <p:nvPr/>
        </p:nvSpPr>
        <p:spPr bwMode="auto">
          <a:xfrm>
            <a:off x="1481328" y="20574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POST salva o aluno</a:t>
            </a:r>
            <a:endParaRPr lang="en-US" sz="1400"/>
          </a:p>
        </p:txBody>
      </p:sp>
      <p:sp>
        <p:nvSpPr>
          <p:cNvPr id="1285684690" name="Shape 7"/>
          <p:cNvSpPr/>
          <p:nvPr/>
        </p:nvSpPr>
        <p:spPr bwMode="auto">
          <a:xfrm>
            <a:off x="1042416" y="2551176"/>
            <a:ext cx="292608" cy="29260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85596405" name="Text 8"/>
          <p:cNvSpPr txBox="1"/>
          <p:nvPr/>
        </p:nvSpPr>
        <p:spPr bwMode="auto">
          <a:xfrm>
            <a:off x="1042416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169702118" name="Text 9"/>
          <p:cNvSpPr txBox="1"/>
          <p:nvPr/>
        </p:nvSpPr>
        <p:spPr bwMode="auto">
          <a:xfrm>
            <a:off x="1481328" y="25146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a view devolve a lista com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render</a:t>
            </a:r>
            <a:endParaRPr lang="en-US" sz="1400"/>
          </a:p>
        </p:txBody>
      </p:sp>
      <p:sp>
        <p:nvSpPr>
          <p:cNvPr id="1980004899" name="Shape 10"/>
          <p:cNvSpPr/>
          <p:nvPr/>
        </p:nvSpPr>
        <p:spPr bwMode="auto">
          <a:xfrm>
            <a:off x="1042416" y="3008376"/>
            <a:ext cx="292608" cy="29260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866772149" name="Text 11"/>
          <p:cNvSpPr txBox="1"/>
          <p:nvPr/>
        </p:nvSpPr>
        <p:spPr bwMode="auto">
          <a:xfrm>
            <a:off x="1042416" y="30083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3</a:t>
            </a:r>
            <a:endParaRPr lang="en-US" sz="1400"/>
          </a:p>
        </p:txBody>
      </p:sp>
      <p:sp>
        <p:nvSpPr>
          <p:cNvPr id="444750560" name="Text 12"/>
          <p:cNvSpPr txBox="1"/>
          <p:nvPr/>
        </p:nvSpPr>
        <p:spPr bwMode="auto">
          <a:xfrm>
            <a:off x="1481328" y="29718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o usuário aperta F5</a:t>
            </a:r>
            <a:endParaRPr lang="en-US" sz="1400"/>
          </a:p>
        </p:txBody>
      </p:sp>
      <p:sp>
        <p:nvSpPr>
          <p:cNvPr id="1541177052" name="Shape 13"/>
          <p:cNvSpPr/>
          <p:nvPr/>
        </p:nvSpPr>
        <p:spPr bwMode="auto">
          <a:xfrm>
            <a:off x="1042416" y="3465576"/>
            <a:ext cx="292608" cy="29260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485105927" name="Text 14"/>
          <p:cNvSpPr txBox="1"/>
          <p:nvPr/>
        </p:nvSpPr>
        <p:spPr bwMode="auto">
          <a:xfrm>
            <a:off x="1042416" y="3465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4</a:t>
            </a:r>
            <a:endParaRPr lang="en-US" sz="1400"/>
          </a:p>
        </p:txBody>
      </p:sp>
      <p:sp>
        <p:nvSpPr>
          <p:cNvPr id="1122309344" name="Text 15"/>
          <p:cNvSpPr txBox="1"/>
          <p:nvPr/>
        </p:nvSpPr>
        <p:spPr bwMode="auto">
          <a:xfrm>
            <a:off x="1481328" y="34290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o navegador </a:t>
            </a:r>
            <a:r>
              <a:rPr lang="en-US" sz="1400" b="1">
                <a:solidFill>
                  <a:srgbClr val="3A3F44"/>
                </a:solidFill>
              </a:rPr>
              <a:t>reenvia o POST</a:t>
            </a:r>
            <a:endParaRPr lang="en-US" sz="1400"/>
          </a:p>
        </p:txBody>
      </p:sp>
      <p:sp>
        <p:nvSpPr>
          <p:cNvPr id="1396105685" name="Shape 16"/>
          <p:cNvSpPr/>
          <p:nvPr/>
        </p:nvSpPr>
        <p:spPr bwMode="auto">
          <a:xfrm>
            <a:off x="1042416" y="3922776"/>
            <a:ext cx="292608" cy="29260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835666264" name="Text 17"/>
          <p:cNvSpPr txBox="1"/>
          <p:nvPr/>
        </p:nvSpPr>
        <p:spPr bwMode="auto">
          <a:xfrm>
            <a:off x="1042416" y="3922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5</a:t>
            </a:r>
            <a:endParaRPr lang="en-US" sz="1400"/>
          </a:p>
        </p:txBody>
      </p:sp>
      <p:sp>
        <p:nvSpPr>
          <p:cNvPr id="23154876" name="Text 18"/>
          <p:cNvSpPr txBox="1"/>
          <p:nvPr/>
        </p:nvSpPr>
        <p:spPr bwMode="auto">
          <a:xfrm>
            <a:off x="1481328" y="38862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aluno duplicado ou erro de UNIQUE</a:t>
            </a:r>
            <a:endParaRPr lang="en-US" sz="1400"/>
          </a:p>
        </p:txBody>
      </p:sp>
      <p:sp>
        <p:nvSpPr>
          <p:cNvPr id="157676469" name="Com redirect"/>
          <p:cNvSpPr/>
          <p:nvPr/>
        </p:nvSpPr>
        <p:spPr bwMode="auto">
          <a:xfrm>
            <a:off x="4663440" y="1188720"/>
            <a:ext cx="3712464" cy="3200400"/>
          </a:xfrm>
          <a:prstGeom prst="roundRect">
            <a:avLst>
              <a:gd name="adj" fmla="val 1714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042776566" name="Shape 20"/>
          <p:cNvSpPr/>
          <p:nvPr/>
        </p:nvSpPr>
        <p:spPr bwMode="auto">
          <a:xfrm>
            <a:off x="4864607" y="1353312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35937142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987503" y="1476207"/>
            <a:ext cx="266273" cy="266273"/>
          </a:xfrm>
          <a:prstGeom prst="rect">
            <a:avLst/>
          </a:prstGeom>
        </p:spPr>
      </p:pic>
      <p:sp>
        <p:nvSpPr>
          <p:cNvPr id="921795552" name="Text 21"/>
          <p:cNvSpPr txBox="1"/>
          <p:nvPr/>
        </p:nvSpPr>
        <p:spPr bwMode="auto">
          <a:xfrm>
            <a:off x="5532120" y="135331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700" b="1">
                <a:solidFill>
                  <a:srgbClr val="00397B"/>
                </a:solidFill>
              </a:rPr>
              <a:t>Com redirect</a:t>
            </a:r>
            <a:endParaRPr lang="en-US" sz="1700"/>
          </a:p>
        </p:txBody>
      </p:sp>
      <p:sp>
        <p:nvSpPr>
          <p:cNvPr id="843430135" name="Shape 22"/>
          <p:cNvSpPr/>
          <p:nvPr/>
        </p:nvSpPr>
        <p:spPr bwMode="auto">
          <a:xfrm>
            <a:off x="4937760" y="2093976"/>
            <a:ext cx="292608" cy="29260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141731525" name="Text 23"/>
          <p:cNvSpPr txBox="1"/>
          <p:nvPr/>
        </p:nvSpPr>
        <p:spPr bwMode="auto">
          <a:xfrm>
            <a:off x="4937760" y="20939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2106758503" name="Text 24"/>
          <p:cNvSpPr txBox="1"/>
          <p:nvPr/>
        </p:nvSpPr>
        <p:spPr bwMode="auto">
          <a:xfrm>
            <a:off x="5376672" y="20574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POST salva o aluno</a:t>
            </a:r>
            <a:endParaRPr lang="en-US" sz="1400"/>
          </a:p>
        </p:txBody>
      </p:sp>
      <p:sp>
        <p:nvSpPr>
          <p:cNvPr id="12635785" name="Shape 25"/>
          <p:cNvSpPr/>
          <p:nvPr/>
        </p:nvSpPr>
        <p:spPr bwMode="auto">
          <a:xfrm>
            <a:off x="4937760" y="2551176"/>
            <a:ext cx="292608" cy="29260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314117710" name="Text 26"/>
          <p:cNvSpPr txBox="1"/>
          <p:nvPr/>
        </p:nvSpPr>
        <p:spPr bwMode="auto">
          <a:xfrm>
            <a:off x="4937760" y="25511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2129623157" name="Text 27"/>
          <p:cNvSpPr txBox="1"/>
          <p:nvPr/>
        </p:nvSpPr>
        <p:spPr bwMode="auto">
          <a:xfrm>
            <a:off x="5376672" y="25146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a view responde 302 para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/alunos/</a:t>
            </a:r>
            <a:endParaRPr lang="en-US" sz="1400"/>
          </a:p>
        </p:txBody>
      </p:sp>
      <p:sp>
        <p:nvSpPr>
          <p:cNvPr id="1542968728" name="Shape 28"/>
          <p:cNvSpPr/>
          <p:nvPr/>
        </p:nvSpPr>
        <p:spPr bwMode="auto">
          <a:xfrm>
            <a:off x="4937760" y="3008376"/>
            <a:ext cx="292608" cy="29260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078890605" name="Text 29"/>
          <p:cNvSpPr txBox="1"/>
          <p:nvPr/>
        </p:nvSpPr>
        <p:spPr bwMode="auto">
          <a:xfrm>
            <a:off x="4937760" y="30083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3</a:t>
            </a:r>
            <a:endParaRPr lang="en-US" sz="1400"/>
          </a:p>
        </p:txBody>
      </p:sp>
      <p:sp>
        <p:nvSpPr>
          <p:cNvPr id="222050123" name="Text 30"/>
          <p:cNvSpPr txBox="1"/>
          <p:nvPr/>
        </p:nvSpPr>
        <p:spPr bwMode="auto">
          <a:xfrm>
            <a:off x="5376672" y="29718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o navegador faz um GET</a:t>
            </a:r>
            <a:endParaRPr lang="en-US" sz="1400"/>
          </a:p>
        </p:txBody>
      </p:sp>
      <p:sp>
        <p:nvSpPr>
          <p:cNvPr id="1855459267" name="Shape 31"/>
          <p:cNvSpPr/>
          <p:nvPr/>
        </p:nvSpPr>
        <p:spPr bwMode="auto">
          <a:xfrm>
            <a:off x="4937760" y="3465576"/>
            <a:ext cx="292608" cy="29260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486004823" name="Text 32"/>
          <p:cNvSpPr txBox="1"/>
          <p:nvPr/>
        </p:nvSpPr>
        <p:spPr bwMode="auto">
          <a:xfrm>
            <a:off x="4937760" y="34655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4</a:t>
            </a:r>
            <a:endParaRPr lang="en-US" sz="1400"/>
          </a:p>
        </p:txBody>
      </p:sp>
      <p:sp>
        <p:nvSpPr>
          <p:cNvPr id="1838888126" name="Text 33"/>
          <p:cNvSpPr txBox="1"/>
          <p:nvPr/>
        </p:nvSpPr>
        <p:spPr bwMode="auto">
          <a:xfrm>
            <a:off x="5376672" y="34290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F5 </a:t>
            </a:r>
            <a:r>
              <a:rPr lang="en-US" sz="1400" b="1">
                <a:solidFill>
                  <a:srgbClr val="3A3F44"/>
                </a:solidFill>
              </a:rPr>
              <a:t>repete só o GET</a:t>
            </a:r>
            <a:endParaRPr lang="en-US" sz="1400"/>
          </a:p>
        </p:txBody>
      </p:sp>
      <p:sp>
        <p:nvSpPr>
          <p:cNvPr id="598388077" name="Shape 34"/>
          <p:cNvSpPr/>
          <p:nvPr/>
        </p:nvSpPr>
        <p:spPr bwMode="auto">
          <a:xfrm>
            <a:off x="4937760" y="3922776"/>
            <a:ext cx="292608" cy="29260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767003712" name="Text 35"/>
          <p:cNvSpPr txBox="1"/>
          <p:nvPr/>
        </p:nvSpPr>
        <p:spPr bwMode="auto">
          <a:xfrm>
            <a:off x="4937760" y="3922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5</a:t>
            </a:r>
            <a:endParaRPr lang="en-US" sz="1400"/>
          </a:p>
        </p:txBody>
      </p:sp>
      <p:sp>
        <p:nvSpPr>
          <p:cNvPr id="812341912" name="Text 36"/>
          <p:cNvSpPr txBox="1"/>
          <p:nvPr/>
        </p:nvSpPr>
        <p:spPr bwMode="auto">
          <a:xfrm>
            <a:off x="5376672" y="38862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nada duplica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951933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Editar: criar com duas diferenças</a:t>
            </a:r>
            <a:endParaRPr lang="en-US" sz="3200"/>
          </a:p>
        </p:txBody>
      </p:sp>
      <p:sp>
        <p:nvSpPr>
          <p:cNvPr id="1820422287" name="codigo fundo"/>
          <p:cNvSpPr/>
          <p:nvPr/>
        </p:nvSpPr>
        <p:spPr bwMode="auto">
          <a:xfrm>
            <a:off x="768096" y="1143000"/>
            <a:ext cx="7607808" cy="2743200"/>
          </a:xfrm>
          <a:prstGeom prst="roundRect">
            <a:avLst>
              <a:gd name="adj" fmla="val 2667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2132875828" name="Shape 2"/>
          <p:cNvSpPr/>
          <p:nvPr/>
        </p:nvSpPr>
        <p:spPr bwMode="auto">
          <a:xfrm>
            <a:off x="932688" y="126187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018577558" name="Shape 3"/>
          <p:cNvSpPr/>
          <p:nvPr/>
        </p:nvSpPr>
        <p:spPr bwMode="auto">
          <a:xfrm>
            <a:off x="1078992" y="126187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71063313" name="Shape 4"/>
          <p:cNvSpPr/>
          <p:nvPr/>
        </p:nvSpPr>
        <p:spPr bwMode="auto">
          <a:xfrm>
            <a:off x="1225296" y="126187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357665570" name="Text 5"/>
          <p:cNvSpPr txBox="1"/>
          <p:nvPr/>
        </p:nvSpPr>
        <p:spPr bwMode="auto">
          <a:xfrm>
            <a:off x="1426464" y="1197864"/>
            <a:ext cx="678484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academico/views.py · TODO 9a</a:t>
            </a:r>
            <a:endParaRPr lang="en-US" sz="900"/>
          </a:p>
        </p:txBody>
      </p:sp>
      <p:sp>
        <p:nvSpPr>
          <p:cNvPr id="2138090901" name="codigo texto"/>
          <p:cNvSpPr txBox="1"/>
          <p:nvPr/>
        </p:nvSpPr>
        <p:spPr bwMode="auto">
          <a:xfrm>
            <a:off x="987552" y="1527048"/>
            <a:ext cx="7242048" cy="22677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C3A6FF"/>
                </a:solidFill>
                <a:latin typeface="Courier New"/>
                <a:ea typeface="Courier New"/>
                <a:cs typeface="Courier New"/>
              </a:rPr>
              <a:t>@login_required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def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aluno_editar(request, pk):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aluno = get_object_or_404(Aluno, pk=pk)                </a:t>
            </a:r>
            <a:r>
              <a:rPr lang="en-US" sz="1100" i="1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# 1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en-US" sz="11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request.method == </a:t>
            </a:r>
            <a:r>
              <a:rPr lang="en-US" sz="110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"POST"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: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form = AlunoForm(request.POST, instance=aluno)     </a:t>
            </a:r>
            <a:r>
              <a:rPr lang="en-US" sz="1100" i="1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# 2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en-US" sz="11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form.is_valid():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    form.save()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    messages.success(request, </a:t>
            </a:r>
            <a:r>
              <a:rPr lang="en-US" sz="110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"Aluno atualizado."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)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    </a:t>
            </a:r>
            <a:r>
              <a:rPr lang="en-US" sz="11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redirect(</a:t>
            </a:r>
            <a:r>
              <a:rPr lang="en-US" sz="110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"academico:aluno_lista"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)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en-US" sz="11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else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: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form = AlunoForm(instance=aluno)                   </a:t>
            </a:r>
            <a:r>
              <a:rPr lang="en-US" sz="1100" i="1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# 2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en-US" sz="11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render(request, </a:t>
            </a:r>
            <a:r>
              <a:rPr lang="en-US" sz="110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"academico/aluno_form.html"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,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          {</a:t>
            </a:r>
            <a:r>
              <a:rPr lang="en-US" sz="110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"form"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: form, </a:t>
            </a:r>
            <a:r>
              <a:rPr lang="en-US" sz="110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"titulo"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: </a:t>
            </a:r>
            <a:r>
              <a:rPr lang="en-US" sz="110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"Editar aluno"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})</a:t>
            </a:r>
            <a:endParaRPr lang="en-US" sz="1100"/>
          </a:p>
        </p:txBody>
      </p:sp>
      <p:sp>
        <p:nvSpPr>
          <p:cNvPr id="2078018799" name="Shape 7"/>
          <p:cNvSpPr/>
          <p:nvPr/>
        </p:nvSpPr>
        <p:spPr bwMode="auto">
          <a:xfrm>
            <a:off x="768096" y="4023360"/>
            <a:ext cx="3712464" cy="731520"/>
          </a:xfrm>
          <a:prstGeom prst="roundRect">
            <a:avLst>
              <a:gd name="adj" fmla="val 7500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758120665" name="Shape 8"/>
          <p:cNvSpPr/>
          <p:nvPr/>
        </p:nvSpPr>
        <p:spPr bwMode="auto">
          <a:xfrm>
            <a:off x="932688" y="4197096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227075659" name="Text 9"/>
          <p:cNvSpPr txBox="1"/>
          <p:nvPr/>
        </p:nvSpPr>
        <p:spPr bwMode="auto">
          <a:xfrm>
            <a:off x="932688" y="4197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983765999" name="Text 10"/>
          <p:cNvSpPr txBox="1"/>
          <p:nvPr/>
        </p:nvSpPr>
        <p:spPr bwMode="auto">
          <a:xfrm>
            <a:off x="1481328" y="4023360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3A3F44"/>
                </a:solidFill>
              </a:rPr>
              <a:t>Buscar antes:</a:t>
            </a:r>
            <a:r>
              <a:rPr lang="en-US" sz="1400">
                <a:solidFill>
                  <a:srgbClr val="3A3F44"/>
                </a:solidFill>
              </a:rPr>
              <a:t>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get_object_or_404</a:t>
            </a:r>
            <a:r>
              <a:rPr lang="en-US" sz="1400">
                <a:solidFill>
                  <a:srgbClr val="3A3F44"/>
                </a:solidFill>
              </a:rPr>
              <a:t> faz o SELECT ou devolve 404.</a:t>
            </a:r>
            <a:endParaRPr lang="en-US" sz="1400"/>
          </a:p>
        </p:txBody>
      </p:sp>
      <p:sp>
        <p:nvSpPr>
          <p:cNvPr id="374038118" name="Shape 11"/>
          <p:cNvSpPr/>
          <p:nvPr/>
        </p:nvSpPr>
        <p:spPr bwMode="auto">
          <a:xfrm>
            <a:off x="4663440" y="4023360"/>
            <a:ext cx="3712464" cy="731520"/>
          </a:xfrm>
          <a:prstGeom prst="roundRect">
            <a:avLst>
              <a:gd name="adj" fmla="val 7500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440430023" name="Shape 12"/>
          <p:cNvSpPr/>
          <p:nvPr/>
        </p:nvSpPr>
        <p:spPr bwMode="auto">
          <a:xfrm>
            <a:off x="4828032" y="4197096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129922991" name="Text 13"/>
          <p:cNvSpPr txBox="1"/>
          <p:nvPr/>
        </p:nvSpPr>
        <p:spPr bwMode="auto">
          <a:xfrm>
            <a:off x="4828032" y="4197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1906803127" name="Text 14"/>
          <p:cNvSpPr txBox="1"/>
          <p:nvPr/>
        </p:nvSpPr>
        <p:spPr bwMode="auto">
          <a:xfrm>
            <a:off x="5376672" y="4023360"/>
            <a:ext cx="2907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250" b="1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instance=</a:t>
            </a:r>
            <a:r>
              <a:rPr lang="en-US" sz="1400" b="1">
                <a:solidFill>
                  <a:srgbClr val="3A3F44"/>
                </a:solidFill>
              </a:rPr>
              <a:t> nos dois caminhos:</a:t>
            </a:r>
            <a:r>
              <a:rPr lang="en-US" sz="1400">
                <a:solidFill>
                  <a:srgbClr val="3A3F44"/>
                </a:solidFill>
              </a:rPr>
              <a:t> no POST, o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save()</a:t>
            </a:r>
            <a:r>
              <a:rPr lang="en-US" sz="1400">
                <a:solidFill>
                  <a:srgbClr val="3A3F44"/>
                </a:solidFill>
              </a:rPr>
              <a:t> vira UPDATE.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3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404879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Excluir: duas requisições</a:t>
            </a:r>
            <a:endParaRPr lang="en-US" sz="3200"/>
          </a:p>
        </p:txBody>
      </p:sp>
      <p:sp>
        <p:nvSpPr>
          <p:cNvPr id="950333191" name="card GET confirma"/>
          <p:cNvSpPr/>
          <p:nvPr/>
        </p:nvSpPr>
        <p:spPr bwMode="auto">
          <a:xfrm>
            <a:off x="768096" y="1188720"/>
            <a:ext cx="2514600" cy="1627632"/>
          </a:xfrm>
          <a:prstGeom prst="roundRect">
            <a:avLst>
              <a:gd name="adj" fmla="val 3371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456969754" name="Shape 2"/>
          <p:cNvSpPr/>
          <p:nvPr/>
        </p:nvSpPr>
        <p:spPr bwMode="auto">
          <a:xfrm>
            <a:off x="969264" y="1371600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04875294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92159" y="1494495"/>
            <a:ext cx="266273" cy="266273"/>
          </a:xfrm>
          <a:prstGeom prst="rect">
            <a:avLst/>
          </a:prstGeom>
        </p:spPr>
      </p:pic>
      <p:sp>
        <p:nvSpPr>
          <p:cNvPr id="1016890521" name="Text 3"/>
          <p:cNvSpPr txBox="1"/>
          <p:nvPr/>
        </p:nvSpPr>
        <p:spPr bwMode="auto">
          <a:xfrm>
            <a:off x="1636776" y="1371600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397B"/>
                </a:solidFill>
              </a:rPr>
              <a:t>GET confirma</a:t>
            </a:r>
            <a:endParaRPr lang="en-US" sz="1600"/>
          </a:p>
        </p:txBody>
      </p:sp>
      <p:sp>
        <p:nvSpPr>
          <p:cNvPr id="1574932256" name="Text 4"/>
          <p:cNvSpPr txBox="1"/>
          <p:nvPr/>
        </p:nvSpPr>
        <p:spPr bwMode="auto">
          <a:xfrm>
            <a:off x="996696" y="199339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300">
                <a:solidFill>
                  <a:srgbClr val="3A3F44"/>
                </a:solidFill>
              </a:rPr>
              <a:t>Mostra “Excluir Ana?” num formulário POST com </a:t>
            </a: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csrf_token</a:t>
            </a:r>
            <a:r>
              <a:rPr lang="en-US" sz="1300">
                <a:solidFill>
                  <a:srgbClr val="3A3F44"/>
                </a:solidFill>
              </a:rPr>
              <a:t>.</a:t>
            </a:r>
            <a:endParaRPr lang="en-US" sz="1300"/>
          </a:p>
        </p:txBody>
      </p:sp>
      <p:sp>
        <p:nvSpPr>
          <p:cNvPr id="1806276894" name="card POST executa"/>
          <p:cNvSpPr/>
          <p:nvPr/>
        </p:nvSpPr>
        <p:spPr bwMode="auto">
          <a:xfrm>
            <a:off x="768096" y="2990088"/>
            <a:ext cx="2514600" cy="1627632"/>
          </a:xfrm>
          <a:prstGeom prst="roundRect">
            <a:avLst>
              <a:gd name="adj" fmla="val 3371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463583539" name="Shape 6"/>
          <p:cNvSpPr/>
          <p:nvPr/>
        </p:nvSpPr>
        <p:spPr bwMode="auto">
          <a:xfrm>
            <a:off x="969264" y="3172968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32872554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092159" y="3295863"/>
            <a:ext cx="266273" cy="266273"/>
          </a:xfrm>
          <a:prstGeom prst="rect">
            <a:avLst/>
          </a:prstGeom>
        </p:spPr>
      </p:pic>
      <p:sp>
        <p:nvSpPr>
          <p:cNvPr id="601390908" name="Text 7"/>
          <p:cNvSpPr txBox="1"/>
          <p:nvPr/>
        </p:nvSpPr>
        <p:spPr bwMode="auto">
          <a:xfrm>
            <a:off x="1636776" y="3172968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397B"/>
                </a:solidFill>
              </a:rPr>
              <a:t>POST executa</a:t>
            </a:r>
            <a:endParaRPr lang="en-US" sz="1600"/>
          </a:p>
        </p:txBody>
      </p:sp>
      <p:sp>
        <p:nvSpPr>
          <p:cNvPr id="1069098779" name="Text 8"/>
          <p:cNvSpPr txBox="1"/>
          <p:nvPr/>
        </p:nvSpPr>
        <p:spPr bwMode="auto">
          <a:xfrm>
            <a:off x="996696" y="379476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300">
                <a:solidFill>
                  <a:srgbClr val="3A3F44"/>
                </a:solidFill>
              </a:rPr>
              <a:t>Exclui ou desativa e redireciona. Robôs só fazem GET.</a:t>
            </a:r>
            <a:endParaRPr lang="en-US" sz="1300"/>
          </a:p>
        </p:txBody>
      </p:sp>
      <p:sp>
        <p:nvSpPr>
          <p:cNvPr id="1860954946" name="codigo fundo"/>
          <p:cNvSpPr/>
          <p:nvPr/>
        </p:nvSpPr>
        <p:spPr bwMode="auto">
          <a:xfrm>
            <a:off x="3465576" y="1188720"/>
            <a:ext cx="4910328" cy="3429000"/>
          </a:xfrm>
          <a:prstGeom prst="roundRect">
            <a:avLst>
              <a:gd name="adj" fmla="val 2133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1976515643" name="Shape 10"/>
          <p:cNvSpPr/>
          <p:nvPr/>
        </p:nvSpPr>
        <p:spPr bwMode="auto">
          <a:xfrm>
            <a:off x="3630168" y="130759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543907639" name="Shape 11"/>
          <p:cNvSpPr/>
          <p:nvPr/>
        </p:nvSpPr>
        <p:spPr bwMode="auto">
          <a:xfrm>
            <a:off x="3776472" y="130759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280841856" name="Shape 12"/>
          <p:cNvSpPr/>
          <p:nvPr/>
        </p:nvSpPr>
        <p:spPr bwMode="auto">
          <a:xfrm>
            <a:off x="3922776" y="130759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867202569" name="Text 13"/>
          <p:cNvSpPr txBox="1"/>
          <p:nvPr/>
        </p:nvSpPr>
        <p:spPr bwMode="auto">
          <a:xfrm>
            <a:off x="4123944" y="1243584"/>
            <a:ext cx="408736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academico/views.py · TODO 9b</a:t>
            </a:r>
            <a:endParaRPr lang="en-US" sz="900"/>
          </a:p>
        </p:txBody>
      </p:sp>
      <p:sp>
        <p:nvSpPr>
          <p:cNvPr id="305210930" name="codigo texto"/>
          <p:cNvSpPr txBox="1"/>
          <p:nvPr/>
        </p:nvSpPr>
        <p:spPr bwMode="auto">
          <a:xfrm>
            <a:off x="3685032" y="1572768"/>
            <a:ext cx="4544568" cy="295351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C3A6FF"/>
                </a:solidFill>
                <a:latin typeface="Courier New"/>
                <a:ea typeface="Courier New"/>
                <a:cs typeface="Courier New"/>
              </a:rPr>
              <a:t>@login_required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def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aluno_excluir(request, pk):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aluno = get_object_or_404(Aluno, pk=pk)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request.method == </a:t>
            </a:r>
            <a:r>
              <a:rPr lang="en-US" sz="105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"POST"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: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try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: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    aluno.delete()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    messages.success(request, </a:t>
            </a:r>
            <a:r>
              <a:rPr lang="en-US" sz="105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"Aluno excluído."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)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except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ProtectedError: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    messages.error(request,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        </a:t>
            </a:r>
            <a:r>
              <a:rPr lang="en-US" sz="105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"Aluno com inscrições não pode sair."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)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redirect(</a:t>
            </a:r>
            <a:r>
              <a:rPr lang="en-US" sz="105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"academico:aluno_lista"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)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render(request,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</a:t>
            </a:r>
            <a:r>
              <a:rPr lang="en-US" sz="105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"academico/aluno_confirmar_exclusao.html"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,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    {</a:t>
            </a:r>
            <a:r>
              <a:rPr lang="en-US" sz="105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"aluno"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: aluno})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4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557271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Delete ou soft delete?</a:t>
            </a:r>
            <a:endParaRPr lang="en-US" sz="3200"/>
          </a:p>
        </p:txBody>
      </p:sp>
      <p:sp>
        <p:nvSpPr>
          <p:cNvPr id="1865819549" name="`aluno.delete()`"/>
          <p:cNvSpPr/>
          <p:nvPr/>
        </p:nvSpPr>
        <p:spPr bwMode="auto">
          <a:xfrm>
            <a:off x="768096" y="1188720"/>
            <a:ext cx="3712464" cy="3017519"/>
          </a:xfrm>
          <a:prstGeom prst="roundRect">
            <a:avLst>
              <a:gd name="adj" fmla="val 1818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910550274" name="Text 2"/>
          <p:cNvSpPr txBox="1"/>
          <p:nvPr/>
        </p:nvSpPr>
        <p:spPr bwMode="auto">
          <a:xfrm>
            <a:off x="996696" y="1298448"/>
            <a:ext cx="32918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aluno.delete()</a:t>
            </a:r>
            <a:endParaRPr lang="en-US" sz="1600"/>
          </a:p>
        </p:txBody>
      </p:sp>
      <p:pic>
        <p:nvPicPr>
          <p:cNvPr id="866158459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14984" y="1901952"/>
            <a:ext cx="219456" cy="219456"/>
          </a:xfrm>
          <a:prstGeom prst="rect">
            <a:avLst/>
          </a:prstGeom>
        </p:spPr>
      </p:pic>
      <p:sp>
        <p:nvSpPr>
          <p:cNvPr id="1987813852" name="Text 3"/>
          <p:cNvSpPr txBox="1"/>
          <p:nvPr/>
        </p:nvSpPr>
        <p:spPr bwMode="auto">
          <a:xfrm>
            <a:off x="1362455" y="18288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Banco enxuto, sem registros “mortos”.</a:t>
            </a:r>
            <a:endParaRPr lang="en-US" sz="1400"/>
          </a:p>
        </p:txBody>
      </p:sp>
      <p:pic>
        <p:nvPicPr>
          <p:cNvPr id="533139423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1014984" y="2468880"/>
            <a:ext cx="219456" cy="219456"/>
          </a:xfrm>
          <a:prstGeom prst="rect">
            <a:avLst/>
          </a:prstGeom>
        </p:spPr>
      </p:pic>
      <p:sp>
        <p:nvSpPr>
          <p:cNvPr id="1216865622" name="Text 4"/>
          <p:cNvSpPr txBox="1"/>
          <p:nvPr/>
        </p:nvSpPr>
        <p:spPr bwMode="auto">
          <a:xfrm>
            <a:off x="1362455" y="239572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Simples de explicar e de testar.</a:t>
            </a:r>
            <a:endParaRPr lang="en-US" sz="1400"/>
          </a:p>
        </p:txBody>
      </p:sp>
      <p:pic>
        <p:nvPicPr>
          <p:cNvPr id="1635874176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1014984" y="3035808"/>
            <a:ext cx="219456" cy="219456"/>
          </a:xfrm>
          <a:prstGeom prst="rect">
            <a:avLst/>
          </a:prstGeom>
        </p:spPr>
      </p:pic>
      <p:sp>
        <p:nvSpPr>
          <p:cNvPr id="1089231526" name="Text 5"/>
          <p:cNvSpPr txBox="1"/>
          <p:nvPr/>
        </p:nvSpPr>
        <p:spPr bwMode="auto">
          <a:xfrm>
            <a:off x="1362455" y="296265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Com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PROTECT</a:t>
            </a:r>
            <a:r>
              <a:rPr lang="en-US" sz="1400">
                <a:solidFill>
                  <a:srgbClr val="3A3F44"/>
                </a:solidFill>
              </a:rPr>
              <a:t>, falha para quem tem notas.</a:t>
            </a:r>
            <a:endParaRPr lang="en-US" sz="1400"/>
          </a:p>
        </p:txBody>
      </p:sp>
      <p:pic>
        <p:nvPicPr>
          <p:cNvPr id="1142039194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1014984" y="3602735"/>
            <a:ext cx="219456" cy="219456"/>
          </a:xfrm>
          <a:prstGeom prst="rect">
            <a:avLst/>
          </a:prstGeom>
        </p:spPr>
      </p:pic>
      <p:sp>
        <p:nvSpPr>
          <p:cNvPr id="1604009162" name="Text 6"/>
          <p:cNvSpPr txBox="1"/>
          <p:nvPr/>
        </p:nvSpPr>
        <p:spPr bwMode="auto">
          <a:xfrm>
            <a:off x="1362455" y="352958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Apagou, perdeu: não há desfazer.</a:t>
            </a:r>
            <a:endParaRPr lang="en-US" sz="1400"/>
          </a:p>
        </p:txBody>
      </p:sp>
      <p:sp>
        <p:nvSpPr>
          <p:cNvPr id="458336505" name="`aluno.ativo = False`"/>
          <p:cNvSpPr/>
          <p:nvPr/>
        </p:nvSpPr>
        <p:spPr bwMode="auto">
          <a:xfrm>
            <a:off x="4663440" y="1188720"/>
            <a:ext cx="3712464" cy="3017519"/>
          </a:xfrm>
          <a:prstGeom prst="roundRect">
            <a:avLst>
              <a:gd name="adj" fmla="val 1818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794246069" name="Text 8"/>
          <p:cNvSpPr txBox="1"/>
          <p:nvPr/>
        </p:nvSpPr>
        <p:spPr bwMode="auto">
          <a:xfrm>
            <a:off x="4892039" y="1298448"/>
            <a:ext cx="32918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aluno.ativo = False</a:t>
            </a:r>
            <a:endParaRPr lang="en-US" sz="1600"/>
          </a:p>
        </p:txBody>
      </p:sp>
      <p:pic>
        <p:nvPicPr>
          <p:cNvPr id="1975726232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4910328" y="1901952"/>
            <a:ext cx="219456" cy="219456"/>
          </a:xfrm>
          <a:prstGeom prst="rect">
            <a:avLst/>
          </a:prstGeom>
        </p:spPr>
      </p:pic>
      <p:sp>
        <p:nvSpPr>
          <p:cNvPr id="1255250670" name="Text 9"/>
          <p:cNvSpPr txBox="1"/>
          <p:nvPr/>
        </p:nvSpPr>
        <p:spPr bwMode="auto">
          <a:xfrm>
            <a:off x="5257800" y="18288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Histórico preservado: notas e boletins.</a:t>
            </a:r>
            <a:endParaRPr lang="en-US" sz="1400"/>
          </a:p>
        </p:txBody>
      </p:sp>
      <p:pic>
        <p:nvPicPr>
          <p:cNvPr id="1328831183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4910328" y="2468880"/>
            <a:ext cx="219456" cy="219456"/>
          </a:xfrm>
          <a:prstGeom prst="rect">
            <a:avLst/>
          </a:prstGeom>
        </p:spPr>
      </p:pic>
      <p:sp>
        <p:nvSpPr>
          <p:cNvPr id="242201817" name="Text 10"/>
          <p:cNvSpPr txBox="1"/>
          <p:nvPr/>
        </p:nvSpPr>
        <p:spPr bwMode="auto">
          <a:xfrm>
            <a:off x="5257800" y="2395728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Reversível: basta voltar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ativo = True</a:t>
            </a:r>
            <a:r>
              <a:rPr lang="en-US" sz="1400">
                <a:solidFill>
                  <a:srgbClr val="3A3F44"/>
                </a:solidFill>
              </a:rPr>
              <a:t>.</a:t>
            </a:r>
            <a:endParaRPr lang="en-US" sz="1400"/>
          </a:p>
        </p:txBody>
      </p:sp>
      <p:pic>
        <p:nvPicPr>
          <p:cNvPr id="1437180108" name="Image 6" descr="preencoded.png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>
            <a:off x="4910328" y="3035808"/>
            <a:ext cx="219456" cy="219456"/>
          </a:xfrm>
          <a:prstGeom prst="rect">
            <a:avLst/>
          </a:prstGeom>
        </p:spPr>
      </p:pic>
      <p:sp>
        <p:nvSpPr>
          <p:cNvPr id="693504462" name="Text 11"/>
          <p:cNvSpPr txBox="1"/>
          <p:nvPr/>
        </p:nvSpPr>
        <p:spPr bwMode="auto">
          <a:xfrm>
            <a:off x="5257800" y="2962656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Toda listagem precisa filtrar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ativo=True</a:t>
            </a:r>
            <a:r>
              <a:rPr lang="en-US" sz="1400">
                <a:solidFill>
                  <a:srgbClr val="3A3F44"/>
                </a:solidFill>
              </a:rPr>
              <a:t>.</a:t>
            </a:r>
            <a:endParaRPr lang="en-US" sz="1400"/>
          </a:p>
        </p:txBody>
      </p:sp>
      <p:pic>
        <p:nvPicPr>
          <p:cNvPr id="1325404215" name="Image 7" descr="preencoded.png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>
            <a:off x="4910328" y="3602735"/>
            <a:ext cx="219456" cy="219456"/>
          </a:xfrm>
          <a:prstGeom prst="rect">
            <a:avLst/>
          </a:prstGeom>
        </p:spPr>
      </p:pic>
      <p:sp>
        <p:nvSpPr>
          <p:cNvPr id="1625103824" name="Text 12"/>
          <p:cNvSpPr txBox="1"/>
          <p:nvPr/>
        </p:nvSpPr>
        <p:spPr bwMode="auto">
          <a:xfrm>
            <a:off x="5257800" y="3529584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A matrícula continua ocupada pelo UNIQUE.</a:t>
            </a:r>
            <a:endParaRPr lang="en-US" sz="1400"/>
          </a:p>
        </p:txBody>
      </p:sp>
      <p:sp>
        <p:nvSpPr>
          <p:cNvPr id="1783440985" name="Text 13"/>
          <p:cNvSpPr txBox="1"/>
          <p:nvPr/>
        </p:nvSpPr>
        <p:spPr bwMode="auto">
          <a:xfrm>
            <a:off x="768096" y="4389120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i="1">
                <a:solidFill>
                  <a:srgbClr val="1185AA"/>
                </a:solidFill>
              </a:rPr>
              <a:t>Bônus de +0,5: escolham, implementem e justifiquem no README.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5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013231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Erro previsível vira mensagem</a:t>
            </a:r>
            <a:endParaRPr lang="en-US" sz="3200"/>
          </a:p>
        </p:txBody>
      </p:sp>
      <p:graphicFrame>
        <p:nvGraphicFramePr>
          <p:cNvPr id="748715519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768096" y="1188720"/>
          <a:ext cx="7607808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03120"/>
                <a:gridCol w="2377440"/>
                <a:gridCol w="3127248"/>
              </a:tblGrid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Situação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00397B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Sem tratamento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00397B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 b="1">
                          <a:solidFill>
                            <a:srgbClr val="FFFFFF"/>
                          </a:solidFill>
                        </a:rPr>
                        <a:t>Com tratamento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00397B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Matrícula repetida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IntegrityError</a:t>
                      </a: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, página amarela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o ModelForm valida o </a:t>
                      </a: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unique</a:t>
                      </a: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 e avisa no campo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Inscrição duplicada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IntegrityError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UniqueConstraint</a:t>
                      </a: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 + </a:t>
                      </a: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error_messages</a:t>
                      </a: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 amigável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Excluir aluno com notas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ProtectedError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try/except</a:t>
                      </a: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 + </a:t>
                      </a: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messages.error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Id inexistente na URL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DoesNotExist</a:t>
                      </a: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, erro 500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get_object_or_404</a:t>
                      </a: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, página 404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Nota 11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gravada sem aviso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1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MaxValueValidator(10)</a:t>
                      </a:r>
                      <a:r>
                        <a:rPr lang="en-US" sz="1300">
                          <a:solidFill>
                            <a:srgbClr val="3A3F44"/>
                          </a:solidFill>
                        </a:rPr>
                        <a:t>, erro no campo</a:t>
                      </a:r>
                      <a:endParaRPr lang="en-US" sz="13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9341144" name="Text 1"/>
          <p:cNvSpPr txBox="1"/>
          <p:nvPr/>
        </p:nvSpPr>
        <p:spPr bwMode="auto">
          <a:xfrm>
            <a:off x="768096" y="4416552"/>
            <a:ext cx="7607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i="1">
                <a:solidFill>
                  <a:srgbClr val="1185AA"/>
                </a:solidFill>
              </a:rPr>
              <a:t>Traceback na tela do usuário é bug, mesmo quando o banco “fez a coisa certa”.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6803357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De volta aos quatro chamados</a:t>
            </a:r>
            <a:endParaRPr lang="en-US" sz="3200"/>
          </a:p>
        </p:txBody>
      </p:sp>
      <p:sp>
        <p:nvSpPr>
          <p:cNvPr id="250532912" name="chamado"/>
          <p:cNvSpPr/>
          <p:nvPr/>
        </p:nvSpPr>
        <p:spPr bwMode="auto">
          <a:xfrm>
            <a:off x="768096" y="1097280"/>
            <a:ext cx="3200400" cy="731520"/>
          </a:xfrm>
          <a:prstGeom prst="roundRect">
            <a:avLst>
              <a:gd name="adj" fmla="val 8000"/>
            </a:avLst>
          </a:prstGeom>
          <a:solidFill>
            <a:srgbClr val="1185AA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263255051" name="texto"/>
          <p:cNvSpPr txBox="1"/>
          <p:nvPr/>
        </p:nvSpPr>
        <p:spPr bwMode="auto">
          <a:xfrm>
            <a:off x="950976" y="1097280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  <a:defRPr/>
            </a:pPr>
            <a:r>
              <a:rPr lang="pt-BR" sz="1250" i="1">
                <a:solidFill>
                  <a:srgbClr val="FFFFFF"/>
                </a:solidFill>
              </a:rPr>
              <a:t>“Apertei F5 e o aluno apareceu duas vezes”</a:t>
            </a:r>
            <a:endParaRPr lang="pt-BR" sz="1250"/>
          </a:p>
        </p:txBody>
      </p:sp>
      <p:sp>
        <p:nvSpPr>
          <p:cNvPr id="485259835" name="resposta"/>
          <p:cNvSpPr/>
          <p:nvPr/>
        </p:nvSpPr>
        <p:spPr bwMode="auto">
          <a:xfrm>
            <a:off x="4096512" y="1097280"/>
            <a:ext cx="4279392" cy="731520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374945867" name="texto"/>
          <p:cNvSpPr txBox="1"/>
          <p:nvPr/>
        </p:nvSpPr>
        <p:spPr bwMode="auto">
          <a:xfrm>
            <a:off x="4297680" y="1097280"/>
            <a:ext cx="3895343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  <a:defRPr/>
            </a:pPr>
            <a:r>
              <a:rPr lang="pt-BR" sz="1200" b="1">
                <a:solidFill>
                  <a:srgbClr val="3A3F44"/>
                </a:solidFill>
              </a:rPr>
              <a:t>View:</a:t>
            </a:r>
            <a:r>
              <a:rPr lang="pt-BR" sz="1200">
                <a:solidFill>
                  <a:srgbClr val="3A3F44"/>
                </a:solidFill>
              </a:rPr>
              <a:t> depois de salvar, </a:t>
            </a:r>
            <a:r>
              <a:rPr lang="pt-BR" sz="10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redirect()</a:t>
            </a:r>
            <a:r>
              <a:rPr lang="pt-BR" sz="1200">
                <a:solidFill>
                  <a:srgbClr val="3A3F44"/>
                </a:solidFill>
              </a:rPr>
              <a:t>. Com POST/Redirect/GET, o F5 repete só o GET.</a:t>
            </a:r>
            <a:endParaRPr lang="pt-BR" sz="1200"/>
          </a:p>
        </p:txBody>
      </p:sp>
      <p:sp>
        <p:nvSpPr>
          <p:cNvPr id="44317793" name="chamado"/>
          <p:cNvSpPr/>
          <p:nvPr/>
        </p:nvSpPr>
        <p:spPr bwMode="auto">
          <a:xfrm>
            <a:off x="768096" y="1947671"/>
            <a:ext cx="3200400" cy="731520"/>
          </a:xfrm>
          <a:prstGeom prst="roundRect">
            <a:avLst>
              <a:gd name="adj" fmla="val 8000"/>
            </a:avLst>
          </a:prstGeom>
          <a:solidFill>
            <a:srgbClr val="1185AA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2038498663" name="texto"/>
          <p:cNvSpPr txBox="1"/>
          <p:nvPr/>
        </p:nvSpPr>
        <p:spPr bwMode="auto">
          <a:xfrm>
            <a:off x="950976" y="1947671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  <a:defRPr/>
            </a:pPr>
            <a:r>
              <a:rPr lang="pt-BR" sz="1250" i="1">
                <a:solidFill>
                  <a:srgbClr val="FFFFFF"/>
                </a:solidFill>
              </a:rPr>
              <a:t>“Editei o e-mail e surgiu outro aluno”</a:t>
            </a:r>
            <a:endParaRPr lang="pt-BR" sz="1250"/>
          </a:p>
        </p:txBody>
      </p:sp>
      <p:sp>
        <p:nvSpPr>
          <p:cNvPr id="1258492313" name="resposta"/>
          <p:cNvSpPr/>
          <p:nvPr/>
        </p:nvSpPr>
        <p:spPr bwMode="auto">
          <a:xfrm>
            <a:off x="4096512" y="1947671"/>
            <a:ext cx="4279392" cy="731520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18114937" name="texto"/>
          <p:cNvSpPr txBox="1"/>
          <p:nvPr/>
        </p:nvSpPr>
        <p:spPr bwMode="auto">
          <a:xfrm>
            <a:off x="4297680" y="1947671"/>
            <a:ext cx="3895343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  <a:defRPr/>
            </a:pPr>
            <a:r>
              <a:rPr lang="pt-BR" sz="1200" b="1">
                <a:solidFill>
                  <a:srgbClr val="3A3F44"/>
                </a:solidFill>
              </a:rPr>
              <a:t>View:</a:t>
            </a:r>
            <a:r>
              <a:rPr lang="pt-BR" sz="1200">
                <a:solidFill>
                  <a:srgbClr val="3A3F44"/>
                </a:solidFill>
              </a:rPr>
              <a:t> buscar com </a:t>
            </a:r>
            <a:r>
              <a:rPr lang="pt-BR" sz="10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get_object_or_404</a:t>
            </a:r>
            <a:r>
              <a:rPr lang="pt-BR" sz="1200">
                <a:solidFill>
                  <a:srgbClr val="3A3F44"/>
                </a:solidFill>
              </a:rPr>
              <a:t> e passar </a:t>
            </a:r>
            <a:r>
              <a:rPr lang="pt-BR" sz="10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instance=</a:t>
            </a:r>
            <a:r>
              <a:rPr lang="pt-BR" sz="1200">
                <a:solidFill>
                  <a:srgbClr val="3A3F44"/>
                </a:solidFill>
              </a:rPr>
              <a:t>. O </a:t>
            </a:r>
            <a:r>
              <a:rPr lang="pt-BR" sz="10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save()</a:t>
            </a:r>
            <a:r>
              <a:rPr lang="pt-BR" sz="1200">
                <a:solidFill>
                  <a:srgbClr val="3A3F44"/>
                </a:solidFill>
              </a:rPr>
              <a:t> vira UPDATE.</a:t>
            </a:r>
            <a:endParaRPr lang="pt-BR" sz="1200"/>
          </a:p>
        </p:txBody>
      </p:sp>
      <p:sp>
        <p:nvSpPr>
          <p:cNvPr id="195961654" name="chamado"/>
          <p:cNvSpPr/>
          <p:nvPr/>
        </p:nvSpPr>
        <p:spPr bwMode="auto">
          <a:xfrm>
            <a:off x="768096" y="2798064"/>
            <a:ext cx="3200400" cy="731520"/>
          </a:xfrm>
          <a:prstGeom prst="roundRect">
            <a:avLst>
              <a:gd name="adj" fmla="val 8000"/>
            </a:avLst>
          </a:prstGeom>
          <a:solidFill>
            <a:srgbClr val="1185AA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477303367" name="texto"/>
          <p:cNvSpPr txBox="1"/>
          <p:nvPr/>
        </p:nvSpPr>
        <p:spPr bwMode="auto">
          <a:xfrm>
            <a:off x="950976" y="2798064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  <a:defRPr/>
            </a:pPr>
            <a:r>
              <a:rPr lang="pt-BR" sz="1250" i="1">
                <a:solidFill>
                  <a:srgbClr val="FFFFFF"/>
                </a:solidFill>
              </a:rPr>
              <a:t>“Excluí um aluno e as notas sumiram”</a:t>
            </a:r>
            <a:endParaRPr lang="pt-BR" sz="1250"/>
          </a:p>
        </p:txBody>
      </p:sp>
      <p:sp>
        <p:nvSpPr>
          <p:cNvPr id="1177431426" name="resposta"/>
          <p:cNvSpPr/>
          <p:nvPr/>
        </p:nvSpPr>
        <p:spPr bwMode="auto">
          <a:xfrm>
            <a:off x="4096512" y="2798064"/>
            <a:ext cx="4279392" cy="731520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945788011" name="texto"/>
          <p:cNvSpPr txBox="1"/>
          <p:nvPr/>
        </p:nvSpPr>
        <p:spPr bwMode="auto">
          <a:xfrm>
            <a:off x="4297680" y="2798064"/>
            <a:ext cx="3895343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  <a:defRPr/>
            </a:pPr>
            <a:r>
              <a:rPr lang="pt-BR" sz="1200" b="1">
                <a:solidFill>
                  <a:srgbClr val="3A3F44"/>
                </a:solidFill>
              </a:rPr>
              <a:t>Modelo e banco:</a:t>
            </a:r>
            <a:r>
              <a:rPr lang="pt-BR" sz="1200">
                <a:solidFill>
                  <a:srgbClr val="3A3F44"/>
                </a:solidFill>
              </a:rPr>
              <a:t> </a:t>
            </a:r>
            <a:r>
              <a:rPr lang="pt-BR" sz="10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on_delete=PROTECT</a:t>
            </a:r>
            <a:r>
              <a:rPr lang="pt-BR" sz="1200">
                <a:solidFill>
                  <a:srgbClr val="3A3F44"/>
                </a:solidFill>
              </a:rPr>
              <a:t> recusa a exclusão e a view mostra a mensagem. Ou soft delete.</a:t>
            </a:r>
            <a:endParaRPr lang="pt-BR" sz="1200"/>
          </a:p>
        </p:txBody>
      </p:sp>
      <p:sp>
        <p:nvSpPr>
          <p:cNvPr id="919306711" name="chamado"/>
          <p:cNvSpPr/>
          <p:nvPr/>
        </p:nvSpPr>
        <p:spPr bwMode="auto">
          <a:xfrm>
            <a:off x="768096" y="3648456"/>
            <a:ext cx="3200400" cy="731520"/>
          </a:xfrm>
          <a:prstGeom prst="roundRect">
            <a:avLst>
              <a:gd name="adj" fmla="val 8000"/>
            </a:avLst>
          </a:prstGeom>
          <a:solidFill>
            <a:srgbClr val="1185AA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647996493" name="texto"/>
          <p:cNvSpPr txBox="1"/>
          <p:nvPr/>
        </p:nvSpPr>
        <p:spPr bwMode="auto">
          <a:xfrm>
            <a:off x="950976" y="3648456"/>
            <a:ext cx="2834640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  <a:defRPr/>
            </a:pPr>
            <a:r>
              <a:rPr lang="pt-BR" sz="1250" i="1">
                <a:solidFill>
                  <a:srgbClr val="FFFFFF"/>
                </a:solidFill>
              </a:rPr>
              <a:t>“O sistema aceitou nota 11”</a:t>
            </a:r>
            <a:endParaRPr lang="pt-BR" sz="1250"/>
          </a:p>
        </p:txBody>
      </p:sp>
      <p:sp>
        <p:nvSpPr>
          <p:cNvPr id="1822809900" name="resposta"/>
          <p:cNvSpPr/>
          <p:nvPr/>
        </p:nvSpPr>
        <p:spPr bwMode="auto">
          <a:xfrm>
            <a:off x="4096512" y="3648456"/>
            <a:ext cx="4279392" cy="731520"/>
          </a:xfrm>
          <a:prstGeom prst="roundRect">
            <a:avLst>
              <a:gd name="adj" fmla="val 8000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845584771" name="texto"/>
          <p:cNvSpPr txBox="1"/>
          <p:nvPr/>
        </p:nvSpPr>
        <p:spPr bwMode="auto">
          <a:xfrm>
            <a:off x="4297680" y="3648456"/>
            <a:ext cx="3895343" cy="731520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  <a:defRPr/>
            </a:pPr>
            <a:r>
              <a:rPr lang="pt-BR" sz="1200" b="1">
                <a:solidFill>
                  <a:srgbClr val="3A3F44"/>
                </a:solidFill>
              </a:rPr>
              <a:t>Modelo e formulário:</a:t>
            </a:r>
            <a:r>
              <a:rPr lang="pt-BR" sz="1200">
                <a:solidFill>
                  <a:srgbClr val="3A3F44"/>
                </a:solidFill>
              </a:rPr>
              <a:t> </a:t>
            </a:r>
            <a:r>
              <a:rPr lang="pt-BR" sz="10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MaxValueValidator(10)</a:t>
            </a:r>
            <a:r>
              <a:rPr lang="pt-BR" sz="1200">
                <a:solidFill>
                  <a:srgbClr val="3A3F44"/>
                </a:solidFill>
              </a:rPr>
              <a:t> no modelo; o form mostra o erro embaixo do campo.</a:t>
            </a:r>
            <a:endParaRPr lang="pt-BR" sz="12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6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9190110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Para levar desta aula</a:t>
            </a:r>
            <a:endParaRPr lang="en-US" sz="3200"/>
          </a:p>
        </p:txBody>
      </p:sp>
      <p:sp>
        <p:nvSpPr>
          <p:cNvPr id="1750016087" name="Shape 1"/>
          <p:cNvSpPr/>
          <p:nvPr/>
        </p:nvSpPr>
        <p:spPr bwMode="auto">
          <a:xfrm>
            <a:off x="768096" y="1234440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614454449" name="Shape 2"/>
          <p:cNvSpPr/>
          <p:nvPr/>
        </p:nvSpPr>
        <p:spPr bwMode="auto">
          <a:xfrm>
            <a:off x="950976" y="1371600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327406766" name="Text 3"/>
          <p:cNvSpPr txBox="1"/>
          <p:nvPr/>
        </p:nvSpPr>
        <p:spPr bwMode="auto">
          <a:xfrm>
            <a:off x="950976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436646706" name="Text 4"/>
          <p:cNvSpPr txBox="1"/>
          <p:nvPr/>
        </p:nvSpPr>
        <p:spPr bwMode="auto">
          <a:xfrm>
            <a:off x="1554480" y="1234440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>
                <a:solidFill>
                  <a:srgbClr val="3A3F44"/>
                </a:solidFill>
              </a:rPr>
              <a:t>Integridade no modelo e no banco. Mensagem no formulário. Fluxo na view.</a:t>
            </a:r>
            <a:endParaRPr lang="en-US" sz="1600"/>
          </a:p>
        </p:txBody>
      </p:sp>
      <p:sp>
        <p:nvSpPr>
          <p:cNvPr id="1414195916" name="Shape 5"/>
          <p:cNvSpPr/>
          <p:nvPr/>
        </p:nvSpPr>
        <p:spPr bwMode="auto">
          <a:xfrm>
            <a:off x="768096" y="2039112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284028767" name="Shape 6"/>
          <p:cNvSpPr/>
          <p:nvPr/>
        </p:nvSpPr>
        <p:spPr bwMode="auto">
          <a:xfrm>
            <a:off x="950976" y="2176272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2079689111" name="Text 7"/>
          <p:cNvSpPr txBox="1"/>
          <p:nvPr/>
        </p:nvSpPr>
        <p:spPr bwMode="auto">
          <a:xfrm>
            <a:off x="950976" y="2176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2085248772" name="Text 8"/>
          <p:cNvSpPr txBox="1"/>
          <p:nvPr/>
        </p:nvSpPr>
        <p:spPr bwMode="auto">
          <a:xfrm>
            <a:off x="1554480" y="2039112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>
                <a:solidFill>
                  <a:srgbClr val="3A3F44"/>
                </a:solidFill>
              </a:rPr>
              <a:t>Editar é criar com </a:t>
            </a:r>
            <a:r>
              <a:rPr lang="en-US" sz="14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get_object_or_404</a:t>
            </a:r>
            <a:r>
              <a:rPr lang="en-US" sz="1600">
                <a:solidFill>
                  <a:srgbClr val="3A3F44"/>
                </a:solidFill>
              </a:rPr>
              <a:t> e </a:t>
            </a:r>
            <a:r>
              <a:rPr lang="en-US" sz="14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instance=</a:t>
            </a:r>
            <a:r>
              <a:rPr lang="en-US" sz="1600">
                <a:solidFill>
                  <a:srgbClr val="3A3F44"/>
                </a:solidFill>
              </a:rPr>
              <a:t> nos dois caminhos.</a:t>
            </a:r>
            <a:endParaRPr lang="en-US" sz="1600"/>
          </a:p>
        </p:txBody>
      </p:sp>
      <p:sp>
        <p:nvSpPr>
          <p:cNvPr id="1783846064" name="Shape 9"/>
          <p:cNvSpPr/>
          <p:nvPr/>
        </p:nvSpPr>
        <p:spPr bwMode="auto">
          <a:xfrm>
            <a:off x="768096" y="2843784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134253445" name="Shape 10"/>
          <p:cNvSpPr/>
          <p:nvPr/>
        </p:nvSpPr>
        <p:spPr bwMode="auto">
          <a:xfrm>
            <a:off x="950976" y="2980944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960408518" name="Text 11"/>
          <p:cNvSpPr txBox="1"/>
          <p:nvPr/>
        </p:nvSpPr>
        <p:spPr bwMode="auto">
          <a:xfrm>
            <a:off x="950976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3</a:t>
            </a:r>
            <a:endParaRPr lang="en-US" sz="1400"/>
          </a:p>
        </p:txBody>
      </p:sp>
      <p:sp>
        <p:nvSpPr>
          <p:cNvPr id="126552020" name="Text 12"/>
          <p:cNvSpPr txBox="1"/>
          <p:nvPr/>
        </p:nvSpPr>
        <p:spPr bwMode="auto">
          <a:xfrm>
            <a:off x="1554480" y="2843784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>
                <a:solidFill>
                  <a:srgbClr val="3A3F44"/>
                </a:solidFill>
              </a:rPr>
              <a:t>POST salva e redireciona. Exclusão só no POST, com confirmação no GET.</a:t>
            </a:r>
            <a:endParaRPr lang="en-US" sz="1600"/>
          </a:p>
        </p:txBody>
      </p:sp>
      <p:sp>
        <p:nvSpPr>
          <p:cNvPr id="1833931684" name="Shape 13"/>
          <p:cNvSpPr/>
          <p:nvPr/>
        </p:nvSpPr>
        <p:spPr bwMode="auto">
          <a:xfrm>
            <a:off x="768096" y="3648456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79722159" name="Shape 14"/>
          <p:cNvSpPr/>
          <p:nvPr/>
        </p:nvSpPr>
        <p:spPr bwMode="auto">
          <a:xfrm>
            <a:off x="950976" y="3785616"/>
            <a:ext cx="384048" cy="384048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705941613" name="Text 15"/>
          <p:cNvSpPr txBox="1"/>
          <p:nvPr/>
        </p:nvSpPr>
        <p:spPr bwMode="auto">
          <a:xfrm>
            <a:off x="950976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4</a:t>
            </a:r>
            <a:endParaRPr lang="en-US" sz="1400"/>
          </a:p>
        </p:txBody>
      </p:sp>
      <p:sp>
        <p:nvSpPr>
          <p:cNvPr id="1272053990" name="Text 16"/>
          <p:cNvSpPr txBox="1"/>
          <p:nvPr/>
        </p:nvSpPr>
        <p:spPr bwMode="auto">
          <a:xfrm>
            <a:off x="1554480" y="3648456"/>
            <a:ext cx="6675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600">
                <a:solidFill>
                  <a:srgbClr val="3A3F44"/>
                </a:solidFill>
              </a:rPr>
              <a:t>Erro previsível vira mensagem. Delete ou soft delete é decisão de projeto: justifiquem.</a:t>
            </a:r>
            <a:endParaRPr lang="en-US"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7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109790" name="Text 4"/>
          <p:cNvSpPr/>
          <p:nvPr>
            <p:ph type="title" idx="104" hasCustomPrompt="1"/>
          </p:nvPr>
        </p:nvSpPr>
        <p:spPr bwMode="auto">
          <a:xfrm>
            <a:off x="996696" y="1737360"/>
            <a:ext cx="4434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4000">
                <a:solidFill>
                  <a:schemeClr val="bg1"/>
                </a:solidFill>
              </a:rPr>
              <a:t>Prática: fechando o CRUD de aluno</a:t>
            </a:r>
            <a:endParaRPr lang="en-US" sz="4000"/>
          </a:p>
        </p:txBody>
      </p:sp>
      <p:sp>
        <p:nvSpPr>
          <p:cNvPr id="935209673" name="Text 4"/>
          <p:cNvSpPr/>
          <p:nvPr>
            <p:ph type="body" idx="105" hasCustomPrompt="1"/>
          </p:nvPr>
        </p:nvSpPr>
        <p:spPr bwMode="auto">
          <a:xfrm>
            <a:off x="996696" y="3246120"/>
            <a:ext cx="4434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  <a:defRPr/>
            </a:pPr>
            <a:r>
              <a:rPr lang="en-US" sz="1600">
                <a:solidFill>
                  <a:schemeClr val="bg2"/>
                </a:solidFill>
              </a:rPr>
              <a:t>Ache o erro · TODOs 4 a 9 · teste como usuário</a:t>
            </a:r>
            <a:endParaRPr lang="en-US" sz="1600"/>
          </a:p>
        </p:txBody>
      </p:sp>
      <p:sp>
        <p:nvSpPr>
          <p:cNvPr id="168451649" name="capa fundo"/>
          <p:cNvSpPr/>
          <p:nvPr/>
        </p:nvSpPr>
        <p:spPr bwMode="auto">
          <a:xfrm>
            <a:off x="5669280" y="2102206"/>
            <a:ext cx="3246120" cy="939089"/>
          </a:xfrm>
          <a:prstGeom prst="roundRect">
            <a:avLst>
              <a:gd name="adj" fmla="val 7790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103846475" name="Shape 3"/>
          <p:cNvSpPr/>
          <p:nvPr/>
        </p:nvSpPr>
        <p:spPr bwMode="auto">
          <a:xfrm>
            <a:off x="5833872" y="2221078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854638948" name="Shape 4"/>
          <p:cNvSpPr/>
          <p:nvPr/>
        </p:nvSpPr>
        <p:spPr bwMode="auto">
          <a:xfrm>
            <a:off x="5980176" y="2221078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353083238" name="Shape 5"/>
          <p:cNvSpPr/>
          <p:nvPr/>
        </p:nvSpPr>
        <p:spPr bwMode="auto">
          <a:xfrm>
            <a:off x="6126480" y="2221078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416933769" name="Text 6"/>
          <p:cNvSpPr txBox="1"/>
          <p:nvPr/>
        </p:nvSpPr>
        <p:spPr bwMode="auto">
          <a:xfrm>
            <a:off x="6327648" y="2157070"/>
            <a:ext cx="24231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terminal</a:t>
            </a:r>
            <a:endParaRPr lang="en-US" sz="900"/>
          </a:p>
        </p:txBody>
      </p:sp>
      <p:sp>
        <p:nvSpPr>
          <p:cNvPr id="1722848319" name="capa texto"/>
          <p:cNvSpPr txBox="1"/>
          <p:nvPr/>
        </p:nvSpPr>
        <p:spPr bwMode="auto">
          <a:xfrm>
            <a:off x="5888736" y="2486254"/>
            <a:ext cx="2880360" cy="4636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python manage.py runserver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python verificar.py</a:t>
            </a:r>
            <a:endParaRPr lang="en-US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747104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Prática 1: ache o erro</a:t>
            </a:r>
            <a:endParaRPr lang="en-US" sz="3200"/>
          </a:p>
        </p:txBody>
      </p:sp>
      <p:sp>
        <p:nvSpPr>
          <p:cNvPr id="1270062996" name="Shape 1"/>
          <p:cNvSpPr/>
          <p:nvPr/>
        </p:nvSpPr>
        <p:spPr bwMode="auto">
          <a:xfrm>
            <a:off x="6784848" y="512064"/>
            <a:ext cx="1591056" cy="274320"/>
          </a:xfrm>
          <a:prstGeom prst="roundRect">
            <a:avLst>
              <a:gd name="adj" fmla="val 50000"/>
            </a:avLst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75543052" name="Text 2"/>
          <p:cNvSpPr txBox="1"/>
          <p:nvPr/>
        </p:nvSpPr>
        <p:spPr bwMode="auto">
          <a:xfrm>
            <a:off x="6784848" y="5120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</a:rPr>
              <a:t>≈ 10 min, em duplas</a:t>
            </a:r>
            <a:endParaRPr lang="en-US" sz="1100"/>
          </a:p>
        </p:txBody>
      </p:sp>
      <p:sp>
        <p:nvSpPr>
          <p:cNvPr id="1776125091" name="codigo fundo"/>
          <p:cNvSpPr/>
          <p:nvPr/>
        </p:nvSpPr>
        <p:spPr bwMode="auto">
          <a:xfrm>
            <a:off x="768096" y="1188720"/>
            <a:ext cx="3712464" cy="1572768"/>
          </a:xfrm>
          <a:prstGeom prst="roundRect">
            <a:avLst>
              <a:gd name="adj" fmla="val 4651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1371120024" name="Shape 4"/>
          <p:cNvSpPr/>
          <p:nvPr/>
        </p:nvSpPr>
        <p:spPr bwMode="auto">
          <a:xfrm>
            <a:off x="932688" y="130759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12295599" name="Shape 5"/>
          <p:cNvSpPr/>
          <p:nvPr/>
        </p:nvSpPr>
        <p:spPr bwMode="auto">
          <a:xfrm>
            <a:off x="1078992" y="130759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10324094" name="Shape 6"/>
          <p:cNvSpPr/>
          <p:nvPr/>
        </p:nvSpPr>
        <p:spPr bwMode="auto">
          <a:xfrm>
            <a:off x="1225296" y="130759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33890768" name="Text 7"/>
          <p:cNvSpPr txBox="1"/>
          <p:nvPr/>
        </p:nvSpPr>
        <p:spPr bwMode="auto">
          <a:xfrm>
            <a:off x="1426464" y="1243584"/>
            <a:ext cx="2889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A · aluno_editar</a:t>
            </a:r>
            <a:endParaRPr lang="en-US" sz="900"/>
          </a:p>
        </p:txBody>
      </p:sp>
      <p:sp>
        <p:nvSpPr>
          <p:cNvPr id="853615946" name="codigo texto"/>
          <p:cNvSpPr txBox="1"/>
          <p:nvPr/>
        </p:nvSpPr>
        <p:spPr bwMode="auto">
          <a:xfrm>
            <a:off x="987552" y="1572768"/>
            <a:ext cx="3346704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aluno = get_object_or_404(Aluno, pk=pk)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form = AlunoForm(request.POST)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form.is_valid():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form.save()</a:t>
            </a:r>
            <a:endParaRPr lang="en-US" sz="1050"/>
          </a:p>
        </p:txBody>
      </p:sp>
      <p:sp>
        <p:nvSpPr>
          <p:cNvPr id="1003683606" name="codigo fundo"/>
          <p:cNvSpPr/>
          <p:nvPr/>
        </p:nvSpPr>
        <p:spPr bwMode="auto">
          <a:xfrm>
            <a:off x="4663440" y="1188720"/>
            <a:ext cx="3712464" cy="1572768"/>
          </a:xfrm>
          <a:prstGeom prst="roundRect">
            <a:avLst>
              <a:gd name="adj" fmla="val 4651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1519895263" name="Shape 10"/>
          <p:cNvSpPr/>
          <p:nvPr/>
        </p:nvSpPr>
        <p:spPr bwMode="auto">
          <a:xfrm>
            <a:off x="4828032" y="130759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08880574" name="Shape 11"/>
          <p:cNvSpPr/>
          <p:nvPr/>
        </p:nvSpPr>
        <p:spPr bwMode="auto">
          <a:xfrm>
            <a:off x="4974336" y="130759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686630974" name="Shape 12"/>
          <p:cNvSpPr/>
          <p:nvPr/>
        </p:nvSpPr>
        <p:spPr bwMode="auto">
          <a:xfrm>
            <a:off x="5120640" y="130759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365252085" name="Text 13"/>
          <p:cNvSpPr txBox="1"/>
          <p:nvPr/>
        </p:nvSpPr>
        <p:spPr bwMode="auto">
          <a:xfrm>
            <a:off x="5321808" y="1243584"/>
            <a:ext cx="2889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B · aluno_excluir</a:t>
            </a:r>
            <a:endParaRPr lang="en-US" sz="900"/>
          </a:p>
        </p:txBody>
      </p:sp>
      <p:sp>
        <p:nvSpPr>
          <p:cNvPr id="1151250211" name="codigo texto"/>
          <p:cNvSpPr txBox="1"/>
          <p:nvPr/>
        </p:nvSpPr>
        <p:spPr bwMode="auto">
          <a:xfrm>
            <a:off x="4882896" y="1572768"/>
            <a:ext cx="3346704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9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def</a:t>
            </a:r>
            <a:r>
              <a:rPr lang="en-US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aluno_excluir(request, pk):</a:t>
            </a:r>
            <a:endParaRPr lang="en-US" sz="950"/>
          </a:p>
          <a:p>
            <a:pPr marL="0" indent="0">
              <a:buNone/>
              <a:defRPr/>
            </a:pPr>
            <a:r>
              <a:rPr lang="en-US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aluno = get_object_or_404(Aluno, pk=pk)</a:t>
            </a:r>
            <a:endParaRPr lang="en-US" sz="950"/>
          </a:p>
          <a:p>
            <a:pPr marL="0" indent="0">
              <a:buNone/>
              <a:defRPr/>
            </a:pPr>
            <a:r>
              <a:rPr lang="en-US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aluno.delete()</a:t>
            </a:r>
            <a:endParaRPr lang="en-US" sz="950"/>
          </a:p>
          <a:p>
            <a:pPr marL="0" indent="0">
              <a:buNone/>
              <a:defRPr/>
            </a:pPr>
            <a:r>
              <a:rPr lang="en-US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en-US" sz="9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en-US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redirect(</a:t>
            </a:r>
            <a:r>
              <a:rPr lang="en-US" sz="95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"academico:aluno_lista"</a:t>
            </a:r>
            <a:r>
              <a:rPr lang="en-US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)</a:t>
            </a:r>
            <a:endParaRPr lang="en-US" sz="950"/>
          </a:p>
        </p:txBody>
      </p:sp>
      <p:sp>
        <p:nvSpPr>
          <p:cNvPr id="621247050" name="codigo fundo"/>
          <p:cNvSpPr/>
          <p:nvPr/>
        </p:nvSpPr>
        <p:spPr bwMode="auto">
          <a:xfrm>
            <a:off x="768096" y="2926080"/>
            <a:ext cx="3712464" cy="1572768"/>
          </a:xfrm>
          <a:prstGeom prst="roundRect">
            <a:avLst>
              <a:gd name="adj" fmla="val 4651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948367160" name="Shape 16"/>
          <p:cNvSpPr/>
          <p:nvPr/>
        </p:nvSpPr>
        <p:spPr bwMode="auto">
          <a:xfrm>
            <a:off x="932688" y="304495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1617897715" name="Shape 17"/>
          <p:cNvSpPr/>
          <p:nvPr/>
        </p:nvSpPr>
        <p:spPr bwMode="auto">
          <a:xfrm>
            <a:off x="1078992" y="304495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088495640" name="Shape 18"/>
          <p:cNvSpPr/>
          <p:nvPr/>
        </p:nvSpPr>
        <p:spPr bwMode="auto">
          <a:xfrm>
            <a:off x="1225296" y="304495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147361626" name="Text 19"/>
          <p:cNvSpPr txBox="1"/>
          <p:nvPr/>
        </p:nvSpPr>
        <p:spPr bwMode="auto">
          <a:xfrm>
            <a:off x="1426464" y="2980944"/>
            <a:ext cx="2889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C · DisciplinaForm</a:t>
            </a:r>
            <a:endParaRPr lang="en-US" sz="900"/>
          </a:p>
        </p:txBody>
      </p:sp>
      <p:sp>
        <p:nvSpPr>
          <p:cNvPr id="2002417570" name="codigo texto"/>
          <p:cNvSpPr txBox="1"/>
          <p:nvPr/>
        </p:nvSpPr>
        <p:spPr bwMode="auto">
          <a:xfrm>
            <a:off x="987552" y="3310127"/>
            <a:ext cx="3346704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def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clean_codigo(self):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codigo = self.cleaned_data[</a:t>
            </a:r>
            <a:r>
              <a:rPr lang="en-US" sz="105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"codigo"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]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codigo = codigo.strip().upper()</a:t>
            </a:r>
            <a:endParaRPr lang="en-US" sz="1050"/>
          </a:p>
        </p:txBody>
      </p:sp>
      <p:sp>
        <p:nvSpPr>
          <p:cNvPr id="560904810" name="codigo fundo"/>
          <p:cNvSpPr/>
          <p:nvPr/>
        </p:nvSpPr>
        <p:spPr bwMode="auto">
          <a:xfrm>
            <a:off x="4663440" y="2926080"/>
            <a:ext cx="3712464" cy="1572768"/>
          </a:xfrm>
          <a:prstGeom prst="roundRect">
            <a:avLst>
              <a:gd name="adj" fmla="val 4651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566122900" name="Shape 22"/>
          <p:cNvSpPr/>
          <p:nvPr/>
        </p:nvSpPr>
        <p:spPr bwMode="auto">
          <a:xfrm>
            <a:off x="4828032" y="304495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6283961" name="Shape 23"/>
          <p:cNvSpPr/>
          <p:nvPr/>
        </p:nvSpPr>
        <p:spPr bwMode="auto">
          <a:xfrm>
            <a:off x="4974336" y="304495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528442107" name="Shape 24"/>
          <p:cNvSpPr/>
          <p:nvPr/>
        </p:nvSpPr>
        <p:spPr bwMode="auto">
          <a:xfrm>
            <a:off x="5120640" y="304495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42942324" name="Text 25"/>
          <p:cNvSpPr txBox="1"/>
          <p:nvPr/>
        </p:nvSpPr>
        <p:spPr bwMode="auto">
          <a:xfrm>
            <a:off x="5321808" y="2980944"/>
            <a:ext cx="2889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D · aluno_novo</a:t>
            </a:r>
            <a:endParaRPr lang="en-US" sz="900"/>
          </a:p>
        </p:txBody>
      </p:sp>
      <p:sp>
        <p:nvSpPr>
          <p:cNvPr id="1241467506" name="codigo texto"/>
          <p:cNvSpPr txBox="1"/>
          <p:nvPr/>
        </p:nvSpPr>
        <p:spPr bwMode="auto">
          <a:xfrm>
            <a:off x="4882896" y="3310127"/>
            <a:ext cx="3346704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form.is_valid():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form.save()</a:t>
            </a:r>
            <a:endParaRPr lang="en-US" sz="1050"/>
          </a:p>
          <a:p>
            <a:pPr marL="0" indent="0">
              <a:buNone/>
              <a:defRPr/>
            </a:pP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</a:t>
            </a:r>
            <a:r>
              <a:rPr lang="en-US" sz="10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en-US" sz="10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aluno_lista(request)</a:t>
            </a:r>
            <a:endParaRPr lang="en-US" sz="105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1878203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Gabarito: ache o erro (A e B)</a:t>
            </a:r>
            <a:endParaRPr lang="en-US" sz="3200"/>
          </a:p>
        </p:txBody>
      </p:sp>
      <p:sp>
        <p:nvSpPr>
          <p:cNvPr id="1558038708" name="Shape 1"/>
          <p:cNvSpPr/>
          <p:nvPr/>
        </p:nvSpPr>
        <p:spPr bwMode="auto">
          <a:xfrm>
            <a:off x="6784848" y="512064"/>
            <a:ext cx="1591056" cy="274320"/>
          </a:xfrm>
          <a:prstGeom prst="roundRect">
            <a:avLst>
              <a:gd name="adj" fmla="val 50000"/>
            </a:avLst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2102001235" name="Text 2"/>
          <p:cNvSpPr txBox="1"/>
          <p:nvPr/>
        </p:nvSpPr>
        <p:spPr bwMode="auto">
          <a:xfrm>
            <a:off x="6784848" y="5120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</a:rPr>
              <a:t>respostas da prática 1</a:t>
            </a:r>
            <a:endParaRPr lang="en-US" sz="1100"/>
          </a:p>
        </p:txBody>
      </p:sp>
      <p:sp>
        <p:nvSpPr>
          <p:cNvPr id="55233682" name="codigo fundo"/>
          <p:cNvSpPr/>
          <p:nvPr/>
        </p:nvSpPr>
        <p:spPr bwMode="auto">
          <a:xfrm>
            <a:off x="768096" y="1097280"/>
            <a:ext cx="3931920" cy="1600200"/>
          </a:xfrm>
          <a:prstGeom prst="roundRect">
            <a:avLst>
              <a:gd name="adj" fmla="val 4651"/>
            </a:avLst>
          </a:prstGeom>
          <a:solidFill>
            <a:srgbClr val="1E2433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407167132" name="forma"/>
          <p:cNvSpPr/>
          <p:nvPr/>
        </p:nvSpPr>
        <p:spPr bwMode="auto">
          <a:xfrm>
            <a:off x="932688" y="1216151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088616648" name="forma"/>
          <p:cNvSpPr/>
          <p:nvPr/>
        </p:nvSpPr>
        <p:spPr bwMode="auto">
          <a:xfrm>
            <a:off x="1078992" y="1216151"/>
            <a:ext cx="91440" cy="9144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2056801632" name="forma"/>
          <p:cNvSpPr/>
          <p:nvPr/>
        </p:nvSpPr>
        <p:spPr bwMode="auto">
          <a:xfrm>
            <a:off x="1225296" y="1216151"/>
            <a:ext cx="91440" cy="9144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259937646" name="codigo rotulo"/>
          <p:cNvSpPr txBox="1"/>
          <p:nvPr/>
        </p:nvSpPr>
        <p:spPr bwMode="auto">
          <a:xfrm>
            <a:off x="1426464" y="1152144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  <a:defRPr/>
            </a:pPr>
            <a:r>
              <a:rPr lang="pt-BR" sz="9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A · aluno_editar · corrigido</a:t>
            </a:r>
            <a:endParaRPr lang="pt-BR" sz="900"/>
          </a:p>
        </p:txBody>
      </p:sp>
      <p:sp>
        <p:nvSpPr>
          <p:cNvPr id="1069756948" name="codigo texto"/>
          <p:cNvSpPr txBox="1"/>
          <p:nvPr/>
        </p:nvSpPr>
        <p:spPr bwMode="auto">
          <a:xfrm>
            <a:off x="987552" y="1481328"/>
            <a:ext cx="3566160" cy="1143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marL="0" indent="0">
              <a:buNone/>
              <a:defRPr/>
            </a:pPr>
            <a:r>
              <a:rPr lang="pt-BR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aluno = get_object_or_404(Aluno, pk=pk)</a:t>
            </a:r>
            <a:endParaRPr lang="pt-BR" sz="950"/>
          </a:p>
          <a:p>
            <a:pPr marL="0" indent="0">
              <a:buNone/>
              <a:defRPr/>
            </a:pPr>
            <a:r>
              <a:rPr lang="pt-BR" sz="950">
                <a:solidFill>
                  <a:srgbClr val="7EE787"/>
                </a:solidFill>
                <a:latin typeface="Courier New"/>
                <a:ea typeface="Courier New"/>
                <a:cs typeface="Courier New"/>
              </a:rPr>
              <a:t>form = AlunoForm(request.POST, instance=aluno)</a:t>
            </a:r>
            <a:endParaRPr lang="pt-BR" sz="950"/>
          </a:p>
          <a:p>
            <a:pPr marL="0" indent="0">
              <a:buNone/>
              <a:defRPr/>
            </a:pPr>
            <a:r>
              <a:rPr lang="pt-BR" sz="9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lang="pt-BR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form.is_valid():</a:t>
            </a:r>
            <a:endParaRPr lang="pt-BR" sz="950"/>
          </a:p>
          <a:p>
            <a:pPr marL="0" indent="0">
              <a:buNone/>
              <a:defRPr/>
            </a:pPr>
            <a:r>
              <a:rPr lang="pt-BR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form.save()</a:t>
            </a:r>
            <a:endParaRPr lang="pt-BR" sz="950"/>
          </a:p>
        </p:txBody>
      </p:sp>
      <p:sp>
        <p:nvSpPr>
          <p:cNvPr id="987422540" name="painel"/>
          <p:cNvSpPr/>
          <p:nvPr/>
        </p:nvSpPr>
        <p:spPr bwMode="auto">
          <a:xfrm>
            <a:off x="4846320" y="1097280"/>
            <a:ext cx="3529584" cy="1600200"/>
          </a:xfrm>
          <a:prstGeom prst="roundRect">
            <a:avLst>
              <a:gd name="adj" fmla="val 4651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321947128" name="texto"/>
          <p:cNvSpPr txBox="1"/>
          <p:nvPr/>
        </p:nvSpPr>
        <p:spPr bwMode="auto">
          <a:xfrm>
            <a:off x="5029200" y="1243584"/>
            <a:ext cx="3163824" cy="1307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300"/>
              </a:spcAft>
              <a:buNone/>
              <a:defRPr/>
            </a:pPr>
            <a:r>
              <a:rPr lang="pt-BR" sz="1300" b="1">
                <a:solidFill>
                  <a:srgbClr val="00397B"/>
                </a:solidFill>
              </a:rPr>
              <a:t>A · faltava </a:t>
            </a:r>
            <a:r>
              <a:rPr lang="pt-BR" sz="1150" b="1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instance=</a:t>
            </a:r>
            <a:endParaRPr lang="pt-BR" sz="1300"/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pt-BR" sz="1100" b="1">
                <a:solidFill>
                  <a:srgbClr val="3A3F44"/>
                </a:solidFill>
              </a:rPr>
              <a:t>Por quê:</a:t>
            </a:r>
            <a:r>
              <a:rPr lang="pt-BR" sz="1100">
                <a:solidFill>
                  <a:srgbClr val="3A3F44"/>
                </a:solidFill>
              </a:rPr>
              <a:t> sem </a:t>
            </a:r>
            <a:r>
              <a:rPr lang="pt-BR" sz="9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instance=</a:t>
            </a:r>
            <a:r>
              <a:rPr lang="pt-BR" sz="1100">
                <a:solidFill>
                  <a:srgbClr val="3A3F44"/>
                </a:solidFill>
              </a:rPr>
              <a:t>, o form não sabe que está editando. O </a:t>
            </a:r>
            <a:r>
              <a:rPr lang="pt-BR" sz="9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save()</a:t>
            </a:r>
            <a:r>
              <a:rPr lang="pt-BR" sz="1100">
                <a:solidFill>
                  <a:srgbClr val="3A3F44"/>
                </a:solidFill>
              </a:rPr>
              <a:t> faz INSERT e cria um segundo aluno; o original fica com o e-mail antigo.</a:t>
            </a:r>
            <a:endParaRPr lang="pt-BR" sz="1100"/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pt-BR" sz="1100" b="1">
                <a:solidFill>
                  <a:srgbClr val="3A3F44"/>
                </a:solidFill>
              </a:rPr>
              <a:t>Correção:</a:t>
            </a:r>
            <a:r>
              <a:rPr lang="pt-BR" sz="1100">
                <a:solidFill>
                  <a:srgbClr val="3A3F44"/>
                </a:solidFill>
              </a:rPr>
              <a:t> passar </a:t>
            </a:r>
            <a:r>
              <a:rPr lang="pt-BR" sz="9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instance=aluno</a:t>
            </a:r>
            <a:r>
              <a:rPr lang="pt-BR" sz="1100">
                <a:solidFill>
                  <a:srgbClr val="3A3F44"/>
                </a:solidFill>
              </a:rPr>
              <a:t>, e o </a:t>
            </a:r>
            <a:r>
              <a:rPr lang="pt-BR" sz="9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save()</a:t>
            </a:r>
            <a:r>
              <a:rPr lang="pt-BR" sz="1100">
                <a:solidFill>
                  <a:srgbClr val="3A3F44"/>
                </a:solidFill>
              </a:rPr>
              <a:t> vira UPDATE ... WHERE id.</a:t>
            </a:r>
            <a:endParaRPr lang="pt-BR" sz="1100"/>
          </a:p>
        </p:txBody>
      </p:sp>
      <p:sp>
        <p:nvSpPr>
          <p:cNvPr id="595185596" name="codigo fundo"/>
          <p:cNvSpPr/>
          <p:nvPr/>
        </p:nvSpPr>
        <p:spPr bwMode="auto">
          <a:xfrm>
            <a:off x="768096" y="2834640"/>
            <a:ext cx="3931920" cy="1600200"/>
          </a:xfrm>
          <a:prstGeom prst="roundRect">
            <a:avLst>
              <a:gd name="adj" fmla="val 4651"/>
            </a:avLst>
          </a:prstGeom>
          <a:solidFill>
            <a:srgbClr val="1E2433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901933356" name="forma"/>
          <p:cNvSpPr/>
          <p:nvPr/>
        </p:nvSpPr>
        <p:spPr bwMode="auto">
          <a:xfrm>
            <a:off x="932688" y="2953512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597268478" name="forma"/>
          <p:cNvSpPr/>
          <p:nvPr/>
        </p:nvSpPr>
        <p:spPr bwMode="auto">
          <a:xfrm>
            <a:off x="1078992" y="2953512"/>
            <a:ext cx="91440" cy="9144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10759339" name="forma"/>
          <p:cNvSpPr/>
          <p:nvPr/>
        </p:nvSpPr>
        <p:spPr bwMode="auto">
          <a:xfrm>
            <a:off x="1225296" y="2953512"/>
            <a:ext cx="91440" cy="9144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121957193" name="codigo rotulo"/>
          <p:cNvSpPr txBox="1"/>
          <p:nvPr/>
        </p:nvSpPr>
        <p:spPr bwMode="auto">
          <a:xfrm>
            <a:off x="1426464" y="2889504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  <a:defRPr/>
            </a:pPr>
            <a:r>
              <a:rPr lang="pt-BR" sz="9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B · aluno_excluir · corrigido</a:t>
            </a:r>
            <a:endParaRPr lang="pt-BR" sz="900"/>
          </a:p>
        </p:txBody>
      </p:sp>
      <p:sp>
        <p:nvSpPr>
          <p:cNvPr id="1872367822" name="codigo texto"/>
          <p:cNvSpPr txBox="1"/>
          <p:nvPr/>
        </p:nvSpPr>
        <p:spPr bwMode="auto">
          <a:xfrm>
            <a:off x="987552" y="3218688"/>
            <a:ext cx="3566160" cy="1143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marL="0" indent="0">
              <a:buNone/>
              <a:defRPr/>
            </a:pPr>
            <a:r>
              <a:rPr lang="pt-BR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aluno = get_object_or_404(Aluno, pk=pk)</a:t>
            </a:r>
            <a:endParaRPr lang="pt-BR" sz="950"/>
          </a:p>
          <a:p>
            <a:pPr marL="0" indent="0">
              <a:buNone/>
              <a:defRPr/>
            </a:pPr>
            <a:r>
              <a:rPr lang="pt-BR" sz="950">
                <a:solidFill>
                  <a:srgbClr val="7EE787"/>
                </a:solidFill>
                <a:latin typeface="Courier New"/>
                <a:ea typeface="Courier New"/>
                <a:cs typeface="Courier New"/>
              </a:rPr>
              <a:t>if request.method == "POST":</a:t>
            </a:r>
            <a:endParaRPr lang="pt-BR" sz="950"/>
          </a:p>
          <a:p>
            <a:pPr marL="0" indent="0">
              <a:buNone/>
              <a:defRPr/>
            </a:pPr>
            <a:r>
              <a:rPr lang="pt-BR" sz="950">
                <a:solidFill>
                  <a:srgbClr val="7EE787"/>
                </a:solidFill>
                <a:latin typeface="Courier New"/>
                <a:ea typeface="Courier New"/>
                <a:cs typeface="Courier New"/>
              </a:rPr>
              <a:t>    aluno.delete()</a:t>
            </a:r>
            <a:endParaRPr lang="pt-BR" sz="950"/>
          </a:p>
          <a:p>
            <a:pPr marL="0" indent="0">
              <a:buNone/>
              <a:defRPr/>
            </a:pPr>
            <a:r>
              <a:rPr lang="pt-BR" sz="950">
                <a:solidFill>
                  <a:srgbClr val="7EE787"/>
                </a:solidFill>
                <a:latin typeface="Courier New"/>
                <a:ea typeface="Courier New"/>
                <a:cs typeface="Courier New"/>
              </a:rPr>
              <a:t>    return redirect("academico:aluno_lista")</a:t>
            </a:r>
            <a:endParaRPr lang="pt-BR" sz="950"/>
          </a:p>
          <a:p>
            <a:pPr marL="0" indent="0">
              <a:buNone/>
              <a:defRPr/>
            </a:pPr>
            <a:r>
              <a:rPr lang="pt-BR" sz="950">
                <a:solidFill>
                  <a:srgbClr val="7EE787"/>
                </a:solidFill>
                <a:latin typeface="Courier New"/>
                <a:ea typeface="Courier New"/>
                <a:cs typeface="Courier New"/>
              </a:rPr>
              <a:t>return render(request,</a:t>
            </a:r>
            <a:endParaRPr lang="pt-BR" sz="950"/>
          </a:p>
          <a:p>
            <a:pPr marL="0" indent="0">
              <a:buNone/>
              <a:defRPr/>
            </a:pPr>
            <a:r>
              <a:rPr lang="pt-BR" sz="950">
                <a:solidFill>
                  <a:srgbClr val="7EE787"/>
                </a:solidFill>
                <a:latin typeface="Courier New"/>
                <a:ea typeface="Courier New"/>
                <a:cs typeface="Courier New"/>
              </a:rPr>
              <a:t>    "academico/aluno_confirmar_exclusao.html",</a:t>
            </a:r>
            <a:endParaRPr lang="pt-BR" sz="950"/>
          </a:p>
          <a:p>
            <a:pPr marL="0" indent="0">
              <a:buNone/>
              <a:defRPr/>
            </a:pPr>
            <a:r>
              <a:rPr lang="pt-BR" sz="950">
                <a:solidFill>
                  <a:srgbClr val="7EE787"/>
                </a:solidFill>
                <a:latin typeface="Courier New"/>
                <a:ea typeface="Courier New"/>
                <a:cs typeface="Courier New"/>
              </a:rPr>
              <a:t>    {"aluno": aluno})</a:t>
            </a:r>
            <a:endParaRPr lang="pt-BR" sz="950"/>
          </a:p>
        </p:txBody>
      </p:sp>
      <p:sp>
        <p:nvSpPr>
          <p:cNvPr id="18629725" name="painel"/>
          <p:cNvSpPr/>
          <p:nvPr/>
        </p:nvSpPr>
        <p:spPr bwMode="auto">
          <a:xfrm>
            <a:off x="4846320" y="2834640"/>
            <a:ext cx="3529584" cy="1600200"/>
          </a:xfrm>
          <a:prstGeom prst="roundRect">
            <a:avLst>
              <a:gd name="adj" fmla="val 4651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00404444" name="texto"/>
          <p:cNvSpPr txBox="1"/>
          <p:nvPr/>
        </p:nvSpPr>
        <p:spPr bwMode="auto">
          <a:xfrm>
            <a:off x="5029200" y="2980944"/>
            <a:ext cx="3163824" cy="1307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300"/>
              </a:spcAft>
              <a:buNone/>
              <a:defRPr/>
            </a:pPr>
            <a:r>
              <a:rPr lang="pt-BR" sz="1300" b="1">
                <a:solidFill>
                  <a:srgbClr val="00397B"/>
                </a:solidFill>
              </a:rPr>
              <a:t>B · apagava no GET</a:t>
            </a:r>
            <a:endParaRPr lang="pt-BR" sz="1300"/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pt-BR" sz="1100" b="1">
                <a:solidFill>
                  <a:srgbClr val="3A3F44"/>
                </a:solidFill>
              </a:rPr>
              <a:t>Por quê:</a:t>
            </a:r>
            <a:r>
              <a:rPr lang="pt-BR" sz="1100">
                <a:solidFill>
                  <a:srgbClr val="3A3F44"/>
                </a:solidFill>
              </a:rPr>
              <a:t> qualquer GET apaga, sem confirmação: robô de busca, pré-carregador do navegador ou um link aberto sem querer.</a:t>
            </a:r>
            <a:endParaRPr lang="pt-BR" sz="1100"/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pt-BR" sz="1100" b="1">
                <a:solidFill>
                  <a:srgbClr val="3A3F44"/>
                </a:solidFill>
              </a:rPr>
              <a:t>Correção:</a:t>
            </a:r>
            <a:r>
              <a:rPr lang="pt-BR" sz="1100">
                <a:solidFill>
                  <a:srgbClr val="3A3F44"/>
                </a:solidFill>
              </a:rPr>
              <a:t> o GET só mostra “Excluir Ana?”; quem exclui é o POST, que leva o </a:t>
            </a:r>
            <a:r>
              <a:rPr lang="pt-BR" sz="9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csrf_token</a:t>
            </a:r>
            <a:r>
              <a:rPr lang="pt-BR" sz="1100">
                <a:solidFill>
                  <a:srgbClr val="3A3F44"/>
                </a:solidFill>
              </a:rPr>
              <a:t>.</a:t>
            </a:r>
            <a:endParaRPr lang="pt-BR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8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748698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Gabarito: ache o erro (C e D)</a:t>
            </a:r>
            <a:endParaRPr lang="en-US" sz="3200"/>
          </a:p>
        </p:txBody>
      </p:sp>
      <p:sp>
        <p:nvSpPr>
          <p:cNvPr id="86563049" name="Shape 1"/>
          <p:cNvSpPr/>
          <p:nvPr/>
        </p:nvSpPr>
        <p:spPr bwMode="auto">
          <a:xfrm>
            <a:off x="6784848" y="512064"/>
            <a:ext cx="1591056" cy="274320"/>
          </a:xfrm>
          <a:prstGeom prst="roundRect">
            <a:avLst>
              <a:gd name="adj" fmla="val 50000"/>
            </a:avLst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384831578" name="Text 2"/>
          <p:cNvSpPr txBox="1"/>
          <p:nvPr/>
        </p:nvSpPr>
        <p:spPr bwMode="auto">
          <a:xfrm>
            <a:off x="6784848" y="5120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</a:rPr>
              <a:t>respostas da prática 1</a:t>
            </a:r>
            <a:endParaRPr lang="en-US" sz="1100"/>
          </a:p>
        </p:txBody>
      </p:sp>
      <p:sp>
        <p:nvSpPr>
          <p:cNvPr id="1339862015" name="codigo fundo"/>
          <p:cNvSpPr/>
          <p:nvPr/>
        </p:nvSpPr>
        <p:spPr bwMode="auto">
          <a:xfrm>
            <a:off x="768096" y="1097280"/>
            <a:ext cx="3931920" cy="1600200"/>
          </a:xfrm>
          <a:prstGeom prst="roundRect">
            <a:avLst>
              <a:gd name="adj" fmla="val 4651"/>
            </a:avLst>
          </a:prstGeom>
          <a:solidFill>
            <a:srgbClr val="1E2433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2053533267" name="forma"/>
          <p:cNvSpPr/>
          <p:nvPr/>
        </p:nvSpPr>
        <p:spPr bwMode="auto">
          <a:xfrm>
            <a:off x="932688" y="1216151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991712370" name="forma"/>
          <p:cNvSpPr/>
          <p:nvPr/>
        </p:nvSpPr>
        <p:spPr bwMode="auto">
          <a:xfrm>
            <a:off x="1078992" y="1216151"/>
            <a:ext cx="91440" cy="9144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406793650" name="forma"/>
          <p:cNvSpPr/>
          <p:nvPr/>
        </p:nvSpPr>
        <p:spPr bwMode="auto">
          <a:xfrm>
            <a:off x="1225296" y="1216151"/>
            <a:ext cx="91440" cy="9144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743004594" name="codigo rotulo"/>
          <p:cNvSpPr txBox="1"/>
          <p:nvPr/>
        </p:nvSpPr>
        <p:spPr bwMode="auto">
          <a:xfrm>
            <a:off x="1426464" y="1152144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  <a:defRPr/>
            </a:pPr>
            <a:r>
              <a:rPr lang="pt-BR" sz="9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C · DisciplinaForm · corrigido</a:t>
            </a:r>
            <a:endParaRPr lang="pt-BR" sz="900"/>
          </a:p>
        </p:txBody>
      </p:sp>
      <p:sp>
        <p:nvSpPr>
          <p:cNvPr id="1790290247" name="codigo texto"/>
          <p:cNvSpPr txBox="1"/>
          <p:nvPr/>
        </p:nvSpPr>
        <p:spPr bwMode="auto">
          <a:xfrm>
            <a:off x="987552" y="1481328"/>
            <a:ext cx="3566160" cy="1143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marL="0" indent="0">
              <a:buNone/>
              <a:defRPr/>
            </a:pPr>
            <a:r>
              <a:rPr lang="pt-BR" sz="9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def</a:t>
            </a:r>
            <a:r>
              <a:rPr lang="pt-BR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clean_codigo(self):</a:t>
            </a:r>
            <a:endParaRPr lang="pt-BR" sz="950"/>
          </a:p>
          <a:p>
            <a:pPr marL="0" indent="0">
              <a:buNone/>
              <a:defRPr/>
            </a:pPr>
            <a:r>
              <a:rPr lang="pt-BR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codigo = self.cleaned_data[</a:t>
            </a:r>
            <a:r>
              <a:rPr lang="pt-BR" sz="950">
                <a:solidFill>
                  <a:srgbClr val="F0C674"/>
                </a:solidFill>
                <a:latin typeface="Courier New"/>
                <a:ea typeface="Courier New"/>
                <a:cs typeface="Courier New"/>
              </a:rPr>
              <a:t>"codigo"</a:t>
            </a:r>
            <a:r>
              <a:rPr lang="pt-BR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]</a:t>
            </a:r>
            <a:endParaRPr lang="pt-BR" sz="950"/>
          </a:p>
          <a:p>
            <a:pPr marL="0" indent="0">
              <a:buNone/>
              <a:defRPr/>
            </a:pPr>
            <a:r>
              <a:rPr lang="pt-BR" sz="950">
                <a:solidFill>
                  <a:srgbClr val="7EE787"/>
                </a:solidFill>
                <a:latin typeface="Courier New"/>
                <a:ea typeface="Courier New"/>
                <a:cs typeface="Courier New"/>
              </a:rPr>
              <a:t>    return codigo.strip().upper()</a:t>
            </a:r>
            <a:endParaRPr lang="pt-BR" sz="950"/>
          </a:p>
        </p:txBody>
      </p:sp>
      <p:sp>
        <p:nvSpPr>
          <p:cNvPr id="1243061088" name="painel"/>
          <p:cNvSpPr/>
          <p:nvPr/>
        </p:nvSpPr>
        <p:spPr bwMode="auto">
          <a:xfrm>
            <a:off x="4846320" y="1097280"/>
            <a:ext cx="3529584" cy="1600200"/>
          </a:xfrm>
          <a:prstGeom prst="roundRect">
            <a:avLst>
              <a:gd name="adj" fmla="val 4651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821108680" name="texto"/>
          <p:cNvSpPr txBox="1"/>
          <p:nvPr/>
        </p:nvSpPr>
        <p:spPr bwMode="auto">
          <a:xfrm>
            <a:off x="5029200" y="1243584"/>
            <a:ext cx="3163824" cy="1307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300"/>
              </a:spcAft>
              <a:buNone/>
              <a:defRPr/>
            </a:pPr>
            <a:r>
              <a:rPr lang="pt-BR" sz="1300" b="1">
                <a:solidFill>
                  <a:srgbClr val="00397B"/>
                </a:solidFill>
              </a:rPr>
              <a:t>C · faltava o </a:t>
            </a:r>
            <a:r>
              <a:rPr lang="pt-BR" sz="1150" b="1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return</a:t>
            </a:r>
            <a:endParaRPr lang="pt-BR" sz="1300"/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pt-BR" sz="1100" b="1">
                <a:solidFill>
                  <a:srgbClr val="3A3F44"/>
                </a:solidFill>
              </a:rPr>
              <a:t>Por quê:</a:t>
            </a:r>
            <a:r>
              <a:rPr lang="pt-BR" sz="1100">
                <a:solidFill>
                  <a:srgbClr val="3A3F44"/>
                </a:solidFill>
              </a:rPr>
              <a:t> sem </a:t>
            </a:r>
            <a:r>
              <a:rPr lang="pt-BR" sz="9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pt-BR" sz="1100">
                <a:solidFill>
                  <a:srgbClr val="3A3F44"/>
                </a:solidFill>
              </a:rPr>
              <a:t>, a função devolve </a:t>
            </a:r>
            <a:r>
              <a:rPr lang="pt-BR" sz="9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None</a:t>
            </a:r>
            <a:r>
              <a:rPr lang="pt-BR" sz="1100">
                <a:solidFill>
                  <a:srgbClr val="3A3F44"/>
                </a:solidFill>
              </a:rPr>
              <a:t>, e é esse valor que vai para o campo. O código vira </a:t>
            </a:r>
            <a:r>
              <a:rPr lang="pt-BR" sz="9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None</a:t>
            </a:r>
            <a:r>
              <a:rPr lang="pt-BR" sz="1100">
                <a:solidFill>
                  <a:srgbClr val="3A3F44"/>
                </a:solidFill>
              </a:rPr>
              <a:t> e o banco recusa: NOT NULL.</a:t>
            </a:r>
            <a:endParaRPr lang="pt-BR" sz="1100"/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pt-BR" sz="1100" b="1">
                <a:solidFill>
                  <a:srgbClr val="3A3F44"/>
                </a:solidFill>
              </a:rPr>
              <a:t>Correção:</a:t>
            </a:r>
            <a:r>
              <a:rPr lang="pt-BR" sz="1100">
                <a:solidFill>
                  <a:srgbClr val="3A3F44"/>
                </a:solidFill>
              </a:rPr>
              <a:t> devolver o valor tratado com </a:t>
            </a:r>
            <a:r>
              <a:rPr lang="pt-BR" sz="9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return</a:t>
            </a:r>
            <a:r>
              <a:rPr lang="pt-BR" sz="1100">
                <a:solidFill>
                  <a:srgbClr val="3A3F44"/>
                </a:solidFill>
              </a:rPr>
              <a:t>.</a:t>
            </a:r>
            <a:endParaRPr lang="pt-BR" sz="1100"/>
          </a:p>
        </p:txBody>
      </p:sp>
      <p:sp>
        <p:nvSpPr>
          <p:cNvPr id="181573899" name="codigo fundo"/>
          <p:cNvSpPr/>
          <p:nvPr/>
        </p:nvSpPr>
        <p:spPr bwMode="auto">
          <a:xfrm>
            <a:off x="768096" y="2834640"/>
            <a:ext cx="3931920" cy="1600200"/>
          </a:xfrm>
          <a:prstGeom prst="roundRect">
            <a:avLst>
              <a:gd name="adj" fmla="val 4651"/>
            </a:avLst>
          </a:prstGeom>
          <a:solidFill>
            <a:srgbClr val="1E2433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692349087" name="forma"/>
          <p:cNvSpPr/>
          <p:nvPr/>
        </p:nvSpPr>
        <p:spPr bwMode="auto">
          <a:xfrm>
            <a:off x="932688" y="2953512"/>
            <a:ext cx="91440" cy="91440"/>
          </a:xfrm>
          <a:prstGeom prst="ellipse">
            <a:avLst/>
          </a:prstGeom>
          <a:solidFill>
            <a:srgbClr val="FF5F57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82263521" name="forma"/>
          <p:cNvSpPr/>
          <p:nvPr/>
        </p:nvSpPr>
        <p:spPr bwMode="auto">
          <a:xfrm>
            <a:off x="1078992" y="2953512"/>
            <a:ext cx="91440" cy="91440"/>
          </a:xfrm>
          <a:prstGeom prst="ellipse">
            <a:avLst/>
          </a:prstGeom>
          <a:solidFill>
            <a:srgbClr val="FEBC2E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387480823" name="forma"/>
          <p:cNvSpPr/>
          <p:nvPr/>
        </p:nvSpPr>
        <p:spPr bwMode="auto">
          <a:xfrm>
            <a:off x="1225296" y="2953512"/>
            <a:ext cx="91440" cy="91440"/>
          </a:xfrm>
          <a:prstGeom prst="ellipse">
            <a:avLst/>
          </a:prstGeom>
          <a:solidFill>
            <a:srgbClr val="28C840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0295276" name="codigo rotulo"/>
          <p:cNvSpPr txBox="1"/>
          <p:nvPr/>
        </p:nvSpPr>
        <p:spPr bwMode="auto">
          <a:xfrm>
            <a:off x="1426464" y="2889504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  <a:defRPr/>
            </a:pPr>
            <a:r>
              <a:rPr lang="pt-BR" sz="9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D · aluno_novo · corrigido</a:t>
            </a:r>
            <a:endParaRPr lang="pt-BR" sz="900"/>
          </a:p>
        </p:txBody>
      </p:sp>
      <p:sp>
        <p:nvSpPr>
          <p:cNvPr id="548771969" name="codigo texto"/>
          <p:cNvSpPr txBox="1"/>
          <p:nvPr/>
        </p:nvSpPr>
        <p:spPr bwMode="auto">
          <a:xfrm>
            <a:off x="987552" y="3218688"/>
            <a:ext cx="3566160" cy="1143000"/>
          </a:xfrm>
          <a:prstGeom prst="rect">
            <a:avLst/>
          </a:prstGeom>
          <a:noFill/>
        </p:spPr>
        <p:txBody>
          <a:bodyPr wrap="none" lIns="0" tIns="0" rIns="0" bIns="0" rtlCol="0" anchor="t">
            <a:noAutofit/>
          </a:bodyPr>
          <a:lstStyle/>
          <a:p>
            <a:pPr marL="0" indent="0">
              <a:buNone/>
              <a:defRPr/>
            </a:pPr>
            <a:r>
              <a:rPr lang="pt-BR" sz="95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if</a:t>
            </a:r>
            <a:r>
              <a:rPr lang="pt-BR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form.is_valid():</a:t>
            </a:r>
            <a:endParaRPr lang="pt-BR" sz="950"/>
          </a:p>
          <a:p>
            <a:pPr marL="0" indent="0">
              <a:buNone/>
              <a:defRPr/>
            </a:pPr>
            <a:r>
              <a:rPr lang="pt-BR" sz="95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   form.save()</a:t>
            </a:r>
            <a:endParaRPr lang="pt-BR" sz="950"/>
          </a:p>
          <a:p>
            <a:pPr marL="0" indent="0">
              <a:buNone/>
              <a:defRPr/>
            </a:pPr>
            <a:r>
              <a:rPr lang="pt-BR" sz="950">
                <a:solidFill>
                  <a:srgbClr val="7EE787"/>
                </a:solidFill>
                <a:latin typeface="Courier New"/>
                <a:ea typeface="Courier New"/>
                <a:cs typeface="Courier New"/>
              </a:rPr>
              <a:t>    return redirect("academico:aluno_lista")</a:t>
            </a:r>
            <a:endParaRPr lang="pt-BR" sz="950"/>
          </a:p>
        </p:txBody>
      </p:sp>
      <p:sp>
        <p:nvSpPr>
          <p:cNvPr id="1213987134" name="painel"/>
          <p:cNvSpPr/>
          <p:nvPr/>
        </p:nvSpPr>
        <p:spPr bwMode="auto">
          <a:xfrm>
            <a:off x="4846320" y="2834640"/>
            <a:ext cx="3529584" cy="1600200"/>
          </a:xfrm>
          <a:prstGeom prst="roundRect">
            <a:avLst>
              <a:gd name="adj" fmla="val 4651"/>
            </a:avLst>
          </a:prstGeom>
          <a:solidFill>
            <a:srgbClr val="E3EFF1"/>
          </a:solidFill>
          <a:ln>
            <a:noFill/>
          </a:ln>
        </p:spPr>
        <p:txBody>
          <a:bodyPr rtlCol="0" anchor="ctr"/>
          <a:lstStyle/>
          <a:p>
            <a:pPr>
              <a:defRPr/>
            </a:pPr>
            <a:endParaRPr lang="pt-BR"/>
          </a:p>
        </p:txBody>
      </p:sp>
      <p:sp>
        <p:nvSpPr>
          <p:cNvPr id="1812187838" name="texto"/>
          <p:cNvSpPr txBox="1"/>
          <p:nvPr/>
        </p:nvSpPr>
        <p:spPr bwMode="auto">
          <a:xfrm>
            <a:off x="5029200" y="2980944"/>
            <a:ext cx="3163824" cy="1307592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spcAft>
                <a:spcPts val="300"/>
              </a:spcAft>
              <a:buNone/>
              <a:defRPr/>
            </a:pPr>
            <a:r>
              <a:rPr lang="pt-BR" sz="1300" b="1">
                <a:solidFill>
                  <a:srgbClr val="00397B"/>
                </a:solidFill>
              </a:rPr>
              <a:t>D · faltava o </a:t>
            </a:r>
            <a:r>
              <a:rPr lang="pt-BR" sz="1150" b="1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redirect</a:t>
            </a:r>
            <a:endParaRPr lang="pt-BR" sz="1300"/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pt-BR" sz="1100" b="1">
                <a:solidFill>
                  <a:srgbClr val="3A3F44"/>
                </a:solidFill>
              </a:rPr>
              <a:t>Por quê:</a:t>
            </a:r>
            <a:r>
              <a:rPr lang="pt-BR" sz="1100">
                <a:solidFill>
                  <a:srgbClr val="3A3F44"/>
                </a:solidFill>
              </a:rPr>
              <a:t> a lista volta como resposta do próprio POST. O F5 reenvia o formulário e duplica o cadastro.</a:t>
            </a:r>
            <a:endParaRPr lang="pt-BR" sz="1100"/>
          </a:p>
          <a:p>
            <a:pPr marL="0" indent="0">
              <a:spcAft>
                <a:spcPts val="300"/>
              </a:spcAft>
              <a:buNone/>
              <a:defRPr/>
            </a:pPr>
            <a:r>
              <a:rPr lang="pt-BR" sz="1100" b="1">
                <a:solidFill>
                  <a:srgbClr val="3A3F44"/>
                </a:solidFill>
              </a:rPr>
              <a:t>Correção:</a:t>
            </a:r>
            <a:r>
              <a:rPr lang="pt-BR" sz="1100">
                <a:solidFill>
                  <a:srgbClr val="3A3F44"/>
                </a:solidFill>
              </a:rPr>
              <a:t> </a:t>
            </a:r>
            <a:r>
              <a:rPr lang="pt-BR" sz="9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redirect()</a:t>
            </a:r>
            <a:r>
              <a:rPr lang="pt-BR" sz="1100">
                <a:solidFill>
                  <a:srgbClr val="3A3F44"/>
                </a:solidFill>
              </a:rPr>
              <a:t> depois de salvar (POST/Redirect/GET). O F5 passa a repetir só o GET.</a:t>
            </a:r>
            <a:endParaRPr lang="pt-BR" sz="11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9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6811714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Prática 2: formulários</a:t>
            </a:r>
            <a:endParaRPr lang="en-US" sz="3200"/>
          </a:p>
        </p:txBody>
      </p:sp>
      <p:sp>
        <p:nvSpPr>
          <p:cNvPr id="58716255" name="Shape 1"/>
          <p:cNvSpPr/>
          <p:nvPr/>
        </p:nvSpPr>
        <p:spPr bwMode="auto">
          <a:xfrm>
            <a:off x="6784848" y="512064"/>
            <a:ext cx="1591056" cy="274320"/>
          </a:xfrm>
          <a:prstGeom prst="roundRect">
            <a:avLst>
              <a:gd name="adj" fmla="val 50000"/>
            </a:avLst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451904560" name="Text 2"/>
          <p:cNvSpPr txBox="1"/>
          <p:nvPr/>
        </p:nvSpPr>
        <p:spPr bwMode="auto">
          <a:xfrm>
            <a:off x="6784848" y="5120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</a:rPr>
              <a:t>≈ 20 min</a:t>
            </a:r>
            <a:endParaRPr lang="en-US" sz="1100"/>
          </a:p>
        </p:txBody>
      </p:sp>
      <p:sp>
        <p:nvSpPr>
          <p:cNvPr id="1244313944" name="passo 1"/>
          <p:cNvSpPr/>
          <p:nvPr/>
        </p:nvSpPr>
        <p:spPr bwMode="auto">
          <a:xfrm>
            <a:off x="768096" y="1188720"/>
            <a:ext cx="4480560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52307823" name="Shape 4"/>
          <p:cNvSpPr/>
          <p:nvPr/>
        </p:nvSpPr>
        <p:spPr bwMode="auto">
          <a:xfrm>
            <a:off x="950976" y="1371600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397578570" name="Text 5"/>
          <p:cNvSpPr txBox="1"/>
          <p:nvPr/>
        </p:nvSpPr>
        <p:spPr bwMode="auto">
          <a:xfrm>
            <a:off x="950976" y="1371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1</a:t>
            </a:r>
            <a:endParaRPr lang="en-US" sz="1400"/>
          </a:p>
        </p:txBody>
      </p:sp>
      <p:sp>
        <p:nvSpPr>
          <p:cNvPr id="1377020219" name="Text 6"/>
          <p:cNvSpPr txBox="1"/>
          <p:nvPr/>
        </p:nvSpPr>
        <p:spPr bwMode="auto">
          <a:xfrm>
            <a:off x="1517904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0397B"/>
                </a:solidFill>
              </a:rPr>
              <a:t>TODOs 4 a 6: </a:t>
            </a:r>
            <a:r>
              <a:rPr lang="en-US" sz="1350" b="1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fields</a:t>
            </a:r>
            <a:r>
              <a:rPr lang="en-US" sz="1500" b="1">
                <a:solidFill>
                  <a:srgbClr val="00397B"/>
                </a:solidFill>
              </a:rPr>
              <a:t> nos três </a:t>
            </a:r>
            <a:r>
              <a:rPr lang="en-US" sz="1350" b="1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Meta</a:t>
            </a:r>
            <a:endParaRPr lang="en-US" sz="1500"/>
          </a:p>
        </p:txBody>
      </p:sp>
      <p:sp>
        <p:nvSpPr>
          <p:cNvPr id="1084009042" name="Text 7"/>
          <p:cNvSpPr txBox="1"/>
          <p:nvPr/>
        </p:nvSpPr>
        <p:spPr bwMode="auto">
          <a:xfrm>
            <a:off x="1517904" y="173736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AlunoForm</a:t>
            </a:r>
            <a:r>
              <a:rPr lang="en-US" sz="1300">
                <a:solidFill>
                  <a:srgbClr val="3A3F44"/>
                </a:solidFill>
              </a:rPr>
              <a:t>, </a:t>
            </a: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DisciplinaForm</a:t>
            </a:r>
            <a:r>
              <a:rPr lang="en-US" sz="1300">
                <a:solidFill>
                  <a:srgbClr val="3A3F44"/>
                </a:solidFill>
              </a:rPr>
              <a:t> e </a:t>
            </a: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InscricaoForm</a:t>
            </a:r>
            <a:r>
              <a:rPr lang="en-US" sz="1300">
                <a:solidFill>
                  <a:srgbClr val="3A3F44"/>
                </a:solidFill>
              </a:rPr>
              <a:t>. Data com </a:t>
            </a: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format="%Y-%m-%d"</a:t>
            </a:r>
            <a:r>
              <a:rPr lang="en-US" sz="1300">
                <a:solidFill>
                  <a:srgbClr val="3A3F44"/>
                </a:solidFill>
              </a:rPr>
              <a:t>.</a:t>
            </a:r>
            <a:endParaRPr lang="en-US" sz="1300"/>
          </a:p>
        </p:txBody>
      </p:sp>
      <p:sp>
        <p:nvSpPr>
          <p:cNvPr id="79946752" name="passo 2"/>
          <p:cNvSpPr/>
          <p:nvPr/>
        </p:nvSpPr>
        <p:spPr bwMode="auto">
          <a:xfrm>
            <a:off x="768096" y="2377440"/>
            <a:ext cx="4480560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409803817" name="Shape 9"/>
          <p:cNvSpPr/>
          <p:nvPr/>
        </p:nvSpPr>
        <p:spPr bwMode="auto">
          <a:xfrm>
            <a:off x="950976" y="2560320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439734316" name="Text 10"/>
          <p:cNvSpPr txBox="1"/>
          <p:nvPr/>
        </p:nvSpPr>
        <p:spPr bwMode="auto">
          <a:xfrm>
            <a:off x="950976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2</a:t>
            </a:r>
            <a:endParaRPr lang="en-US" sz="1400"/>
          </a:p>
        </p:txBody>
      </p:sp>
      <p:sp>
        <p:nvSpPr>
          <p:cNvPr id="2023550526" name="Text 11"/>
          <p:cNvSpPr txBox="1"/>
          <p:nvPr/>
        </p:nvSpPr>
        <p:spPr bwMode="auto">
          <a:xfrm>
            <a:off x="1517904" y="254203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0397B"/>
                </a:solidFill>
              </a:rPr>
              <a:t>Validações do bônus</a:t>
            </a:r>
            <a:endParaRPr lang="en-US" sz="1500"/>
          </a:p>
        </p:txBody>
      </p:sp>
      <p:sp>
        <p:nvSpPr>
          <p:cNvPr id="270886203" name="Text 12"/>
          <p:cNvSpPr txBox="1"/>
          <p:nvPr/>
        </p:nvSpPr>
        <p:spPr bwMode="auto">
          <a:xfrm>
            <a:off x="1517904" y="292608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3A3F44"/>
                </a:solidFill>
              </a:rPr>
              <a:t>Carga horária, código normalizado e nota de 0 a 10. Anotem onde ficou cada uma.</a:t>
            </a:r>
            <a:endParaRPr lang="en-US" sz="1300"/>
          </a:p>
        </p:txBody>
      </p:sp>
      <p:sp>
        <p:nvSpPr>
          <p:cNvPr id="691099253" name="passo 3"/>
          <p:cNvSpPr/>
          <p:nvPr/>
        </p:nvSpPr>
        <p:spPr bwMode="auto">
          <a:xfrm>
            <a:off x="768096" y="3566160"/>
            <a:ext cx="4480560" cy="1024128"/>
          </a:xfrm>
          <a:prstGeom prst="roundRect">
            <a:avLst>
              <a:gd name="adj" fmla="val 535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366596114" name="Shape 14"/>
          <p:cNvSpPr/>
          <p:nvPr/>
        </p:nvSpPr>
        <p:spPr bwMode="auto">
          <a:xfrm>
            <a:off x="950976" y="3749040"/>
            <a:ext cx="402336" cy="402336"/>
          </a:xfrm>
          <a:prstGeom prst="ellipse">
            <a:avLst/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37194219" name="Text 15"/>
          <p:cNvSpPr txBox="1"/>
          <p:nvPr/>
        </p:nvSpPr>
        <p:spPr bwMode="auto">
          <a:xfrm>
            <a:off x="950976" y="3749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FFFFF"/>
                </a:solidFill>
              </a:rPr>
              <a:t>3</a:t>
            </a:r>
            <a:endParaRPr lang="en-US" sz="1400"/>
          </a:p>
        </p:txBody>
      </p:sp>
      <p:sp>
        <p:nvSpPr>
          <p:cNvPr id="1300340119" name="Text 16"/>
          <p:cNvSpPr txBox="1"/>
          <p:nvPr/>
        </p:nvSpPr>
        <p:spPr bwMode="auto">
          <a:xfrm>
            <a:off x="1517904" y="373075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0397B"/>
                </a:solidFill>
              </a:rPr>
              <a:t>Inscrição sem surpresa</a:t>
            </a:r>
            <a:endParaRPr lang="en-US" sz="1500"/>
          </a:p>
        </p:txBody>
      </p:sp>
      <p:sp>
        <p:nvSpPr>
          <p:cNvPr id="335981626" name="Text 17"/>
          <p:cNvSpPr txBox="1"/>
          <p:nvPr/>
        </p:nvSpPr>
        <p:spPr bwMode="auto">
          <a:xfrm>
            <a:off x="1517904" y="411480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3A3F44"/>
                </a:solidFill>
              </a:rPr>
              <a:t>Só aluno ativo no </a:t>
            </a:r>
            <a:r>
              <a:rPr lang="en-US" sz="11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&lt;select&gt;</a:t>
            </a:r>
            <a:r>
              <a:rPr lang="en-US" sz="1300">
                <a:solidFill>
                  <a:srgbClr val="3A3F44"/>
                </a:solidFill>
              </a:rPr>
              <a:t> e mensagem própria para duplicidade.</a:t>
            </a:r>
            <a:endParaRPr lang="en-US" sz="1300"/>
          </a:p>
        </p:txBody>
      </p:sp>
      <p:sp>
        <p:nvSpPr>
          <p:cNvPr id="2108693514" name="codigo fundo"/>
          <p:cNvSpPr/>
          <p:nvPr/>
        </p:nvSpPr>
        <p:spPr bwMode="auto">
          <a:xfrm>
            <a:off x="5431536" y="1188720"/>
            <a:ext cx="2944368" cy="1463040"/>
          </a:xfrm>
          <a:prstGeom prst="roundRect">
            <a:avLst>
              <a:gd name="adj" fmla="val 5000"/>
            </a:avLst>
          </a:prstGeom>
          <a:solidFill>
            <a:srgbClr val="1E2433"/>
          </a:solidFill>
          <a:ln w="12700">
            <a:solidFill>
              <a:srgbClr val="1E2433"/>
            </a:solidFill>
            <a:prstDash val="solid"/>
          </a:ln>
        </p:spPr>
      </p:sp>
      <p:sp>
        <p:nvSpPr>
          <p:cNvPr id="1013477433" name="Shape 19"/>
          <p:cNvSpPr/>
          <p:nvPr/>
        </p:nvSpPr>
        <p:spPr bwMode="auto">
          <a:xfrm>
            <a:off x="5596128" y="1307592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010140002" name="Shape 20"/>
          <p:cNvSpPr/>
          <p:nvPr/>
        </p:nvSpPr>
        <p:spPr bwMode="auto">
          <a:xfrm>
            <a:off x="5742432" y="1307592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1237183310" name="Shape 21"/>
          <p:cNvSpPr/>
          <p:nvPr/>
        </p:nvSpPr>
        <p:spPr bwMode="auto">
          <a:xfrm>
            <a:off x="5888736" y="1307592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1097464203" name="Text 22"/>
          <p:cNvSpPr txBox="1"/>
          <p:nvPr/>
        </p:nvSpPr>
        <p:spPr bwMode="auto">
          <a:xfrm>
            <a:off x="6089904" y="1243584"/>
            <a:ext cx="212140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  <a:defRPr/>
            </a:pPr>
            <a:r>
              <a:rPr lang="en-US" sz="9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terminal</a:t>
            </a:r>
            <a:endParaRPr lang="en-US" sz="900"/>
          </a:p>
        </p:txBody>
      </p:sp>
      <p:sp>
        <p:nvSpPr>
          <p:cNvPr id="1037037275" name="codigo texto"/>
          <p:cNvSpPr txBox="1"/>
          <p:nvPr/>
        </p:nvSpPr>
        <p:spPr bwMode="auto">
          <a:xfrm>
            <a:off x="5650992" y="1572768"/>
            <a:ext cx="2578608" cy="9875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>
              <a:buNone/>
              <a:defRPr/>
            </a:pPr>
            <a:r>
              <a:rPr lang="en-US" sz="1100">
                <a:solidFill>
                  <a:srgbClr val="7DCFFF"/>
                </a:solidFill>
                <a:latin typeface="Courier New"/>
                <a:ea typeface="Courier New"/>
                <a:cs typeface="Courier New"/>
              </a:rPr>
              <a:t>python</a:t>
            </a:r>
            <a:r>
              <a:rPr lang="en-US" sz="1100">
                <a:solidFill>
                  <a:srgbClr val="E6EDF3"/>
                </a:solidFill>
                <a:latin typeface="Courier New"/>
                <a:ea typeface="Courier New"/>
                <a:cs typeface="Courier New"/>
              </a:rPr>
              <a:t> manage.py runserver</a:t>
            </a:r>
            <a:endParaRPr lang="en-US" sz="1100"/>
          </a:p>
          <a:p>
            <a:pPr marL="0" indent="0">
              <a:buNone/>
              <a:defRPr/>
            </a:pPr>
            <a:r>
              <a:rPr lang="en-US" sz="1100">
                <a:solidFill>
                  <a:srgbClr val="8B949E"/>
                </a:solidFill>
                <a:latin typeface="Courier New"/>
                <a:ea typeface="Courier New"/>
                <a:cs typeface="Courier New"/>
              </a:rPr>
              <a:t># abra /academico/alunos/novo/</a:t>
            </a:r>
            <a:endParaRPr lang="en-US" sz="1100"/>
          </a:p>
        </p:txBody>
      </p:sp>
      <p:sp>
        <p:nvSpPr>
          <p:cNvPr id="1051126981" name="pronto quando"/>
          <p:cNvSpPr/>
          <p:nvPr/>
        </p:nvSpPr>
        <p:spPr bwMode="auto">
          <a:xfrm>
            <a:off x="5431536" y="2816352"/>
            <a:ext cx="2944368" cy="1773936"/>
          </a:xfrm>
          <a:prstGeom prst="roundRect">
            <a:avLst>
              <a:gd name="adj" fmla="val 309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371654727" name="Shape 25"/>
          <p:cNvSpPr/>
          <p:nvPr/>
        </p:nvSpPr>
        <p:spPr bwMode="auto">
          <a:xfrm>
            <a:off x="5614416" y="2962656"/>
            <a:ext cx="512064" cy="51206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0866780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5737311" y="3085551"/>
            <a:ext cx="266273" cy="266273"/>
          </a:xfrm>
          <a:prstGeom prst="rect">
            <a:avLst/>
          </a:prstGeom>
        </p:spPr>
      </p:pic>
      <p:sp>
        <p:nvSpPr>
          <p:cNvPr id="1525336312" name="Text 26"/>
          <p:cNvSpPr txBox="1"/>
          <p:nvPr/>
        </p:nvSpPr>
        <p:spPr bwMode="auto">
          <a:xfrm>
            <a:off x="6272784" y="296265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0397B"/>
                </a:solidFill>
              </a:rPr>
              <a:t>Pronto quando</a:t>
            </a:r>
            <a:endParaRPr lang="en-US" sz="1500"/>
          </a:p>
        </p:txBody>
      </p:sp>
      <p:sp>
        <p:nvSpPr>
          <p:cNvPr id="1799158707" name="Text 27"/>
          <p:cNvSpPr txBox="1"/>
          <p:nvPr/>
        </p:nvSpPr>
        <p:spPr bwMode="auto">
          <a:xfrm>
            <a:off x="5614416" y="3584448"/>
            <a:ext cx="26151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3A3F44"/>
                </a:solidFill>
              </a:rPr>
              <a:t>os campos aparecem na tela e o erro sai embaixo do campo, não como traceback.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20305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Prática 3: CRUD de aluno</a:t>
            </a:r>
            <a:endParaRPr lang="en-US" sz="3200"/>
          </a:p>
        </p:txBody>
      </p:sp>
      <p:sp>
        <p:nvSpPr>
          <p:cNvPr id="1635255" name="Shape 1"/>
          <p:cNvSpPr/>
          <p:nvPr/>
        </p:nvSpPr>
        <p:spPr bwMode="auto">
          <a:xfrm>
            <a:off x="6784848" y="512064"/>
            <a:ext cx="1591056" cy="274320"/>
          </a:xfrm>
          <a:prstGeom prst="roundRect">
            <a:avLst>
              <a:gd name="adj" fmla="val 50000"/>
            </a:avLst>
          </a:prstGeom>
          <a:solidFill>
            <a:srgbClr val="1185AA"/>
          </a:solidFill>
          <a:ln w="12700">
            <a:solidFill>
              <a:srgbClr val="1185AA"/>
            </a:solidFill>
            <a:prstDash val="solid"/>
          </a:ln>
        </p:spPr>
      </p:sp>
      <p:sp>
        <p:nvSpPr>
          <p:cNvPr id="1878696676" name="Text 2"/>
          <p:cNvSpPr txBox="1"/>
          <p:nvPr/>
        </p:nvSpPr>
        <p:spPr bwMode="auto">
          <a:xfrm>
            <a:off x="6784848" y="5120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100" b="1">
                <a:solidFill>
                  <a:srgbClr val="FFFFFF"/>
                </a:solidFill>
              </a:rPr>
              <a:t>até o fim da aula</a:t>
            </a:r>
            <a:endParaRPr lang="en-US" sz="1100"/>
          </a:p>
        </p:txBody>
      </p:sp>
      <p:graphicFrame>
        <p:nvGraphicFramePr>
          <p:cNvPr id="1926515214" name="Table 0"/>
          <p:cNvGraphicFramePr>
            <a:graphicFrameLocks xmlns:a="http://schemas.openxmlformats.org/drawingml/2006/main" noGrp="1"/>
          </p:cNvGraphicFramePr>
          <p:nvPr/>
        </p:nvGraphicFramePr>
        <p:xfrm rot="0">
          <a:off x="768096" y="1188720"/>
          <a:ext cx="7607808" cy="914400"/>
        </p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731520"/>
                <a:gridCol w="1828800"/>
                <a:gridCol w="5047488"/>
              </a:tblGrid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TODO</a:t>
                      </a:r>
                      <a:endParaRPr lang="en-US" sz="14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00397B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View</a:t>
                      </a:r>
                      <a:endParaRPr lang="en-US" sz="14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00397B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 b="1">
                          <a:solidFill>
                            <a:srgbClr val="FFFFFF"/>
                          </a:solidFill>
                        </a:rPr>
                        <a:t>Pronto quando</a:t>
                      </a:r>
                      <a:endParaRPr lang="en-US" sz="14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00397B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3A3F44"/>
                          </a:solidFill>
                        </a:rPr>
                        <a:t>7</a:t>
                      </a:r>
                      <a:endParaRPr lang="en-US" sz="14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aluno_lista</a:t>
                      </a:r>
                      <a:endParaRPr lang="en-US" sz="14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3A3F44"/>
                          </a:solidFill>
                        </a:rPr>
                        <a:t>a lista aparece e a busca filtra por nome ou matrícula</a:t>
                      </a:r>
                      <a:endParaRPr lang="en-US" sz="14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3A3F44"/>
                          </a:solidFill>
                        </a:rPr>
                        <a:t>8</a:t>
                      </a:r>
                      <a:endParaRPr lang="en-US" sz="14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aluno_novo</a:t>
                      </a:r>
                      <a:endParaRPr lang="en-US" sz="14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3A3F44"/>
                          </a:solidFill>
                        </a:rPr>
                        <a:t>cadastra, redireciona e, com erro, volta o form preenchido</a:t>
                      </a:r>
                      <a:endParaRPr lang="en-US" sz="14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3A3F44"/>
                          </a:solidFill>
                        </a:rPr>
                        <a:t>9a</a:t>
                      </a:r>
                      <a:endParaRPr lang="en-US" sz="14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aluno_editar</a:t>
                      </a:r>
                      <a:endParaRPr lang="en-US" sz="14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3A3F44"/>
                          </a:solidFill>
                        </a:rPr>
                        <a:t>altera sem criar outro; id inexistente dá 404</a:t>
                      </a:r>
                      <a:endParaRPr lang="en-US" sz="14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3A3F44"/>
                          </a:solidFill>
                        </a:rPr>
                        <a:t>9b</a:t>
                      </a:r>
                      <a:endParaRPr lang="en-US" sz="14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250">
                          <a:solidFill>
                            <a:srgbClr val="00397B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aluno_excluir</a:t>
                      </a:r>
                      <a:endParaRPr lang="en-US" sz="14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p>
                      <a:pPr marL="0" indent="0">
                        <a:buNone/>
                        <a:defRPr/>
                      </a:pPr>
                      <a:r>
                        <a:rPr lang="en-US" sz="1400">
                          <a:solidFill>
                            <a:srgbClr val="3A3F44"/>
                          </a:solidFill>
                        </a:rPr>
                        <a:t>GET confirma, POST executa; aluno com notas vira mensagem</a:t>
                      </a:r>
                      <a:endParaRPr lang="en-US" sz="1400"/>
                    </a:p>
                  </a:txBody>
                  <a:tcPr marL="109728" marR="109728" marT="36576" marB="36576" anchor="ctr">
                    <a:lnL w="12700" algn="ctr">
                      <a:solidFill>
                        <a:srgbClr val="FFFFFF"/>
                      </a:solidFill>
                    </a:lnL>
                    <a:lnR w="12700" algn="ctr">
                      <a:solidFill>
                        <a:srgbClr val="FFFFFF"/>
                      </a:solidFill>
                    </a:lnR>
                    <a:lnT w="0" algn="ctr">
                      <a:noFill/>
                    </a:lnT>
                    <a:lnB w="0" algn="ctr">
                      <a:noFill/>
                    </a:lnB>
                    <a:solidFill>
                      <a:srgbClr val="E3EFF1"/>
                    </a:solidFill>
                  </a:tcPr>
                </a:tc>
              </a:tr>
            </a:tbl>
          </a:graphicData>
        </a:graphic>
      </p:graphicFrame>
      <p:sp>
        <p:nvSpPr>
          <p:cNvPr id="1902655637" name="destaque"/>
          <p:cNvSpPr/>
          <p:nvPr/>
        </p:nvSpPr>
        <p:spPr bwMode="auto">
          <a:xfrm>
            <a:off x="768096" y="3730752"/>
            <a:ext cx="7607808" cy="786384"/>
          </a:xfrm>
          <a:prstGeom prst="roundRect">
            <a:avLst>
              <a:gd name="adj" fmla="val 6977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728007101" name="Shape 4"/>
          <p:cNvSpPr/>
          <p:nvPr/>
        </p:nvSpPr>
        <p:spPr bwMode="auto">
          <a:xfrm>
            <a:off x="950976" y="3895343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247634584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060704" y="4005072"/>
            <a:ext cx="237744" cy="237744"/>
          </a:xfrm>
          <a:prstGeom prst="rect">
            <a:avLst/>
          </a:prstGeom>
        </p:spPr>
      </p:pic>
      <p:sp>
        <p:nvSpPr>
          <p:cNvPr id="493521122" name="Text 5"/>
          <p:cNvSpPr txBox="1"/>
          <p:nvPr/>
        </p:nvSpPr>
        <p:spPr bwMode="auto">
          <a:xfrm>
            <a:off x="1572768" y="3730752"/>
            <a:ext cx="664768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0397B"/>
                </a:solidFill>
              </a:rPr>
              <a:t>Gabarito ao lado: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contas/views.py</a:t>
            </a:r>
            <a:r>
              <a:rPr lang="en-US" sz="1400">
                <a:solidFill>
                  <a:srgbClr val="3A3F44"/>
                </a:solidFill>
              </a:rPr>
              <a:t> tem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usuario_novo</a:t>
            </a:r>
            <a:r>
              <a:rPr lang="en-US" sz="1400">
                <a:solidFill>
                  <a:srgbClr val="3A3F44"/>
                </a:solidFill>
              </a:rPr>
              <a:t>,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usuario_editar</a:t>
            </a:r>
            <a:r>
              <a:rPr lang="en-US" sz="1400">
                <a:solidFill>
                  <a:srgbClr val="3A3F44"/>
                </a:solidFill>
              </a:rPr>
              <a:t> e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usuario_excluir</a:t>
            </a:r>
            <a:r>
              <a:rPr lang="en-US" sz="1400">
                <a:solidFill>
                  <a:srgbClr val="3A3F44"/>
                </a:solidFill>
              </a:rPr>
              <a:t> com o mesmo desenho, comentados linha a linha.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0087698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Teste como usuário, não só com o verificar.py</a:t>
            </a:r>
            <a:endParaRPr lang="en-US" sz="3200"/>
          </a:p>
        </p:txBody>
      </p:sp>
      <p:sp>
        <p:nvSpPr>
          <p:cNvPr id="458080241" name="Shape 1"/>
          <p:cNvSpPr/>
          <p:nvPr/>
        </p:nvSpPr>
        <p:spPr bwMode="auto">
          <a:xfrm>
            <a:off x="768096" y="1188720"/>
            <a:ext cx="3712464" cy="932688"/>
          </a:xfrm>
          <a:prstGeom prst="roundRect">
            <a:avLst>
              <a:gd name="adj" fmla="val 5882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pic>
        <p:nvPicPr>
          <p:cNvPr id="546946976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69264" y="1481328"/>
            <a:ext cx="329184" cy="329184"/>
          </a:xfrm>
          <a:prstGeom prst="rect">
            <a:avLst/>
          </a:prstGeom>
        </p:spPr>
      </p:pic>
      <p:sp>
        <p:nvSpPr>
          <p:cNvPr id="88961832" name="Text 2"/>
          <p:cNvSpPr txBox="1"/>
          <p:nvPr/>
        </p:nvSpPr>
        <p:spPr bwMode="auto">
          <a:xfrm>
            <a:off x="1481328" y="129844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0397B"/>
                </a:solidFill>
              </a:rPr>
              <a:t>Cadastre a mesma matrícula duas vezes</a:t>
            </a:r>
            <a:endParaRPr lang="en-US" sz="1400"/>
          </a:p>
        </p:txBody>
      </p:sp>
      <p:sp>
        <p:nvSpPr>
          <p:cNvPr id="51656635" name="Text 3"/>
          <p:cNvSpPr txBox="1"/>
          <p:nvPr/>
        </p:nvSpPr>
        <p:spPr bwMode="auto">
          <a:xfrm>
            <a:off x="1481328" y="168249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3A3F44"/>
                </a:solidFill>
              </a:rPr>
              <a:t>Esperado: mensagem no campo</a:t>
            </a:r>
            <a:endParaRPr lang="en-US" sz="1300"/>
          </a:p>
        </p:txBody>
      </p:sp>
      <p:sp>
        <p:nvSpPr>
          <p:cNvPr id="443380848" name="Shape 4"/>
          <p:cNvSpPr/>
          <p:nvPr/>
        </p:nvSpPr>
        <p:spPr bwMode="auto">
          <a:xfrm>
            <a:off x="4663440" y="1188720"/>
            <a:ext cx="3712464" cy="932688"/>
          </a:xfrm>
          <a:prstGeom prst="roundRect">
            <a:avLst>
              <a:gd name="adj" fmla="val 5882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pic>
        <p:nvPicPr>
          <p:cNvPr id="1269438281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864607" y="1481328"/>
            <a:ext cx="329184" cy="329184"/>
          </a:xfrm>
          <a:prstGeom prst="rect">
            <a:avLst/>
          </a:prstGeom>
        </p:spPr>
      </p:pic>
      <p:sp>
        <p:nvSpPr>
          <p:cNvPr id="1616060871" name="Text 5"/>
          <p:cNvSpPr txBox="1"/>
          <p:nvPr/>
        </p:nvSpPr>
        <p:spPr bwMode="auto">
          <a:xfrm>
            <a:off x="5376672" y="129844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0397B"/>
                </a:solidFill>
              </a:rPr>
              <a:t>Salve e aperte F5 na lista</a:t>
            </a:r>
            <a:endParaRPr lang="en-US" sz="1400"/>
          </a:p>
        </p:txBody>
      </p:sp>
      <p:sp>
        <p:nvSpPr>
          <p:cNvPr id="686248170" name="Text 6"/>
          <p:cNvSpPr txBox="1"/>
          <p:nvPr/>
        </p:nvSpPr>
        <p:spPr bwMode="auto">
          <a:xfrm>
            <a:off x="5376672" y="168249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3A3F44"/>
                </a:solidFill>
              </a:rPr>
              <a:t>Esperado: nada duplica</a:t>
            </a:r>
            <a:endParaRPr lang="en-US" sz="1300"/>
          </a:p>
        </p:txBody>
      </p:sp>
      <p:sp>
        <p:nvSpPr>
          <p:cNvPr id="442558648" name="Shape 7"/>
          <p:cNvSpPr/>
          <p:nvPr/>
        </p:nvSpPr>
        <p:spPr bwMode="auto">
          <a:xfrm>
            <a:off x="768096" y="2286000"/>
            <a:ext cx="3712464" cy="932688"/>
          </a:xfrm>
          <a:prstGeom prst="roundRect">
            <a:avLst>
              <a:gd name="adj" fmla="val 5882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pic>
        <p:nvPicPr>
          <p:cNvPr id="239894141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969264" y="2578608"/>
            <a:ext cx="329184" cy="329184"/>
          </a:xfrm>
          <a:prstGeom prst="rect">
            <a:avLst/>
          </a:prstGeom>
        </p:spPr>
      </p:pic>
      <p:sp>
        <p:nvSpPr>
          <p:cNvPr id="2117337050" name="Text 8"/>
          <p:cNvSpPr txBox="1"/>
          <p:nvPr/>
        </p:nvSpPr>
        <p:spPr bwMode="auto">
          <a:xfrm>
            <a:off x="1481328" y="239572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0397B"/>
                </a:solidFill>
              </a:rPr>
              <a:t>Edite um e-mail e conte os alunos</a:t>
            </a:r>
            <a:endParaRPr lang="en-US" sz="1400"/>
          </a:p>
        </p:txBody>
      </p:sp>
      <p:sp>
        <p:nvSpPr>
          <p:cNvPr id="1566717147" name="Text 9"/>
          <p:cNvSpPr txBox="1"/>
          <p:nvPr/>
        </p:nvSpPr>
        <p:spPr bwMode="auto">
          <a:xfrm>
            <a:off x="1481328" y="277977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3A3F44"/>
                </a:solidFill>
              </a:rPr>
              <a:t>Esperado: mesmo total de antes</a:t>
            </a:r>
            <a:endParaRPr lang="en-US" sz="1300"/>
          </a:p>
        </p:txBody>
      </p:sp>
      <p:sp>
        <p:nvSpPr>
          <p:cNvPr id="710398101" name="Shape 10"/>
          <p:cNvSpPr/>
          <p:nvPr/>
        </p:nvSpPr>
        <p:spPr bwMode="auto">
          <a:xfrm>
            <a:off x="4663440" y="2286000"/>
            <a:ext cx="3712464" cy="932688"/>
          </a:xfrm>
          <a:prstGeom prst="roundRect">
            <a:avLst>
              <a:gd name="adj" fmla="val 5882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pic>
        <p:nvPicPr>
          <p:cNvPr id="250795443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4864607" y="2578608"/>
            <a:ext cx="329184" cy="329184"/>
          </a:xfrm>
          <a:prstGeom prst="rect">
            <a:avLst/>
          </a:prstGeom>
        </p:spPr>
      </p:pic>
      <p:sp>
        <p:nvSpPr>
          <p:cNvPr id="1648874269" name="Text 11"/>
          <p:cNvSpPr txBox="1"/>
          <p:nvPr/>
        </p:nvSpPr>
        <p:spPr bwMode="auto">
          <a:xfrm>
            <a:off x="5376672" y="239572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0397B"/>
                </a:solidFill>
              </a:rPr>
              <a:t>Abra </a:t>
            </a:r>
            <a:r>
              <a:rPr lang="en-US" sz="1250" b="1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/academico/alunos/999/editar/</a:t>
            </a:r>
            <a:endParaRPr lang="en-US" sz="1400"/>
          </a:p>
        </p:txBody>
      </p:sp>
      <p:sp>
        <p:nvSpPr>
          <p:cNvPr id="1127053226" name="Text 12"/>
          <p:cNvSpPr txBox="1"/>
          <p:nvPr/>
        </p:nvSpPr>
        <p:spPr bwMode="auto">
          <a:xfrm>
            <a:off x="5376672" y="277977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3A3F44"/>
                </a:solidFill>
              </a:rPr>
              <a:t>Esperado: página 404</a:t>
            </a:r>
            <a:endParaRPr lang="en-US" sz="1300"/>
          </a:p>
        </p:txBody>
      </p:sp>
      <p:sp>
        <p:nvSpPr>
          <p:cNvPr id="621045321" name="Shape 13"/>
          <p:cNvSpPr/>
          <p:nvPr/>
        </p:nvSpPr>
        <p:spPr bwMode="auto">
          <a:xfrm>
            <a:off x="768096" y="3383280"/>
            <a:ext cx="3712464" cy="932688"/>
          </a:xfrm>
          <a:prstGeom prst="roundRect">
            <a:avLst>
              <a:gd name="adj" fmla="val 5882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pic>
        <p:nvPicPr>
          <p:cNvPr id="762324856" name="Image 4" descr="preencoded.png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>
            <a:off x="969264" y="3675888"/>
            <a:ext cx="329184" cy="329184"/>
          </a:xfrm>
          <a:prstGeom prst="rect">
            <a:avLst/>
          </a:prstGeom>
        </p:spPr>
      </p:pic>
      <p:sp>
        <p:nvSpPr>
          <p:cNvPr id="1788283900" name="Text 14"/>
          <p:cNvSpPr txBox="1"/>
          <p:nvPr/>
        </p:nvSpPr>
        <p:spPr bwMode="auto">
          <a:xfrm>
            <a:off x="1481328" y="349300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0397B"/>
                </a:solidFill>
              </a:rPr>
              <a:t>Exclua um aluno com inscrição</a:t>
            </a:r>
            <a:endParaRPr lang="en-US" sz="1400"/>
          </a:p>
        </p:txBody>
      </p:sp>
      <p:sp>
        <p:nvSpPr>
          <p:cNvPr id="449226288" name="Text 15"/>
          <p:cNvSpPr txBox="1"/>
          <p:nvPr/>
        </p:nvSpPr>
        <p:spPr bwMode="auto">
          <a:xfrm>
            <a:off x="1481328" y="387705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3A3F44"/>
                </a:solidFill>
              </a:rPr>
              <a:t>Esperado: mensagem, e o aluno continua</a:t>
            </a:r>
            <a:endParaRPr lang="en-US" sz="1300"/>
          </a:p>
        </p:txBody>
      </p:sp>
      <p:sp>
        <p:nvSpPr>
          <p:cNvPr id="1665777421" name="Shape 16"/>
          <p:cNvSpPr/>
          <p:nvPr/>
        </p:nvSpPr>
        <p:spPr bwMode="auto">
          <a:xfrm>
            <a:off x="4663440" y="3383280"/>
            <a:ext cx="3712464" cy="932688"/>
          </a:xfrm>
          <a:prstGeom prst="roundRect">
            <a:avLst>
              <a:gd name="adj" fmla="val 5882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pic>
        <p:nvPicPr>
          <p:cNvPr id="890680925" name="Image 5" descr="preencoded.png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>
            <a:off x="4864607" y="3675888"/>
            <a:ext cx="329184" cy="329184"/>
          </a:xfrm>
          <a:prstGeom prst="rect">
            <a:avLst/>
          </a:prstGeom>
        </p:spPr>
      </p:pic>
      <p:sp>
        <p:nvSpPr>
          <p:cNvPr id="919806302" name="Text 17"/>
          <p:cNvSpPr txBox="1"/>
          <p:nvPr/>
        </p:nvSpPr>
        <p:spPr bwMode="auto">
          <a:xfrm>
            <a:off x="5376672" y="3493008"/>
            <a:ext cx="2880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400" b="1">
                <a:solidFill>
                  <a:srgbClr val="00397B"/>
                </a:solidFill>
              </a:rPr>
              <a:t>Saia e abra </a:t>
            </a:r>
            <a:r>
              <a:rPr lang="en-US" sz="1250" b="1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/academico/alunos/</a:t>
            </a:r>
            <a:endParaRPr lang="en-US" sz="1400"/>
          </a:p>
        </p:txBody>
      </p:sp>
      <p:sp>
        <p:nvSpPr>
          <p:cNvPr id="1085880130" name="Text 18"/>
          <p:cNvSpPr txBox="1"/>
          <p:nvPr/>
        </p:nvSpPr>
        <p:spPr bwMode="auto">
          <a:xfrm>
            <a:off x="5376672" y="3877056"/>
            <a:ext cx="2880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300">
                <a:solidFill>
                  <a:srgbClr val="3A3F44"/>
                </a:solidFill>
              </a:rPr>
              <a:t>Esperado: vai para o login</a:t>
            </a:r>
            <a:endParaRPr lang="en-US" sz="13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2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043359" name="Text 5"/>
          <p:cNvSpPr/>
          <p:nvPr>
            <p:ph type="title" idx="105" hasCustomPrompt="1"/>
          </p:nvPr>
        </p:nvSpPr>
        <p:spPr bwMode="auto">
          <a:xfrm>
            <a:off x="786384" y="329184"/>
            <a:ext cx="7589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3200">
                <a:solidFill>
                  <a:schemeClr val="tx2"/>
                </a:solidFill>
              </a:rPr>
              <a:t>Para o próximo encontro</a:t>
            </a:r>
            <a:endParaRPr lang="en-US" sz="3200"/>
          </a:p>
        </p:txBody>
      </p:sp>
      <p:sp>
        <p:nvSpPr>
          <p:cNvPr id="1077941535" name="card Leitura"/>
          <p:cNvSpPr/>
          <p:nvPr/>
        </p:nvSpPr>
        <p:spPr bwMode="auto">
          <a:xfrm>
            <a:off x="768096" y="1188720"/>
            <a:ext cx="2414016" cy="251460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873613362" name="Shape 2"/>
          <p:cNvSpPr/>
          <p:nvPr/>
        </p:nvSpPr>
        <p:spPr bwMode="auto">
          <a:xfrm>
            <a:off x="996696" y="141732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8542985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145926" y="1566550"/>
            <a:ext cx="323332" cy="323332"/>
          </a:xfrm>
          <a:prstGeom prst="rect">
            <a:avLst/>
          </a:prstGeom>
        </p:spPr>
      </p:pic>
      <p:sp>
        <p:nvSpPr>
          <p:cNvPr id="2024204907" name="Text 3"/>
          <p:cNvSpPr txBox="1"/>
          <p:nvPr/>
        </p:nvSpPr>
        <p:spPr bwMode="auto">
          <a:xfrm>
            <a:off x="996696" y="217627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397B"/>
                </a:solidFill>
              </a:rPr>
              <a:t>Leitura</a:t>
            </a:r>
            <a:endParaRPr lang="en-US" sz="1600"/>
          </a:p>
        </p:txBody>
      </p:sp>
      <p:sp>
        <p:nvSpPr>
          <p:cNvPr id="1131264174" name="Text 4"/>
          <p:cNvSpPr txBox="1"/>
          <p:nvPr/>
        </p:nvSpPr>
        <p:spPr bwMode="auto">
          <a:xfrm>
            <a:off x="996696" y="2761488"/>
            <a:ext cx="2002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Texto 03, seção “O problema N+1”, e o texto 05 (views, URLs e templates).</a:t>
            </a:r>
            <a:endParaRPr lang="en-US" sz="1400"/>
          </a:p>
        </p:txBody>
      </p:sp>
      <p:sp>
        <p:nvSpPr>
          <p:cNvPr id="1855058943" name="card Código"/>
          <p:cNvSpPr/>
          <p:nvPr/>
        </p:nvSpPr>
        <p:spPr bwMode="auto">
          <a:xfrm>
            <a:off x="3364992" y="1188720"/>
            <a:ext cx="2414016" cy="251460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205580949" name="Shape 6"/>
          <p:cNvSpPr/>
          <p:nvPr/>
        </p:nvSpPr>
        <p:spPr bwMode="auto">
          <a:xfrm>
            <a:off x="3593592" y="141732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77072481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3742822" y="1566550"/>
            <a:ext cx="323332" cy="323332"/>
          </a:xfrm>
          <a:prstGeom prst="rect">
            <a:avLst/>
          </a:prstGeom>
        </p:spPr>
      </p:pic>
      <p:sp>
        <p:nvSpPr>
          <p:cNvPr id="667669655" name="Text 7"/>
          <p:cNvSpPr txBox="1"/>
          <p:nvPr/>
        </p:nvSpPr>
        <p:spPr bwMode="auto">
          <a:xfrm>
            <a:off x="3593592" y="217627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397B"/>
                </a:solidFill>
              </a:rPr>
              <a:t>Código</a:t>
            </a:r>
            <a:endParaRPr lang="en-US" sz="1600"/>
          </a:p>
        </p:txBody>
      </p:sp>
      <p:sp>
        <p:nvSpPr>
          <p:cNvPr id="1160930846" name="Text 8"/>
          <p:cNvSpPr txBox="1"/>
          <p:nvPr/>
        </p:nvSpPr>
        <p:spPr bwMode="auto">
          <a:xfrm>
            <a:off x="3593592" y="2761488"/>
            <a:ext cx="2002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Fechar os TODOs 4 a 9 e rodar </a:t>
            </a:r>
            <a:r>
              <a:rPr lang="en-US" sz="1250">
                <a:solidFill>
                  <a:srgbClr val="00397B"/>
                </a:solidFill>
                <a:latin typeface="Courier New"/>
                <a:ea typeface="Courier New"/>
                <a:cs typeface="Courier New"/>
              </a:rPr>
              <a:t>python verificar.py</a:t>
            </a:r>
            <a:r>
              <a:rPr lang="en-US" sz="1400">
                <a:solidFill>
                  <a:srgbClr val="3A3F44"/>
                </a:solidFill>
              </a:rPr>
              <a:t>.</a:t>
            </a:r>
            <a:endParaRPr lang="en-US" sz="1400"/>
          </a:p>
        </p:txBody>
      </p:sp>
      <p:sp>
        <p:nvSpPr>
          <p:cNvPr id="185350627" name="card Grupo"/>
          <p:cNvSpPr/>
          <p:nvPr/>
        </p:nvSpPr>
        <p:spPr bwMode="auto">
          <a:xfrm>
            <a:off x="5961888" y="1188720"/>
            <a:ext cx="2414016" cy="2514600"/>
          </a:xfrm>
          <a:prstGeom prst="roundRect">
            <a:avLst>
              <a:gd name="adj" fmla="val 227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1546946305" name="Shape 10"/>
          <p:cNvSpPr/>
          <p:nvPr/>
        </p:nvSpPr>
        <p:spPr bwMode="auto">
          <a:xfrm>
            <a:off x="6190488" y="1417320"/>
            <a:ext cx="621792" cy="6217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31544412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6339718" y="1566550"/>
            <a:ext cx="323332" cy="323332"/>
          </a:xfrm>
          <a:prstGeom prst="rect">
            <a:avLst/>
          </a:prstGeom>
        </p:spPr>
      </p:pic>
      <p:sp>
        <p:nvSpPr>
          <p:cNvPr id="647767222" name="Text 11"/>
          <p:cNvSpPr txBox="1"/>
          <p:nvPr/>
        </p:nvSpPr>
        <p:spPr bwMode="auto">
          <a:xfrm>
            <a:off x="6190488" y="2176272"/>
            <a:ext cx="20025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  <a:defRPr/>
            </a:pPr>
            <a:r>
              <a:rPr lang="en-US" sz="1600" b="1">
                <a:solidFill>
                  <a:srgbClr val="00397B"/>
                </a:solidFill>
              </a:rPr>
              <a:t>Grupo</a:t>
            </a:r>
            <a:endParaRPr lang="en-US" sz="1600"/>
          </a:p>
        </p:txBody>
      </p:sp>
      <p:sp>
        <p:nvSpPr>
          <p:cNvPr id="2010520562" name="Text 12"/>
          <p:cNvSpPr txBox="1"/>
          <p:nvPr/>
        </p:nvSpPr>
        <p:spPr bwMode="auto">
          <a:xfrm>
            <a:off x="6190488" y="2761488"/>
            <a:ext cx="2002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  <a:defRPr/>
            </a:pPr>
            <a:r>
              <a:rPr lang="en-US" sz="1400">
                <a:solidFill>
                  <a:srgbClr val="3A3F44"/>
                </a:solidFill>
              </a:rPr>
              <a:t>Cada integrante explica uma view do CRUD de aluno para os outros, sem olhar o código.</a:t>
            </a:r>
            <a:endParaRPr lang="en-US" sz="1400"/>
          </a:p>
        </p:txBody>
      </p:sp>
      <p:sp>
        <p:nvSpPr>
          <p:cNvPr id="1221767194" name="destaque"/>
          <p:cNvSpPr/>
          <p:nvPr/>
        </p:nvSpPr>
        <p:spPr bwMode="auto">
          <a:xfrm>
            <a:off x="768096" y="3931920"/>
            <a:ext cx="7607808" cy="658368"/>
          </a:xfrm>
          <a:prstGeom prst="roundRect">
            <a:avLst>
              <a:gd name="adj" fmla="val 8333"/>
            </a:avLst>
          </a:prstGeom>
          <a:solidFill>
            <a:srgbClr val="E3EFF1"/>
          </a:solidFill>
          <a:ln w="12700">
            <a:solidFill>
              <a:srgbClr val="E3EFF1"/>
            </a:solidFill>
            <a:prstDash val="solid"/>
          </a:ln>
        </p:spPr>
      </p:sp>
      <p:sp>
        <p:nvSpPr>
          <p:cNvPr id="2079624518" name="Shape 14"/>
          <p:cNvSpPr/>
          <p:nvPr/>
        </p:nvSpPr>
        <p:spPr bwMode="auto">
          <a:xfrm>
            <a:off x="950976" y="4032504"/>
            <a:ext cx="457200" cy="4572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130552114" name="Image 3" descr="preencoded.png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>
            <a:off x="1060704" y="4142232"/>
            <a:ext cx="237744" cy="237744"/>
          </a:xfrm>
          <a:prstGeom prst="rect">
            <a:avLst/>
          </a:prstGeom>
        </p:spPr>
      </p:pic>
      <p:sp>
        <p:nvSpPr>
          <p:cNvPr id="2135708346" name="Text 15"/>
          <p:cNvSpPr txBox="1"/>
          <p:nvPr/>
        </p:nvSpPr>
        <p:spPr bwMode="auto">
          <a:xfrm>
            <a:off x="1572768" y="3931920"/>
            <a:ext cx="664768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500" b="1">
                <a:solidFill>
                  <a:srgbClr val="00397B"/>
                </a:solidFill>
              </a:rPr>
              <a:t>Próxima aula: </a:t>
            </a:r>
            <a:r>
              <a:rPr lang="en-US" sz="1500">
                <a:solidFill>
                  <a:srgbClr val="3A3F44"/>
                </a:solidFill>
              </a:rPr>
              <a:t>inscrições e notas, o problema N+1, design de interface e o admin.</a:t>
            </a:r>
            <a:endParaRPr lang="en-US" sz="15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ARA0095 RAD">
  <a:themeElements>
    <a:clrScheme name="ARA0095 RAD">
      <a:dk1>
        <a:srgbClr val="3A3F44"/>
      </a:dk1>
      <a:lt1>
        <a:srgbClr val="FFFFFF"/>
      </a:lt1>
      <a:dk2>
        <a:srgbClr val="00397B"/>
      </a:dk2>
      <a:lt2>
        <a:srgbClr val="E3EFF1"/>
      </a:lt2>
      <a:accent1>
        <a:srgbClr val="1185AA"/>
      </a:accent1>
      <a:accent2>
        <a:srgbClr val="D06110"/>
      </a:accent2>
      <a:accent3>
        <a:srgbClr val="54C8E1"/>
      </a:accent3>
      <a:accent4>
        <a:srgbClr val="892900"/>
      </a:accent4>
      <a:accent5>
        <a:srgbClr val="9FE8ED"/>
      </a:accent5>
      <a:accent6>
        <a:srgbClr val="FCBCA1"/>
      </a:accent6>
      <a:hlink>
        <a:srgbClr val="1185AA"/>
      </a:hlink>
      <a:folHlink>
        <a:srgbClr val="892900"/>
      </a:folHlink>
    </a:clrScheme>
    <a:fontScheme name="ARA0095 RAD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26</Slides>
  <Notes>26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CRUD completo: editar, excluir e validar</dc:title>
  <dc:subject>PptxGenJS Presentation</dc:subject>
  <dc:creator>ARA0095</dc:creator>
  <cp:lastModifiedBy/>
  <cp:revision>3</cp:revision>
  <dcterms:created xsi:type="dcterms:W3CDTF">2026-10-23T01:37:17Z</dcterms:created>
  <dcterms:modified xsi:type="dcterms:W3CDTF">2026-10-23T13:36:20Z</dcterms:modified>
</cp:coreProperties>
</file>