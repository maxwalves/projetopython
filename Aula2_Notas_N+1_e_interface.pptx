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7183f0c-ca58-8dcb-08af-31bd7fa0b487}">
          <p14:sldIdLst>
            <p14:sldId id="256"/>
            <p14:sldId id="257"/>
            <p14:sldId id="258"/>
            <p14:sldId id="259"/>
          </p14:sldIdLst>
        </p14:section>
        <p14:section name="Exposição" id="{8b71ecaa-a8b4-4a6f-fb57-712bbdbc1ed3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</p14:sldIdLst>
        </p14:section>
        <p14:section name="Prática" id="{03aae868-0722-50ab-f215-8a8f8d946950}">
          <p14:sldIdLst>
            <p14:sldId id="272"/>
            <p14:sldId id="273"/>
            <p14:sldId id="274"/>
            <p14:sldId id="275"/>
            <p14:sldId id="27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397B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00397B"/>
                </a:solidFill>
                <a:latin typeface="+mn-lt"/>
              </a:rPr>
              <a:t>Consultas ao banco para mostrar a lista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sem select_related</c:v>
                </c:pt>
              </c:strCache>
            </c:strRef>
          </c:tx>
          <c:spPr>
            <a:solidFill>
              <a:srgbClr val="D0611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F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 linhas</c:v>
                  </c:pt>
                  <c:pt idx="1">
                    <c:v>50 linhas</c:v>
                  </c:pt>
                  <c:pt idx="2">
                    <c:v>100 linhas</c:v>
                  </c:pt>
                  <c:pt idx="3">
                    <c:v>500 linhas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21</c:v>
                </c:pt>
                <c:pt idx="1">
                  <c:v>101</c:v>
                </c:pt>
                <c:pt idx="2">
                  <c:v>201</c:v>
                </c:pt>
                <c:pt idx="3">
                  <c:v>1001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com select_related</c:v>
                </c:pt>
              </c:strCache>
            </c:strRef>
          </c:tx>
          <c:spPr>
            <a:solidFill>
              <a:srgbClr val="1185A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3F44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10 linhas</c:v>
                  </c:pt>
                  <c:pt idx="1">
                    <c:v>50 linhas</c:v>
                  </c:pt>
                  <c:pt idx="2">
                    <c:v>100 linhas</c:v>
                  </c:pt>
                  <c:pt idx="3">
                    <c:v>500 linhas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3F44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3F44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3A3F44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Abertura. Os grupos devem chegar com o CRUD de aluno (TODOs 7 a 9) pronto ou quase. Hoje: o relacionamento N:N na tela (inscrições e notas), o problema N+1, princípios de design de interface no RAD, o admin e, se der tempo, a troca de SQLite para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Mostre o template e pergunte: quantas consultas ao banco esta tela faz para 500 inscrições? Deixe a turma chutar. A resposta é 1.001: uma para listar as inscrições e mais duas por linha (aluno e disciplina). O código está correto e passa nos testes; o problema só aparece com volume. É o tema central da primeira metade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 minutos de exposição com demonstração, depois laboratório até o fim da aula.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Revisão do modelo com o diagrama na frente. Pergunta da arguição: por que nota1 fica em inscricao? Porque a nota não é atributo do aluno (ele tem uma nota por disciplina) nem da disciplina (ela tem uma nota por aluno). É atributo do encontro entre os dois, e o encontro é a tabela associativa. Este diagrama é o modelo_dados.png que vai na entrega.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Demonstre no `python manage.py shell` cada linha da tabela, com `print(qs.query)` para ver o SQL. Destaque o caminho de volta: é o related_name='inscricoes' do TODO 3 que cria `aluno.inscricoes`. Sem related_name, o Django chamaria de `aluno.inscricao_set`. O duplo sublinhado atravessa a FK e vira JOIN.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Os números do gráfico são exatos, não estimativa: a view faz 1 consulta para a lista, e o template faz mais 2 por linha (aluno e disciplina), ou seja, 1 + 2N. Com select_related, o Django faz um JOIN e traz tudo de uma vez: 1 consulta, qualquer que seja N. É silencioso: funciona e passa nos testes, só fica lento.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Faça ao vivo, depois do seed_demo. CaptureQueriesContext funciona com DEBUG=False (o padrão deste projeto sem .env); o connection.queries do material 03 só funciona com DEBUG=True. O número da primeira contagem depende de quantas inscrições o seed criou: confira que é 1 + 2N. print(qs.query) mostra o JOIN gerado: bom material para a arguição.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2 min. Regra prática: seguindo uma FK para o lado 'um' (inscricao → aluno), select_related, que faz JOIN. Seguindo o caminho de volta para o lado 'muitos' (aluno → inscricoes), prefetch_related, que faz uma segunda consulta e junta em Python. No trabalho, o TODO 12a pede select_related e vale ponto no item 3 da rubrica.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5 min. Duas validações que valem ponto. 1) Filtrar o queryset: o usuário nem vê o aluno inativo; é design de interface prevenindo erro. 2) Mensagem de duplicidade: quem impede é a UniqueConstraint do banco; o form só troca o texto padrão. Não troque isso por um if Inscricao.objects.filter(...).exists(): entre a consulta e o save existe uma janela em que outra requisição pode inserir o mesmo par.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4 min. Tema 5.3. Na metodologia de James Martin, Design do Usuário é uma fase com o usuário junto, não um acabamento no fim. No projeto, os templates prontos fazem o papel de protótipo já validado: vocês implementam o comportamento por trás de telas que já existem. Pergunte: que feedback cada tela do sistema dá ao usuário?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Abra templates/base.html e mostre: menu, bloco de mensagens (o for message in messages) e o block conteudo. Cada tela do app só preenche o bloco. É por isso que um messages.success() na view aparece em qualquer tela sem código extra, e é a consistência do slide anterior implementada.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Esta tabela vira o roteiro de teste da Prática 3: cada grupo percorre as linhas no próprio sistema. Ligue cada resposta à camada que a produz, como na aula passada.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 min. TODO 13 (bônus). Mostre ao vivo: com estas linhas o /admin/ ganha listagem, busca, filtro e CRUD completo. É RAD na forma mais pura. Deixe claro o aviso do próprio admin.py: o admin é ferramenta de desenvolvedor (o papel que o DB Browser teve na Entrega 1); entregar só o admin é entregar o CRUD do Django, não o do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6 min, demonstração opcional. Liga com a aula de Tkinter + PostgreSQL: o driver é o mesmo psycopg2. A entrega continua em SQLite; isto mostra o que o ORM abstrai. Passos: pip install psycopg2-binary, criar o banco escola no PostgreSQL, trocar DATABASES (de preferência lendo usuário e senha do .env com os.getenv, como o settings.py já faz com SECRET_KEY) e rodar migrate. As mesmas migrations criam as tabelas no banco novo.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 min. Volte ao slide 2 e pergunte de novo: quantas consultas? E agora, com select_related?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Início do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10 min. Atividade verificadora: cada grupo informa os dois números (sem e com select_related) e explica de onde veio cada um. Se a primeira contagem não for 1 + 2N, peça para conferirem quantas inscrições o seed criou.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≈ 35 min. Os TODOs 10 e 11 espelham o CRUD de aluno; o 12 é o único com assunto novo (select_related). Sugira a divisão do roteiro: uma pessoa em disciplina, outra em inscrições, e as duas explicam o código uma para a outra no fim.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Até o fim da aula. O roteiro de teste é a tabela do slide 13. O critério de saída é 0 FALHA no verificar.py; quem chegar lá começa o README e o diagrama.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Próxima aula: RAD de ponta a ponta, transição (deploy) e arguição simulada. Os grupos precisam trazer o projeto rodando.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828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" name="Shape 1"/>
          <p:cNvSpPr/>
          <p:nvPr/>
        </p:nvSpPr>
        <p:spPr>
          <a:xfrm>
            <a:off x="219456" y="676656"/>
            <a:ext cx="384048" cy="0"/>
          </a:xfrm>
          <a:prstGeom prst="line">
            <a:avLst/>
          </a:prstGeom>
          <a:noFill/>
          <a:ln w="38100">
            <a:solidFill>
              <a:schemeClr val="tx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901184"/>
            <a:ext cx="7498080" cy="242316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0" y="4901184"/>
            <a:ext cx="1581912" cy="242316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Shape 4"/>
          <p:cNvSpPr/>
          <p:nvPr/>
        </p:nvSpPr>
        <p:spPr>
          <a:xfrm>
            <a:off x="9079992" y="4901184"/>
            <a:ext cx="64008" cy="242316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0"/>
            <a:ext cx="53492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117336" y="0"/>
            <a:ext cx="3026664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ARA0095 · Desenvolvimento Rápido de Aplicações em Python</a:t>
            </a:r>
            <a:endParaRPr lang="en-US" sz="12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996696" y="1325880"/>
            <a:ext cx="4434840" cy="1691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96696" y="3200400"/>
            <a:ext cx="443484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SOR">
    <p:bg>
      <p:bgPr>
        <a:solidFill>
          <a:schemeClr val="accen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68096" cy="51435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Shape 1"/>
          <p:cNvSpPr/>
          <p:nvPr/>
        </p:nvSpPr>
        <p:spPr>
          <a:xfrm>
            <a:off x="768096" y="0"/>
            <a:ext cx="5349240" cy="514350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4" name="Shape 2"/>
          <p:cNvSpPr/>
          <p:nvPr/>
        </p:nvSpPr>
        <p:spPr>
          <a:xfrm>
            <a:off x="6117336" y="0"/>
            <a:ext cx="3026664" cy="5143500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" name="Text 3"/>
          <p:cNvSpPr/>
          <p:nvPr/>
        </p:nvSpPr>
        <p:spPr>
          <a:xfrm>
            <a:off x="996696" y="502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ARA0095 · Desenvolvimento Rápido de Aplicações em Python</a:t>
            </a:r>
            <a:endParaRPr lang="en-US" sz="1200" dirty="0"/>
          </a:p>
        </p:txBody>
      </p:sp>
      <p:sp>
        <p:nvSpPr>
          <p:cNvPr id="6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7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325880"/>
            <a:ext cx="44348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Inscrições, notas e a interface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00400"/>
            <a:ext cx="4434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Aula 2 de 3 · Tema 5, Aplicando RAD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Design de interface: o N:N na tela, sem lentidão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1844230"/>
            <a:ext cx="3246120" cy="1455039"/>
          </a:xfrm>
          <a:prstGeom prst="roundRect">
            <a:avLst>
              <a:gd name="adj" fmla="val 5027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196310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196310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196310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1899094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academico/views.py · TODO 12a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228278"/>
            <a:ext cx="2880360" cy="979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inscricoes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Inscricao.objects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.select_related(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  <a:p>
            <a:pPr indent="0" marL="0">
              <a:buNone/>
            </a:pPr>
            <a:r>
              <a:rPr lang="en-US" sz="10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consulta, não 1 + 2N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Situação-problema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768096" y="1051560"/>
            <a:ext cx="7607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Fim de semestre. A coordenação abre a lista de notas com 500 inscrições e a tela demora a carregar. O template parece inocente:</a:t>
            </a:r>
            <a:endParaRPr lang="en-US" sz="1500" dirty="0"/>
          </a:p>
        </p:txBody>
      </p:sp>
      <p:sp>
        <p:nvSpPr>
          <p:cNvPr id="5" name="codigo fundo"/>
          <p:cNvSpPr/>
          <p:nvPr/>
        </p:nvSpPr>
        <p:spPr>
          <a:xfrm>
            <a:off x="768096" y="1755648"/>
            <a:ext cx="4389120" cy="2468880"/>
          </a:xfrm>
          <a:prstGeom prst="roundRect">
            <a:avLst>
              <a:gd name="adj" fmla="val 296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32688" y="1874520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78992" y="1874520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25296" y="1874520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426464" y="181051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templates/academico/inscricao_lista.html</a:t>
            </a:r>
            <a:endParaRPr lang="en-US" sz="900" dirty="0"/>
          </a:p>
        </p:txBody>
      </p:sp>
      <p:sp>
        <p:nvSpPr>
          <p:cNvPr id="10" name="codigo texto"/>
          <p:cNvSpPr txBox="1"/>
          <p:nvPr/>
        </p:nvSpPr>
        <p:spPr>
          <a:xfrm>
            <a:off x="987552" y="2139696"/>
            <a:ext cx="4023360" cy="1993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for i in inscricoes %}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&lt;tr&gt;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</a:t>
            </a:r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i.aluno.nome }}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</a:t>
            </a:r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i.disciplina.nome }}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&lt;td&gt;</a:t>
            </a:r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i.media }}</a:t>
            </a:r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&lt;/td&gt;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&lt;/tr&gt;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5D6A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endfor %}</a:t>
            </a:r>
            <a:endParaRPr lang="en-US" sz="1300" dirty="0"/>
          </a:p>
        </p:txBody>
      </p:sp>
      <p:sp>
        <p:nvSpPr>
          <p:cNvPr id="11" name="pergunta"/>
          <p:cNvSpPr/>
          <p:nvPr/>
        </p:nvSpPr>
        <p:spPr>
          <a:xfrm>
            <a:off x="5340096" y="1755648"/>
            <a:ext cx="3035808" cy="2468880"/>
          </a:xfrm>
          <a:prstGeom prst="roundRect">
            <a:avLst>
              <a:gd name="adj" fmla="val 2222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541264" y="192024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4159" y="204313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199632" y="1920240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Quantas consultas?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5541264" y="2606040"/>
            <a:ext cx="2697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A view fez só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Inscricao.objects.all()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Quantas vezes esta tela vai ao banco para mostrar 500 linhas?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768096" y="4389120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O código está correto. O problema é quantas vezes ele vai ao banco.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Objetivos da aula</a:t>
            </a:r>
            <a:endParaRPr lang="en-US" sz="3200" dirty="0"/>
          </a:p>
        </p:txBody>
      </p:sp>
      <p:sp>
        <p:nvSpPr>
          <p:cNvPr id="4" name="card Navegar relações no ORM"/>
          <p:cNvSpPr/>
          <p:nvPr/>
        </p:nvSpPr>
        <p:spPr>
          <a:xfrm>
            <a:off x="768096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26" y="1749430"/>
            <a:ext cx="323332" cy="3233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6696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Navegar relações no ORM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Ida (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inscricao.aluno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) e volta (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aluno.inscricoes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) sem escrever JOIN.</a:t>
            </a:r>
            <a:endParaRPr lang="en-US" sz="1400" dirty="0"/>
          </a:p>
        </p:txBody>
      </p:sp>
      <p:sp>
        <p:nvSpPr>
          <p:cNvPr id="9" name="card Medir e resolver o N+1"/>
          <p:cNvSpPr/>
          <p:nvPr/>
        </p:nvSpPr>
        <p:spPr>
          <a:xfrm>
            <a:off x="3364992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3592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1749430"/>
            <a:ext cx="323332" cy="3233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93592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Medir e resolver o N+1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Contar consultas no shell e trocar 1 + 2N por 1 com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d Desenhar a interface no RAD"/>
          <p:cNvSpPr/>
          <p:nvPr/>
        </p:nvSpPr>
        <p:spPr>
          <a:xfrm>
            <a:off x="5961888" y="1371600"/>
            <a:ext cx="2414016" cy="292608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0488" y="160020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1749430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90488" y="235915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Desenhar a interface no RAD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2944368"/>
            <a:ext cx="200253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Protótipo, herança de templates, resposta a cada ação e o admin.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Roteiro da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960120" y="1700784"/>
            <a:ext cx="7150608" cy="0"/>
          </a:xfrm>
          <a:prstGeom prst="line">
            <a:avLst/>
          </a:prstGeom>
          <a:noFill/>
          <a:ln w="25400">
            <a:solidFill>
              <a:srgbClr val="C9D6DD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8096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0 a 6 min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768096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Abertura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68096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Uma tela correta e lenta.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289658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89658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289658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6 a 20 min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2289658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Relações e N+1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289658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Ida e volta no ORM, contar consultas,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811219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811219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3811219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20 a 28 min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3811219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Inscrição e notas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3811219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InscricaoForm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: aluno ativo e duplicidade.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5332781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332781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5332781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28 a 42 min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5332781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Design de interface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5332781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Protótipo,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mensagens e o admin.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6854342" y="150876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4342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6854342" y="2011680"/>
            <a:ext cx="13844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85AA"/>
                </a:solidFill>
              </a:rPr>
              <a:t>42 a 50 min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6854342" y="2276856"/>
            <a:ext cx="138440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Trocar o banco</a:t>
            </a:r>
            <a:endParaRPr lang="en-US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6854342" y="2807208"/>
            <a:ext cx="13386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Do SQLite ao PostgreSQL mudando só a configuração.</a:t>
            </a:r>
            <a:endParaRPr lang="en-US" sz="1300" dirty="0"/>
          </a:p>
        </p:txBody>
      </p:sp>
      <p:sp>
        <p:nvSpPr>
          <p:cNvPr id="30" name="destaque"/>
          <p:cNvSpPr/>
          <p:nvPr/>
        </p:nvSpPr>
        <p:spPr>
          <a:xfrm>
            <a:off x="768096" y="379476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50976" y="38953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005072"/>
            <a:ext cx="237744" cy="237744"/>
          </a:xfrm>
          <a:prstGeom prst="rect">
            <a:avLst/>
          </a:prstGeom>
        </p:spPr>
      </p:pic>
      <p:sp>
        <p:nvSpPr>
          <p:cNvPr id="33" name="Text 29"/>
          <p:cNvSpPr txBox="1"/>
          <p:nvPr/>
        </p:nvSpPr>
        <p:spPr>
          <a:xfrm>
            <a:off x="1572768" y="379476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Depois da exposição: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medir o N+1, disciplinas e notas (TODOs 10 a 12) e o admin (TODO 13).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 N:N do sistema</a:t>
            </a:r>
            <a:endParaRPr lang="en-US" sz="3200" dirty="0"/>
          </a:p>
        </p:txBody>
      </p:sp>
      <p:sp>
        <p:nvSpPr>
          <p:cNvPr id="4" name="entidade aluno"/>
          <p:cNvSpPr/>
          <p:nvPr/>
        </p:nvSpPr>
        <p:spPr>
          <a:xfrm>
            <a:off x="768096" y="132588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68096" y="1325880"/>
            <a:ext cx="2103120" cy="384048"/>
          </a:xfrm>
          <a:prstGeom prst="rect">
            <a:avLst/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8096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aluno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50976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50976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matricula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50976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0976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email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0976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ativo</a:t>
            </a:r>
            <a:endParaRPr lang="en-US" sz="1200" dirty="0"/>
          </a:p>
        </p:txBody>
      </p:sp>
      <p:sp>
        <p:nvSpPr>
          <p:cNvPr id="12" name="entidade inscricao"/>
          <p:cNvSpPr/>
          <p:nvPr/>
        </p:nvSpPr>
        <p:spPr>
          <a:xfrm>
            <a:off x="3520440" y="132588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20440" y="1325880"/>
            <a:ext cx="2103120" cy="384048"/>
          </a:xfrm>
          <a:prstGeom prst="rect">
            <a:avLst/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20440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inscricao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3703320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3703320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aluno_id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703320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disciplina_id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3703320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6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nota1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3703320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0611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nota2</a:t>
            </a:r>
            <a:endParaRPr lang="en-US" sz="1200" dirty="0"/>
          </a:p>
        </p:txBody>
      </p:sp>
      <p:sp>
        <p:nvSpPr>
          <p:cNvPr id="20" name="entidade disciplina"/>
          <p:cNvSpPr/>
          <p:nvPr/>
        </p:nvSpPr>
        <p:spPr>
          <a:xfrm>
            <a:off x="6272784" y="1325880"/>
            <a:ext cx="2103120" cy="1956816"/>
          </a:xfrm>
          <a:prstGeom prst="roundRect">
            <a:avLst>
              <a:gd name="adj" fmla="val 2804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272784" y="1325880"/>
            <a:ext cx="2103120" cy="384048"/>
          </a:xfrm>
          <a:prstGeom prst="rect">
            <a:avLst/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272784" y="132588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disciplina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6455664" y="1783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6455664" y="2075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codigo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6455664" y="236829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nome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6455664" y="26609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carga_horaria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6455664" y="2953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periodo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2889504" y="2331720"/>
            <a:ext cx="6035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9" name="Shape 26"/>
          <p:cNvSpPr/>
          <p:nvPr/>
        </p:nvSpPr>
        <p:spPr>
          <a:xfrm flipH="1">
            <a:off x="5650992" y="2331720"/>
            <a:ext cx="603504" cy="0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30" name="Text 27"/>
          <p:cNvSpPr txBox="1"/>
          <p:nvPr/>
        </p:nvSpPr>
        <p:spPr>
          <a:xfrm>
            <a:off x="2889504" y="20116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85AA"/>
                </a:solidFill>
              </a:rPr>
              <a:t>1 : N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5650992" y="2011680"/>
            <a:ext cx="603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85AA"/>
                </a:solidFill>
              </a:rPr>
              <a:t>N : 1</a:t>
            </a:r>
            <a:endParaRPr lang="en-US" sz="1200" dirty="0"/>
          </a:p>
        </p:txBody>
      </p:sp>
      <p:sp>
        <p:nvSpPr>
          <p:cNvPr id="32" name="Text 29"/>
          <p:cNvSpPr txBox="1"/>
          <p:nvPr/>
        </p:nvSpPr>
        <p:spPr>
          <a:xfrm>
            <a:off x="3017520" y="3310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 (aluno_id, disciplina_id)</a:t>
            </a:r>
            <a:endParaRPr lang="en-US" sz="1200" dirty="0"/>
          </a:p>
        </p:txBody>
      </p:sp>
      <p:sp>
        <p:nvSpPr>
          <p:cNvPr id="33" name="destaque"/>
          <p:cNvSpPr/>
          <p:nvPr/>
        </p:nvSpPr>
        <p:spPr>
          <a:xfrm>
            <a:off x="768096" y="3703320"/>
            <a:ext cx="7607808" cy="777240"/>
          </a:xfrm>
          <a:prstGeom prst="roundRect">
            <a:avLst>
              <a:gd name="adj" fmla="val 7059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950976" y="38633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3973068"/>
            <a:ext cx="237744" cy="237744"/>
          </a:xfrm>
          <a:prstGeom prst="rect">
            <a:avLst/>
          </a:prstGeom>
        </p:spPr>
      </p:pic>
      <p:sp>
        <p:nvSpPr>
          <p:cNvPr id="36" name="Text 32"/>
          <p:cNvSpPr txBox="1"/>
          <p:nvPr/>
        </p:nvSpPr>
        <p:spPr>
          <a:xfrm>
            <a:off x="1572768" y="3703320"/>
            <a:ext cx="66476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Por que a nota fica em inscricao?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Ela não é do aluno nem da disciplina. É do encontro entre os dois.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Navegando nas relações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3429000"/>
                <a:gridCol w="417880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ORM (Python)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SQL que o Django gera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inscricao.aluno.nome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... FROM aluno WHERE id = %s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aluno.inscricoes.all()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... FROM inscricao WHERE aluno_id = %s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aluno.inscricoes.count()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 COUNT(*) ... WHERE aluno_id = %s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Inscricao.objects.filter(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3A3F44"/>
                          </a:solidFill>
                        </a:rPr>
                        <a:t>
</a:t>
                      </a:r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  disciplina__codigo="ARA0095")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 JOIN disciplina ON ... WHERE codigo = %s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Inscricao.objects.filter(nota1__lt=6)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... WHERE nota1 &lt; 6</a:t>
                      </a:r>
                      <a:endParaRPr lang="en-US" sz="12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related_name="inscricoes"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 cria o caminho de volta. O 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 atravessa a FK e vira JOIN.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O problema N+1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68096" y="1097280"/>
          <a:ext cx="493776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1"/>
          <p:cNvSpPr/>
          <p:nvPr/>
        </p:nvSpPr>
        <p:spPr>
          <a:xfrm>
            <a:off x="5888736" y="1188720"/>
            <a:ext cx="248716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6071616" y="128016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1 consulta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6071616" y="162763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Inscricao.objects.all()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busca a lista.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888736" y="2359152"/>
            <a:ext cx="248716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6071616" y="2450592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</a:rPr>
              <a:t>+ 2 por linha</a:t>
            </a:r>
            <a:endParaRPr lang="en-US" sz="1700" dirty="0"/>
          </a:p>
        </p:txBody>
      </p:sp>
      <p:sp>
        <p:nvSpPr>
          <p:cNvPr id="10" name="Text 6"/>
          <p:cNvSpPr txBox="1"/>
          <p:nvPr/>
        </p:nvSpPr>
        <p:spPr>
          <a:xfrm>
            <a:off x="6071616" y="2798064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template busca o aluno e a disciplina a cada volta do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888736" y="3529584"/>
            <a:ext cx="248716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6071616" y="3621024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85AA"/>
                </a:solidFill>
              </a:rPr>
              <a:t>= 1 + 2N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6071616" y="3968496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Com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um JOIN traz tudo: 1 consulta.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Ver para crer: contando consultas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43000"/>
            <a:ext cx="5120640" cy="3566160"/>
          </a:xfrm>
          <a:prstGeom prst="roundRect">
            <a:avLst>
              <a:gd name="adj" fmla="val 205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26187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26187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26187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197864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shell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27048"/>
            <a:ext cx="4754880" cy="3090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django.db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connection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django.test.utils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CaptureQueriesContext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academico.models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Inscricao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CaptureQueriesContext(connection)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Inscricao.objects.all():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 _ = i.aluno.nome, i.disciplina.nome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len(q)              </a:t>
            </a:r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 + 2N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qs = Inscricao.objects.select_related(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</a:t>
            </a:r>
            <a:pPr indent="0" marL="0">
              <a:buNone/>
            </a:pPr>
            <a:r>
              <a:rPr lang="en-US" sz="11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with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CaptureQueriesContext(connection)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 </a:t>
            </a:r>
            <a:pPr indent="0" marL="0">
              <a:buNone/>
            </a:pPr>
            <a:r>
              <a:rPr lang="en-US" sz="11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</a:t>
            </a:r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qs: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         _ = i.aluno.nome, i.disciplina.nome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len(q)              </a:t>
            </a:r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print(qs.query)     </a:t>
            </a:r>
            <a:pPr indent="0" marL="0">
              <a:buNone/>
            </a:pPr>
            <a:r>
              <a:rPr lang="en-US" sz="115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 JOIN gerado</a:t>
            </a:r>
            <a:endParaRPr lang="en-US" sz="1150" dirty="0"/>
          </a:p>
        </p:txBody>
      </p:sp>
      <p:sp>
        <p:nvSpPr>
          <p:cNvPr id="10" name="card Conte antes"/>
          <p:cNvSpPr/>
          <p:nvPr/>
        </p:nvSpPr>
        <p:spPr>
          <a:xfrm>
            <a:off x="6071616" y="1143000"/>
            <a:ext cx="2304288" cy="1691640"/>
          </a:xfrm>
          <a:prstGeom prst="roundRect">
            <a:avLst>
              <a:gd name="adj" fmla="val 324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72784" y="132588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5679" y="144877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940296" y="1325880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Conte antes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300216" y="1947672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O N+1 não dá erro. Só aparece quando alguém mede.</a:t>
            </a:r>
            <a:endParaRPr lang="en-US" sz="1300" dirty="0"/>
          </a:p>
        </p:txBody>
      </p:sp>
      <p:sp>
        <p:nvSpPr>
          <p:cNvPr id="15" name="card Mude uma linha"/>
          <p:cNvSpPr/>
          <p:nvPr/>
        </p:nvSpPr>
        <p:spPr>
          <a:xfrm>
            <a:off x="6071616" y="3017520"/>
            <a:ext cx="2304288" cy="1691640"/>
          </a:xfrm>
          <a:prstGeom prst="roundRect">
            <a:avLst>
              <a:gd name="adj" fmla="val 324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272784" y="32004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5679" y="3323295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40296" y="3200400"/>
            <a:ext cx="1252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Mude uma linha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300216" y="3822192"/>
            <a:ext cx="189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A view troca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.all()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 por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.select_related(...)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. O template não muda.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select_related ou prefetch_related?</a:t>
            </a:r>
            <a:endParaRPr lang="en-US" sz="3200" dirty="0"/>
          </a:p>
        </p:txBody>
      </p:sp>
      <p:sp>
        <p:nvSpPr>
          <p:cNvPr id="4" name="`select_related`"/>
          <p:cNvSpPr/>
          <p:nvPr/>
        </p:nvSpPr>
        <p:spPr>
          <a:xfrm>
            <a:off x="768096" y="1188720"/>
            <a:ext cx="3712464" cy="3063240"/>
          </a:xfrm>
          <a:prstGeom prst="roundRect">
            <a:avLst>
              <a:gd name="adj" fmla="val 179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96696" y="1298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996696" y="1828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5AA"/>
                </a:solidFill>
              </a:rPr>
              <a:t>Para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956816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FK e um-para-um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96696" y="23317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5AA"/>
                </a:solidFill>
              </a:rPr>
              <a:t>Direção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956816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lado “um”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996696" y="28346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5AA"/>
                </a:solidFill>
              </a:rPr>
              <a:t>Como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956816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JOIN: 1 consulta</a:t>
            </a:r>
            <a:endParaRPr lang="en-US" sz="1400" dirty="0"/>
          </a:p>
        </p:txBody>
      </p:sp>
      <p:sp>
        <p:nvSpPr>
          <p:cNvPr id="12" name="codigo fundo"/>
          <p:cNvSpPr/>
          <p:nvPr/>
        </p:nvSpPr>
        <p:spPr>
          <a:xfrm>
            <a:off x="950976" y="3273552"/>
            <a:ext cx="3346704" cy="877824"/>
          </a:xfrm>
          <a:prstGeom prst="roundRect">
            <a:avLst>
              <a:gd name="adj" fmla="val 8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115568" y="33924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61872" y="33924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33924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codigo texto"/>
          <p:cNvSpPr txBox="1"/>
          <p:nvPr/>
        </p:nvSpPr>
        <p:spPr>
          <a:xfrm>
            <a:off x="1170432" y="3657600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Inscricao.objects.select_related(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7" name="`prefetch_related`"/>
          <p:cNvSpPr/>
          <p:nvPr/>
        </p:nvSpPr>
        <p:spPr>
          <a:xfrm>
            <a:off x="4663440" y="1188720"/>
            <a:ext cx="3712464" cy="3063240"/>
          </a:xfrm>
          <a:prstGeom prst="roundRect">
            <a:avLst>
              <a:gd name="adj" fmla="val 179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4892040" y="12984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prefetch_related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4892040" y="182880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5AA"/>
                </a:solidFill>
              </a:rPr>
              <a:t>Para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5852160" y="18288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caminho de volta e N:N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233172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5AA"/>
                </a:solidFill>
              </a:rPr>
              <a:t>Direção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5852160" y="23317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o lado “muitos”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892040" y="2834640"/>
            <a:ext cx="960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85AA"/>
                </a:solidFill>
              </a:rPr>
              <a:t>Como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852160" y="283464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2 consultas, junta em Python</a:t>
            </a:r>
            <a:endParaRPr lang="en-US" sz="1400" dirty="0"/>
          </a:p>
        </p:txBody>
      </p:sp>
      <p:sp>
        <p:nvSpPr>
          <p:cNvPr id="25" name="codigo fundo"/>
          <p:cNvSpPr/>
          <p:nvPr/>
        </p:nvSpPr>
        <p:spPr>
          <a:xfrm>
            <a:off x="4846320" y="3273552"/>
            <a:ext cx="3346704" cy="877824"/>
          </a:xfrm>
          <a:prstGeom prst="roundRect">
            <a:avLst>
              <a:gd name="adj" fmla="val 83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010912" y="3392424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157216" y="3392424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303520" y="3392424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codigo texto"/>
          <p:cNvSpPr txBox="1"/>
          <p:nvPr/>
        </p:nvSpPr>
        <p:spPr>
          <a:xfrm>
            <a:off x="5065776" y="3657600"/>
            <a:ext cx="29809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Aluno.objects.prefetch_related(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"inscricoes"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Na rubrica: 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 na listagem de notas vale no item 3.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InscricaoForm: a tela que previne o erro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502920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academico/forms.py · TODO 6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6634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InscricaoForm(BootstrapMixin, forms.ModelForm):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Meta: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model = Inscricao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fields = [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"nota1"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"nota2"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error_messages =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forms.models.NON_FIELD_ERRORS: {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"unique_together"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"Este aluno já está nesta disciplina."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__init__(self, *args, **kwargs):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super().__init__(*args, **kwargs)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self.fields[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].queryset = 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Aluno.objects.filter(ativo=</a:t>
            </a:r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))</a:t>
            </a:r>
            <a:endParaRPr lang="en-US" sz="1050" dirty="0"/>
          </a:p>
        </p:txBody>
      </p:sp>
      <p:sp>
        <p:nvSpPr>
          <p:cNvPr id="10" name="card Filtrar é melhor"/>
          <p:cNvSpPr/>
          <p:nvPr/>
        </p:nvSpPr>
        <p:spPr>
          <a:xfrm>
            <a:off x="5980176" y="1188720"/>
            <a:ext cx="2395728" cy="1627632"/>
          </a:xfrm>
          <a:prstGeom prst="roundRect">
            <a:avLst>
              <a:gd name="adj" fmla="val 33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181344" y="13716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4239" y="1494495"/>
            <a:ext cx="266273" cy="26627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6848856" y="1371600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Filtrar é melhor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6208776" y="1993392"/>
            <a:ext cx="1984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Aluno inativo nem aparece no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5" name="card Quem garante é o banco"/>
          <p:cNvSpPr/>
          <p:nvPr/>
        </p:nvSpPr>
        <p:spPr>
          <a:xfrm>
            <a:off x="5980176" y="2990088"/>
            <a:ext cx="2395728" cy="1627632"/>
          </a:xfrm>
          <a:prstGeom prst="roundRect">
            <a:avLst>
              <a:gd name="adj" fmla="val 3371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81344" y="3172968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4239" y="3295863"/>
            <a:ext cx="266273" cy="26627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48856" y="3172968"/>
            <a:ext cx="1344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Quem garante é o banco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208776" y="3794760"/>
            <a:ext cx="19842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O form só traduz o erro da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UniqueConstraint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Design de interface no RAD</a:t>
            </a:r>
            <a:endParaRPr lang="en-US" sz="3200" dirty="0"/>
          </a:p>
        </p:txBody>
      </p:sp>
      <p:sp>
        <p:nvSpPr>
          <p:cNvPr id="4" name="card Protótipo cedo"/>
          <p:cNvSpPr/>
          <p:nvPr/>
        </p:nvSpPr>
        <p:spPr>
          <a:xfrm>
            <a:off x="768096" y="1188720"/>
            <a:ext cx="3712464" cy="1389888"/>
          </a:xfrm>
          <a:prstGeom prst="roundRect">
            <a:avLst>
              <a:gd name="adj" fmla="val 394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69264" y="13716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2159" y="1494495"/>
            <a:ext cx="266273" cy="26627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636776" y="1371600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Protótipo cedo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1993392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O usuário valida a tela antes do código final. Os templates prontos do projeto são esse protótipo.</a:t>
            </a:r>
            <a:endParaRPr lang="en-US" sz="1300" dirty="0"/>
          </a:p>
        </p:txBody>
      </p:sp>
      <p:sp>
        <p:nvSpPr>
          <p:cNvPr id="9" name="card Iterar com feedback"/>
          <p:cNvSpPr/>
          <p:nvPr/>
        </p:nvSpPr>
        <p:spPr>
          <a:xfrm>
            <a:off x="4663440" y="1188720"/>
            <a:ext cx="3712464" cy="1389888"/>
          </a:xfrm>
          <a:prstGeom prst="roundRect">
            <a:avLst>
              <a:gd name="adj" fmla="val 394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864608" y="1371600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7503" y="1494495"/>
            <a:ext cx="266273" cy="266273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532120" y="1371600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Iterar com feedback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4892040" y="1993392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Mostrar, ouvir, ajustar. Mudar o template não exige mexer na regra de negócio.</a:t>
            </a:r>
            <a:endParaRPr lang="en-US" sz="1300" dirty="0"/>
          </a:p>
        </p:txBody>
      </p:sp>
      <p:sp>
        <p:nvSpPr>
          <p:cNvPr id="14" name="card Consistência"/>
          <p:cNvSpPr/>
          <p:nvPr/>
        </p:nvSpPr>
        <p:spPr>
          <a:xfrm>
            <a:off x="768096" y="2724912"/>
            <a:ext cx="3712464" cy="1389888"/>
          </a:xfrm>
          <a:prstGeom prst="roundRect">
            <a:avLst>
              <a:gd name="adj" fmla="val 394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969264" y="29077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159" y="3030687"/>
            <a:ext cx="266273" cy="266273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636776" y="2907792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Consistência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996696" y="3529584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Mesmo menu, mesmos botões e mesmas mensagens em todas as telas, via 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.</a:t>
            </a:r>
            <a:endParaRPr lang="en-US" sz="1300" dirty="0"/>
          </a:p>
        </p:txBody>
      </p:sp>
      <p:sp>
        <p:nvSpPr>
          <p:cNvPr id="19" name="card Resposta a cada ação"/>
          <p:cNvSpPr/>
          <p:nvPr/>
        </p:nvSpPr>
        <p:spPr>
          <a:xfrm>
            <a:off x="4663440" y="2724912"/>
            <a:ext cx="3712464" cy="1389888"/>
          </a:xfrm>
          <a:prstGeom prst="roundRect">
            <a:avLst>
              <a:gd name="adj" fmla="val 394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864608" y="2907792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7503" y="3030687"/>
            <a:ext cx="266273" cy="26627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532120" y="2907792"/>
            <a:ext cx="266090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Resposta a cada ação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4892040" y="3529584"/>
            <a:ext cx="3300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3A3F44"/>
                </a:solidFill>
              </a:rPr>
              <a:t>Sucesso, erro no campo, confirmação antes de apagar. O usuário nunca fica sem saber.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768096" y="4416552"/>
            <a:ext cx="76078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1185AA"/>
                </a:solidFill>
              </a:rPr>
              <a:t>James Martin: Design do Usuário é uma fase, feita com o usuário, não um acabamento.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Herança de templates</a:t>
            </a:r>
            <a:endParaRPr lang="en-US" sz="3200" dirty="0"/>
          </a:p>
        </p:txBody>
      </p:sp>
      <p:sp>
        <p:nvSpPr>
          <p:cNvPr id="4" name="base"/>
          <p:cNvSpPr/>
          <p:nvPr/>
        </p:nvSpPr>
        <p:spPr>
          <a:xfrm>
            <a:off x="768096" y="1188720"/>
            <a:ext cx="2926080" cy="3429000"/>
          </a:xfrm>
          <a:prstGeom prst="roundRect">
            <a:avLst>
              <a:gd name="adj" fmla="val 1875"/>
            </a:avLst>
          </a:prstGeom>
          <a:solidFill>
            <a:srgbClr val="00397B"/>
          </a:solidFill>
          <a:ln w="12700">
            <a:solidFill>
              <a:srgbClr val="00397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950976" y="1280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base.html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950976" y="1755648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42416" y="1755648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menu e usuário logado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950976" y="2450592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42416" y="2450592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mensagens do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50976" y="3145536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D06110"/>
          </a:solidFill>
          <a:ln w="12700">
            <a:solidFill>
              <a:srgbClr val="D0611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42416" y="3145536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block conteudo %}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50976" y="3840480"/>
            <a:ext cx="2560320" cy="566928"/>
          </a:xfrm>
          <a:prstGeom prst="roundRect">
            <a:avLst>
              <a:gd name="adj" fmla="val 9677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1042416" y="38404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rodapé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 flipV="1">
            <a:off x="3749040" y="1691640"/>
            <a:ext cx="822960" cy="1636776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4663440" y="1188720"/>
            <a:ext cx="3712464" cy="1005840"/>
          </a:xfrm>
          <a:prstGeom prst="roundRect">
            <a:avLst>
              <a:gd name="adj" fmla="val 545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0" y="128016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aluno_lista.html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484632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e preenche só o bloco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 flipV="1">
            <a:off x="3749040" y="2880360"/>
            <a:ext cx="822960" cy="448056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>
            <a:off x="4663440" y="2377440"/>
            <a:ext cx="3712464" cy="1005840"/>
          </a:xfrm>
          <a:prstGeom prst="roundRect">
            <a:avLst>
              <a:gd name="adj" fmla="val 545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0" y="24688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aluno_form.html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846320" y="2834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e preenche só o bloco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749040" y="3328416"/>
            <a:ext cx="822960" cy="740664"/>
          </a:xfrm>
          <a:prstGeom prst="line">
            <a:avLst/>
          </a:prstGeom>
          <a:noFill/>
          <a:ln w="25400">
            <a:solidFill>
              <a:srgbClr val="1185AA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4663440" y="3566160"/>
            <a:ext cx="3712464" cy="1005840"/>
          </a:xfrm>
          <a:prstGeom prst="roundRect">
            <a:avLst>
              <a:gd name="adj" fmla="val 5455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846320" y="36576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inscricao_lista.html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846320" y="4023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extends "base.html" %}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e preenche só o bloco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Cada ação tem uma resposta na tela</a:t>
            </a:r>
            <a:endParaRPr lang="en-US" sz="3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834640"/>
                <a:gridCol w="248716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Ação do usuário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O que a tela mostra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Quem produz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Salvou com sucesso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faixa verde “Aluno cadastrado.”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messages.success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+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base.html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Errou um campo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erro embaixo do campo, form preenchido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ValidationError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 no form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Pediu para excluir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tela de confirmação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GET da view de exclusão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Abriu tela sem permissão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página 403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decorator na view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Usou um id que não existe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página 404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get_object_or_404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Não está logado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tela de login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@login_required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Admin: o protótipo de graça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502920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4206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academico/admin.py · TODO 13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66344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3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@admin.register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(Aluno)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AlunoAdmin(admin.ModelAdmin):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list_display = (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"matricula"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"ativo"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list_filter = (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"ativo"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search_fields = (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"matricula"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"nome"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"email"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3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@admin.register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(Inscricao)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InscricaoAdmin(admin.ModelAdmin):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list_display = (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"nota1"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"nota2"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list_filter = (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list_select_related = (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"aluno"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05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"disciplina"</a:t>
            </a:r>
            <a:pPr indent="0" marL="0">
              <a:buNone/>
            </a:pPr>
            <a:r>
              <a:rPr lang="en-US" sz="105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980176" y="1188720"/>
            <a:ext cx="239572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144768" y="126187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CRUD sem view nem template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6144768" y="1645920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Listagem, busca, filtro e formulários gerados a partir do modelo.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980176" y="2359152"/>
            <a:ext cx="239572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144768" y="24323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</a:rPr>
              <a:t>Só para a equipe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6144768" y="2816352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Serve para inspecionar dados. Não substitui as telas do trabalho.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980176" y="3529584"/>
            <a:ext cx="2395728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44768" y="36027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list_select_related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6144768" y="3986784"/>
            <a:ext cx="2103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O mesmo cuidado com o N+1, agora na listagem do admin.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Do SQLite ao PostgreSQL</a:t>
            </a:r>
            <a:endParaRPr lang="en-US" sz="3200" dirty="0"/>
          </a:p>
        </p:txBody>
      </p:sp>
      <p:sp>
        <p:nvSpPr>
          <p:cNvPr id="4" name="codigo fundo"/>
          <p:cNvSpPr/>
          <p:nvPr/>
        </p:nvSpPr>
        <p:spPr>
          <a:xfrm>
            <a:off x="768096" y="1188720"/>
            <a:ext cx="4480560" cy="3429000"/>
          </a:xfrm>
          <a:prstGeom prst="roundRect">
            <a:avLst>
              <a:gd name="adj" fmla="val 2133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3268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7899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2529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426464" y="12435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config/settings.py</a:t>
            </a:r>
            <a:endParaRPr lang="en-US" sz="900" dirty="0"/>
          </a:p>
        </p:txBody>
      </p:sp>
      <p:sp>
        <p:nvSpPr>
          <p:cNvPr id="9" name="codigo texto"/>
          <p:cNvSpPr txBox="1"/>
          <p:nvPr/>
        </p:nvSpPr>
        <p:spPr>
          <a:xfrm>
            <a:off x="987552" y="1572768"/>
            <a:ext cx="4114800" cy="2953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antes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 = {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"django.db.backends.sqlite3"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BASE_DIR /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"escola.sqlite3"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depois: pip install psycopg2-binary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DATABASES = {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"default"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"ENGINE"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"django.db.backends.postgresql"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"NAME"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"escola"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os.getenv(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"DB_USER"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"PASSWORD"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os.getenv(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"DB_PASSWORD"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"HOST"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"localhost"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"PORT"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200" dirty="0">
                <a:solidFill>
                  <a:srgbClr val="F0C67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"5432"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}}</a:t>
            </a:r>
            <a:endParaRPr lang="en-US" sz="1200" dirty="0"/>
          </a:p>
        </p:txBody>
      </p:sp>
      <p:sp>
        <p:nvSpPr>
          <p:cNvPr id="10" name="passo 1"/>
          <p:cNvSpPr/>
          <p:nvPr/>
        </p:nvSpPr>
        <p:spPr>
          <a:xfrm>
            <a:off x="5431536" y="1188720"/>
            <a:ext cx="2944368" cy="1051560"/>
          </a:xfrm>
          <a:prstGeom prst="roundRect">
            <a:avLst>
              <a:gd name="adj" fmla="val 521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614416" y="137160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61441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181344" y="135331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Instalar o driver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181344" y="173736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O mesmo </a:t>
            </a:r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psycopg2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da aula de Tkinter com PostgreSQL.</a:t>
            </a:r>
            <a:endParaRPr lang="en-US" sz="1200" dirty="0"/>
          </a:p>
        </p:txBody>
      </p:sp>
      <p:sp>
        <p:nvSpPr>
          <p:cNvPr id="15" name="passo 2"/>
          <p:cNvSpPr/>
          <p:nvPr/>
        </p:nvSpPr>
        <p:spPr>
          <a:xfrm>
            <a:off x="5431536" y="2377440"/>
            <a:ext cx="2944368" cy="1051560"/>
          </a:xfrm>
          <a:prstGeom prst="roundRect">
            <a:avLst>
              <a:gd name="adj" fmla="val 521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14416" y="256032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61441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81344" y="254203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Criar o banco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6181344" y="292608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escola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, no pgAdmin ou no </a:t>
            </a:r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psql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. Senha no </a:t>
            </a:r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.env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.</a:t>
            </a:r>
            <a:endParaRPr lang="en-US" sz="1200" dirty="0"/>
          </a:p>
        </p:txBody>
      </p:sp>
      <p:sp>
        <p:nvSpPr>
          <p:cNvPr id="20" name="passo 3"/>
          <p:cNvSpPr/>
          <p:nvPr/>
        </p:nvSpPr>
        <p:spPr>
          <a:xfrm>
            <a:off x="5431536" y="3566160"/>
            <a:ext cx="2944368" cy="1051560"/>
          </a:xfrm>
          <a:prstGeom prst="roundRect">
            <a:avLst>
              <a:gd name="adj" fmla="val 521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614416" y="374904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14416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6181344" y="3730752"/>
            <a:ext cx="2029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Migrar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6181344" y="4114800"/>
            <a:ext cx="2029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migrate</a:t>
            </a:r>
            <a:pPr indent="0" marL="0">
              <a:buNone/>
            </a:pPr>
            <a:r>
              <a:rPr lang="en-US" sz="1200" dirty="0">
                <a:solidFill>
                  <a:srgbClr val="3A3F44"/>
                </a:solidFill>
              </a:rPr>
              <a:t> cria as tabelas no banco novo.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Para levar desta aula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768096" y="123444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0976" y="1371600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976" y="1371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1234440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A nota mora em </a:t>
            </a:r>
            <a:pPr indent="0" marL="0">
              <a:buNone/>
            </a:pPr>
            <a:r>
              <a:rPr lang="en-US" sz="16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inscricao</a:t>
            </a:r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: é atributo do encontro entre aluno e disciplina.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8096" y="2039112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50976" y="2176272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50976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1554480" y="2039112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Listagem que mostra dados de outra tabela pede </a:t>
            </a:r>
            <a:pPr indent="0" marL="0">
              <a:buNone/>
            </a:pPr>
            <a:r>
              <a:rPr lang="en-US" sz="16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. Contem as consultas.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768096" y="2843784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980944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" y="29809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1554480" y="2843784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Interface boa previne o erro (filtrar o </a:t>
            </a:r>
            <a:pPr indent="0" marL="0">
              <a:buNone/>
            </a:pPr>
            <a:r>
              <a:rPr lang="en-US" sz="16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&lt;select&gt;</a:t>
            </a:r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) e responde a toda ação.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8096" y="3648456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85616"/>
            <a:ext cx="384048" cy="384048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856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54480" y="3648456"/>
            <a:ext cx="6675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3F44"/>
                </a:solidFill>
              </a:rPr>
              <a:t>O framework abstrai o banco: trocar de SGBD é configuração, não reescrita.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title" hasCustomPrompt="1"/>
          </p:nvPr>
        </p:nvSpPr>
        <p:spPr>
          <a:xfrm>
            <a:off x="996696" y="1737360"/>
            <a:ext cx="4434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dirty="0">
                <a:solidFill>
                  <a:schemeClr val="bg1"/>
                </a:solidFill>
              </a:rPr>
              <a:t>Prática: notas, admin e interface</a:t>
            </a:r>
            <a:endParaRPr lang="en-US" sz="4000" dirty="0"/>
          </a:p>
        </p:txBody>
      </p:sp>
      <p:sp>
        <p:nvSpPr>
          <p:cNvPr id="3" name="Text 4"/>
          <p:cNvSpPr/>
          <p:nvPr>
            <p:ph idx="105" type="body" hasCustomPrompt="1"/>
          </p:nvPr>
        </p:nvSpPr>
        <p:spPr>
          <a:xfrm>
            <a:off x="996696" y="3246120"/>
            <a:ext cx="4434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Medir o N+1 · TODOs 10 a 13 · percorrer as respostas da tela</a:t>
            </a:r>
            <a:endParaRPr lang="en-US" sz="1600" dirty="0"/>
          </a:p>
        </p:txBody>
      </p:sp>
      <p:sp>
        <p:nvSpPr>
          <p:cNvPr id="4" name="capa fundo"/>
          <p:cNvSpPr/>
          <p:nvPr/>
        </p:nvSpPr>
        <p:spPr>
          <a:xfrm>
            <a:off x="5669280" y="2009165"/>
            <a:ext cx="3246120" cy="1125169"/>
          </a:xfrm>
          <a:prstGeom prst="roundRect">
            <a:avLst>
              <a:gd name="adj" fmla="val 6501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33872" y="2128037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80176" y="2128037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26480" y="2128037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327648" y="2064029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9" name="capa texto"/>
          <p:cNvSpPr txBox="1"/>
          <p:nvPr/>
        </p:nvSpPr>
        <p:spPr>
          <a:xfrm>
            <a:off x="5888736" y="2393213"/>
            <a:ext cx="2880360" cy="6496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seed_demo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shell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1: meça o N+1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≈ 10 min</a:t>
            </a:r>
            <a:endParaRPr lang="en-US" sz="1100" dirty="0"/>
          </a:p>
        </p:txBody>
      </p:sp>
      <p:sp>
        <p:nvSpPr>
          <p:cNvPr id="6" name="passo 1"/>
          <p:cNvSpPr/>
          <p:nvPr/>
        </p:nvSpPr>
        <p:spPr>
          <a:xfrm>
            <a:off x="768096" y="118872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37160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Tenham dados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17904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manage.py seed_demo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carrega alunos, disciplinas e notas.</a:t>
            </a:r>
            <a:endParaRPr lang="en-US" sz="1300" dirty="0"/>
          </a:p>
        </p:txBody>
      </p:sp>
      <p:sp>
        <p:nvSpPr>
          <p:cNvPr id="11" name="passo 2"/>
          <p:cNvSpPr/>
          <p:nvPr/>
        </p:nvSpPr>
        <p:spPr>
          <a:xfrm>
            <a:off x="768096" y="237744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56032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17904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Contem as consultas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17904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Sem e com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select_related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usando o código do slide 8.</a:t>
            </a:r>
            <a:endParaRPr lang="en-US" sz="1300" dirty="0"/>
          </a:p>
        </p:txBody>
      </p:sp>
      <p:sp>
        <p:nvSpPr>
          <p:cNvPr id="16" name="passo 3"/>
          <p:cNvSpPr/>
          <p:nvPr/>
        </p:nvSpPr>
        <p:spPr>
          <a:xfrm>
            <a:off x="768096" y="356616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4904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Leiam o SQL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17904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print(qs.query)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 achem o JOIN que o Django gerou.</a:t>
            </a:r>
            <a:endParaRPr lang="en-US" sz="1300" dirty="0"/>
          </a:p>
        </p:txBody>
      </p:sp>
      <p:sp>
        <p:nvSpPr>
          <p:cNvPr id="21" name="anotem"/>
          <p:cNvSpPr/>
          <p:nvPr/>
        </p:nvSpPr>
        <p:spPr>
          <a:xfrm>
            <a:off x="5431536" y="1188720"/>
            <a:ext cx="2944368" cy="3401568"/>
          </a:xfrm>
          <a:prstGeom prst="roundRect">
            <a:avLst>
              <a:gd name="adj" fmla="val 186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614416" y="129844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Anotem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14416" y="1783080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Inscrições no banco (N)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614416" y="2441448"/>
            <a:ext cx="2560320" cy="0"/>
          </a:xfrm>
          <a:prstGeom prst="line">
            <a:avLst/>
          </a:prstGeom>
          <a:noFill/>
          <a:ln w="19050">
            <a:solidFill>
              <a:srgbClr val="1185A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614416" y="2624328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Consultas sem select_related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5614416" y="3282696"/>
            <a:ext cx="2560320" cy="0"/>
          </a:xfrm>
          <a:prstGeom prst="line">
            <a:avLst/>
          </a:prstGeom>
          <a:noFill/>
          <a:ln w="19050">
            <a:solidFill>
              <a:srgbClr val="1185A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14416" y="3465576"/>
            <a:ext cx="2606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Consultas com select_related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5614416" y="4123944"/>
            <a:ext cx="2560320" cy="0"/>
          </a:xfrm>
          <a:prstGeom prst="line">
            <a:avLst/>
          </a:prstGeom>
          <a:noFill/>
          <a:ln w="19050">
            <a:solidFill>
              <a:srgbClr val="1185AA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2: disciplinas e notas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≈ 35 min</a:t>
            </a:r>
            <a:endParaRPr lang="en-US" sz="11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8096" y="1188720"/>
          <a:ext cx="7607808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3291840"/>
                <a:gridCol w="353872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TODO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View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Atenção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397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disciplina_lista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espelha o 7; busca por código ou nome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disciplina_nova/editar/excluir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espelha o 8 e o 9; com inscrição,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ProtectedError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12a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inscricao_lista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select_related("aluno", "disciplina")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12b-d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0397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inscricao_nova/editar/excluir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3A3F44"/>
                          </a:solidFill>
                        </a:rPr>
                        <a:t>duplicidade vira mensagem; editar é lançar nota</a:t>
                      </a:r>
                      <a:endParaRPr lang="en-US" sz="1300" dirty="0"/>
                    </a:p>
                  </a:txBody>
                  <a:tcPr marL="109728" marR="109728" marT="36576" marB="36576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3EFF1"/>
                    </a:solidFill>
                  </a:tcPr>
                </a:tc>
              </a:tr>
            </a:tbl>
          </a:graphicData>
        </a:graphic>
      </p:graphicFrame>
      <p:sp>
        <p:nvSpPr>
          <p:cNvPr id="7" name="destaque"/>
          <p:cNvSpPr/>
          <p:nvPr/>
        </p:nvSpPr>
        <p:spPr>
          <a:xfrm>
            <a:off x="768096" y="3730752"/>
            <a:ext cx="7607808" cy="786384"/>
          </a:xfrm>
          <a:prstGeom prst="roundRect">
            <a:avLst>
              <a:gd name="adj" fmla="val 697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950976" y="389534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4005072"/>
            <a:ext cx="237744" cy="237744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1572768" y="3730752"/>
            <a:ext cx="6647688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397B"/>
                </a:solidFill>
              </a:rPr>
              <a:t>Dividam: </a:t>
            </a:r>
            <a:pPr indent="0" marL="0">
              <a:buNone/>
            </a:pPr>
            <a:r>
              <a:rPr lang="en-US" sz="1400" dirty="0">
                <a:solidFill>
                  <a:srgbClr val="3A3F44"/>
                </a:solidFill>
              </a:rPr>
              <a:t>uma pessoa em disciplinas, outra em inscrições. No fim, cada uma explica o código da outra.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Prática 3: admin e revisão da tela</a:t>
            </a:r>
            <a:endParaRPr lang="en-US" sz="3200" dirty="0"/>
          </a:p>
        </p:txBody>
      </p:sp>
      <p:sp>
        <p:nvSpPr>
          <p:cNvPr id="4" name="Shape 1"/>
          <p:cNvSpPr/>
          <p:nvPr/>
        </p:nvSpPr>
        <p:spPr>
          <a:xfrm>
            <a:off x="6784848" y="512064"/>
            <a:ext cx="1591056" cy="274320"/>
          </a:xfrm>
          <a:prstGeom prst="roundRect">
            <a:avLst>
              <a:gd name="adj" fmla="val 50000"/>
            </a:avLst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784848" y="51206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até o fim da aula</a:t>
            </a:r>
            <a:endParaRPr lang="en-US" sz="1100" dirty="0"/>
          </a:p>
        </p:txBody>
      </p:sp>
      <p:sp>
        <p:nvSpPr>
          <p:cNvPr id="6" name="passo 1"/>
          <p:cNvSpPr/>
          <p:nvPr/>
        </p:nvSpPr>
        <p:spPr>
          <a:xfrm>
            <a:off x="768096" y="118872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50976" y="137160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50976" y="13716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517904" y="135331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TODO 13: o admin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517904" y="17373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list_display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,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search_fields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e </a:t>
            </a:r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list_select_related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nos três modelos.</a:t>
            </a:r>
            <a:endParaRPr lang="en-US" sz="1300" dirty="0"/>
          </a:p>
        </p:txBody>
      </p:sp>
      <p:sp>
        <p:nvSpPr>
          <p:cNvPr id="11" name="passo 2"/>
          <p:cNvSpPr/>
          <p:nvPr/>
        </p:nvSpPr>
        <p:spPr>
          <a:xfrm>
            <a:off x="768096" y="237744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50976" y="256032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50976" y="2560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1517904" y="254203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Percorram a tabela do slide 13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517904" y="29260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Provoquem cada ação no sistema de vocês e confiram a resposta.</a:t>
            </a:r>
            <a:endParaRPr lang="en-US" sz="1300" dirty="0"/>
          </a:p>
        </p:txBody>
      </p:sp>
      <p:sp>
        <p:nvSpPr>
          <p:cNvPr id="16" name="passo 3"/>
          <p:cNvSpPr/>
          <p:nvPr/>
        </p:nvSpPr>
        <p:spPr>
          <a:xfrm>
            <a:off x="768096" y="3566160"/>
            <a:ext cx="4480560" cy="1024128"/>
          </a:xfrm>
          <a:prstGeom prst="roundRect">
            <a:avLst>
              <a:gd name="adj" fmla="val 5357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50976" y="3749040"/>
            <a:ext cx="402336" cy="402336"/>
          </a:xfrm>
          <a:prstGeom prst="ellipse">
            <a:avLst/>
          </a:prstGeom>
          <a:solidFill>
            <a:srgbClr val="1185AA"/>
          </a:solidFill>
          <a:ln w="12700">
            <a:solidFill>
              <a:srgbClr val="1185A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950976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517904" y="3730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Rodem o verificador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1517904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verificar.py</a:t>
            </a:r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 até dar 0 FALHA.</a:t>
            </a:r>
            <a:endParaRPr lang="en-US" sz="1300" dirty="0"/>
          </a:p>
        </p:txBody>
      </p:sp>
      <p:sp>
        <p:nvSpPr>
          <p:cNvPr id="21" name="codigo fundo"/>
          <p:cNvSpPr/>
          <p:nvPr/>
        </p:nvSpPr>
        <p:spPr>
          <a:xfrm>
            <a:off x="5431536" y="1188720"/>
            <a:ext cx="2944368" cy="1463040"/>
          </a:xfrm>
          <a:prstGeom prst="roundRect">
            <a:avLst>
              <a:gd name="adj" fmla="val 5000"/>
            </a:avLst>
          </a:prstGeom>
          <a:solidFill>
            <a:srgbClr val="1E2433"/>
          </a:solidFill>
          <a:ln w="12700">
            <a:solidFill>
              <a:srgbClr val="1E24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96128" y="130759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130759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88736" y="130759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089904" y="1243584"/>
            <a:ext cx="2121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terminal</a:t>
            </a:r>
            <a:endParaRPr lang="en-US" sz="900" dirty="0"/>
          </a:p>
        </p:txBody>
      </p:sp>
      <p:sp>
        <p:nvSpPr>
          <p:cNvPr id="26" name="codigo texto"/>
          <p:cNvSpPr txBox="1"/>
          <p:nvPr/>
        </p:nvSpPr>
        <p:spPr>
          <a:xfrm>
            <a:off x="5650992" y="1572768"/>
            <a:ext cx="25786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7DC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</a:t>
            </a:r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verificar.py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meta: 0 FALHA</a:t>
            </a:r>
            <a:endParaRPr lang="en-US" sz="1100" dirty="0"/>
          </a:p>
        </p:txBody>
      </p:sp>
      <p:sp>
        <p:nvSpPr>
          <p:cNvPr id="27" name="pronto quando"/>
          <p:cNvSpPr/>
          <p:nvPr/>
        </p:nvSpPr>
        <p:spPr>
          <a:xfrm>
            <a:off x="5431536" y="2816352"/>
            <a:ext cx="2944368" cy="1773936"/>
          </a:xfrm>
          <a:prstGeom prst="roundRect">
            <a:avLst>
              <a:gd name="adj" fmla="val 309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14416" y="2962656"/>
            <a:ext cx="512064" cy="5120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311" y="3085551"/>
            <a:ext cx="266273" cy="266273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6272784" y="2962656"/>
            <a:ext cx="2011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Pronto quando</a:t>
            </a:r>
            <a:endParaRPr lang="en-US" sz="1500" dirty="0"/>
          </a:p>
        </p:txBody>
      </p:sp>
      <p:sp>
        <p:nvSpPr>
          <p:cNvPr id="31" name="Text 27"/>
          <p:cNvSpPr txBox="1"/>
          <p:nvPr/>
        </p:nvSpPr>
        <p:spPr>
          <a:xfrm>
            <a:off x="5614416" y="3584448"/>
            <a:ext cx="26151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A3F44"/>
                </a:solidFill>
              </a:rPr>
              <a:t>o verificador passa e cada linha da tabela foi testada na tela.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786384" y="329184"/>
            <a:ext cx="75895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2"/>
                </a:solidFill>
              </a:rPr>
              <a:t>Para o próximo encontro</a:t>
            </a:r>
            <a:endParaRPr lang="en-US" sz="3200" dirty="0"/>
          </a:p>
        </p:txBody>
      </p:sp>
      <p:sp>
        <p:nvSpPr>
          <p:cNvPr id="4" name="card Leitura"/>
          <p:cNvSpPr/>
          <p:nvPr/>
        </p:nvSpPr>
        <p:spPr>
          <a:xfrm>
            <a:off x="768096" y="118872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96696" y="14173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5926" y="1566550"/>
            <a:ext cx="323332" cy="32333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96696" y="217627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Leitura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996696" y="276148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Texto 07, com as dez perguntas do fim, e o texto 08, seção “Antes de entregar”.</a:t>
            </a:r>
            <a:endParaRPr lang="en-US" sz="1400" dirty="0"/>
          </a:p>
        </p:txBody>
      </p:sp>
      <p:sp>
        <p:nvSpPr>
          <p:cNvPr id="9" name="card Código"/>
          <p:cNvSpPr/>
          <p:nvPr/>
        </p:nvSpPr>
        <p:spPr>
          <a:xfrm>
            <a:off x="3364992" y="118872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593592" y="14173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2822" y="1566550"/>
            <a:ext cx="323332" cy="323332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3593592" y="217627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Código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3593592" y="276148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0 FALHA no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verificar.py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, README preenchido e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00397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modelo_dados.png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.</a:t>
            </a:r>
            <a:endParaRPr lang="en-US" sz="1400" dirty="0"/>
          </a:p>
        </p:txBody>
      </p:sp>
      <p:sp>
        <p:nvSpPr>
          <p:cNvPr id="14" name="card Grupo"/>
          <p:cNvSpPr/>
          <p:nvPr/>
        </p:nvSpPr>
        <p:spPr>
          <a:xfrm>
            <a:off x="5961888" y="1188720"/>
            <a:ext cx="2414016" cy="2514600"/>
          </a:xfrm>
          <a:prstGeom prst="roundRect">
            <a:avLst>
              <a:gd name="adj" fmla="val 227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0488" y="1417320"/>
            <a:ext cx="621792" cy="6217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9718" y="1566550"/>
            <a:ext cx="323332" cy="32333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190488" y="2176272"/>
            <a:ext cx="20025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397B"/>
                </a:solidFill>
              </a:rPr>
              <a:t>Grupo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6190488" y="2761488"/>
            <a:ext cx="20025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3A3F44"/>
                </a:solidFill>
              </a:rPr>
              <a:t>Cada integrante responde às dez perguntas do texto 07 em voz alta.</a:t>
            </a:r>
            <a:endParaRPr lang="en-US" sz="1400" dirty="0"/>
          </a:p>
        </p:txBody>
      </p:sp>
      <p:sp>
        <p:nvSpPr>
          <p:cNvPr id="19" name="destaque"/>
          <p:cNvSpPr/>
          <p:nvPr/>
        </p:nvSpPr>
        <p:spPr>
          <a:xfrm>
            <a:off x="768096" y="3931920"/>
            <a:ext cx="7607808" cy="658368"/>
          </a:xfrm>
          <a:prstGeom prst="roundRect">
            <a:avLst>
              <a:gd name="adj" fmla="val 8333"/>
            </a:avLst>
          </a:prstGeom>
          <a:solidFill>
            <a:srgbClr val="E3EFF1"/>
          </a:solidFill>
          <a:ln w="12700">
            <a:solidFill>
              <a:srgbClr val="E3EFF1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950976" y="4032504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4142232"/>
            <a:ext cx="237744" cy="23774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572768" y="3931920"/>
            <a:ext cx="6647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397B"/>
                </a:solidFill>
              </a:rPr>
              <a:t>Próxima aula: </a:t>
            </a:r>
            <a:pPr indent="0" marL="0">
              <a:buNone/>
            </a:pPr>
            <a:r>
              <a:rPr lang="en-US" sz="1500" dirty="0">
                <a:solidFill>
                  <a:srgbClr val="3A3F44"/>
                </a:solidFill>
              </a:rPr>
              <a:t>arguição simulada. Tragam o projeto rodando no notebook do grupo.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A0095 RAD">
  <a:themeElements>
    <a:clrScheme name="ARA0095 RAD">
      <a:dk1>
        <a:srgbClr val="3A3F44"/>
      </a:dk1>
      <a:lt1>
        <a:srgbClr val="FFFFFF"/>
      </a:lt1>
      <a:dk2>
        <a:srgbClr val="00397B"/>
      </a:dk2>
      <a:lt2>
        <a:srgbClr val="E3EFF1"/>
      </a:lt2>
      <a:accent1>
        <a:srgbClr val="1185AA"/>
      </a:accent1>
      <a:accent2>
        <a:srgbClr val="D06110"/>
      </a:accent2>
      <a:accent3>
        <a:srgbClr val="54C8E1"/>
      </a:accent3>
      <a:accent4>
        <a:srgbClr val="892900"/>
      </a:accent4>
      <a:accent5>
        <a:srgbClr val="9FE8ED"/>
      </a:accent5>
      <a:accent6>
        <a:srgbClr val="FCBCA1"/>
      </a:accent6>
      <a:hlink>
        <a:srgbClr val="1185AA"/>
      </a:hlink>
      <a:folHlink>
        <a:srgbClr val="892900"/>
      </a:folHlink>
    </a:clrScheme>
    <a:fontScheme name="ARA0095 RA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Inscrições, notas e a interface</dc:title>
  <dc:subject>PptxGenJS Presentation</dc:subject>
  <dc:creator>ARA0095</dc:creator>
  <cp:lastModifiedBy>ARA0095</cp:lastModifiedBy>
  <cp:revision>1</cp:revision>
  <dcterms:created xsi:type="dcterms:W3CDTF">2026-10-23T01:43:18Z</dcterms:created>
  <dcterms:modified xsi:type="dcterms:W3CDTF">2026-10-23T01:43:18Z</dcterms:modified>
</cp:coreProperties>
</file>