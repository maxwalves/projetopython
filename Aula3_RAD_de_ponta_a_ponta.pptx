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9" r:id="rId30"/>
    <p:sldId id="280" r:id="rId31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224db3e6-2181-5331-2791-5a0c575bfe1e}">
          <p14:sldIdLst>
            <p14:sldId id="256"/>
            <p14:sldId id="257"/>
            <p14:sldId id="258"/>
            <p14:sldId id="259"/>
          </p14:sldIdLst>
        </p14:section>
        <p14:section name="Exposição" id="{aa0d205c-3847-d42a-bef7-ac837eb1a1a7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ática" id="{2498598d-72d5-3bb3-a695-9861795a6ce0}">
          <p14:sldIdLst>
            <p14:sldId id="275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  <Relationship Id="rId30" Type="http://schemas.openxmlformats.org/officeDocument/2006/relationships/slide" Target="slides/slide24.xml"/>
  <Relationship Id="rId31" Type="http://schemas.openxmlformats.org/officeDocument/2006/relationships/slide" Target="slides/slide25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Última aula da sequência. Primeira metade: amarrar o semestre nas etapas do RAD (Tema 5.1 e 5.4), escolhas de ferramenta, testes e transição. Segunda metade: arguição simulada e auditoria da entrega. Os grupos devem estar com o projeto rodando.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6 min. Dê 3 minutos para os grupos preencherem as quatro semanas no caderno. Não corrija ainda: a resposta comentada está no slide 13, depois de passarmos pelas fases do RAD. O que se espera: algo funcionando e mostrado ao usuário já na semana 1, e não tudo na semana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minutos de exposição, depois arguição simulada e auditoria da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5 min. Tema 5.1. Retome as quatro fases da primeira aula do semestre e peça para a turma dizer o que fizemos em cada uma antes de mostrar. O ponto: no RAD, Design do Usuário e Construção se repetem em ciclos curtos; não é cascata.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5 min. A outra abordagem vista na primeira aula. Cada etapa deixou um artefato concreto no projeto. Peça para os grupos abrirem os arquivos enquanto você percorre a tabela: é um bom ensaio para a arguição.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 min. A mesma operação (inserir um aluno) nas três fases do semestre. O CRUD não mudou; mudou quem garante a integridade e quanto código cada um escreve. No arquivo, nada impede matrícula repetida; no sqlite3, o UNIQUE impede, mas o SQL e o commit são seus; no ORM, o framework escreve o SQL e o banco continua garantindo.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 min. Tema 5.4 (RAD em Python). Não existe ferramenta melhor em absoluto: existe a que cabe no contexto. Pergunte à turma: para a escola com secretaria, coordenação e professores, qual escolher? Web, porque é compartilhado, multiusuário e atualizado num lugar só. Exemplo de onde Tkinter vence: ferramenta local de um laboratório, sem rede, operando um equipamento.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 min. Retoma a discussão da segunda aula do semestre (o Kahoot de cenários). Aplique ao nosso projeto: requisitos que mudam, módulos independentes (alunos, disciplinas, notas), framework que gera o trabalho mecânico e usuário por perto. Por isso o RAD coube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 min. Iterar rápido sem testes é quebrar rápido. O verificar.py dos grupos é exatamente isto: roda academico/tests/test_entrega.py, com quase mil linhas de testes do mesmo tipo do exemplo. Mostre o teste rodando com python manage.py test academico. Este teste cobre o bug da média com nota zero visto na primeira aula da sequência.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 min. Mostre `python manage.py check --deploy`: ele lista o que falta para produção. O settings.py do projeto já lê SECRET_KEY, DEBUG e ALLOWED_HOSTS do .env, e o DEBUG só liga com o texto 'true': é o desenho certo. runserver é servidor de desenvolvimento; em produção usa-se gunicorn (Linux) ou waitress (Windows), normalmente atrás de um proxy como o nginx.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 min. Demonstração opcional, se houver uma conta preparada antes da aula (por exemplo, no PythonAnywhere, que tem plano gratuito para estudantes). Não é exigido na entrega. O objetivo é mostrar que a transição é uma sequência de passos conhecidos, não mágica.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 min. Agora compare com o que os grupos escreveram na abertura. O critério: toda semana termina com algo rodando e mostrado ao usuário. O admin na semana 1 é o protótipo de graça da aula passada.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 min. Deixe as regras explícitas para diminuir a ansiedade: qualquer integrante, qualquer trecho, e uma alteração pequena ao vivo. O enunciado (seção 9) diz que código que o grupo não sabe explicar vale zero, independentemente de funcionar, e pede que o README registre o que foi feito com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 min. Leia as perguntas sem responder; elas são o material da Prática 1. As respostas estão nas duas aulas anteriores e no material (texto 07 tem mais dez, sobre o app contas). Sugestão: sorteie uma e peça para alguém responder agora, como aquecimento.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 min. Exemplos do porte da alteração ao vivo. A coluna da direita é a resposta: o que importa é o grupo saber em que arquivo mexer e lembrar da migration quando o modelo muda.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 min. Resumo das seções 7 e 8 do enunciado. Os descontos de arquivo pegam muitos grupos: o banco é gerado pelo migrate, então não vai no zip; as migrations são código, então vão.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 min. É o que o professor vai fazer na correção. Peça para cada grupo executar isto numa pasta nova, a partir do próprio zip, de preferência no notebook de outro integrante. Os comandos são para Windows (PowerShell); no Linux e no macOS, a ativação é source .venv/bin/activate.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 min. Fechamento da sequência.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Início da prática. Forme os pares de grupos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min. Forme pares de grupos. O grupo A argui o B por 12 minutos e depois os papéis se invertem. Circule pelos pares ouvindo as respostas. Atividade verificadora: cada grupo entrega a ficha do arguidor com as perguntas que travaram; essas perguntas viram a lista de estudo do grupo para a arguição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Até o fim da aula. O critério de saída é o teste do zero do slide 20 passando numa pasta limpa, com 0 FALHA. Quem terminar revisa o README de outro grupo.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Reforce o prazo e a forma de envio da Entrega 2 combinados com 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" name="Shape 1"/>
          <p:cNvSpPr/>
          <p:nvPr/>
        </p:nvSpPr>
        <p:spPr>
          <a:xfrm>
            <a:off x="219456" y="676656"/>
            <a:ext cx="384048" cy="0"/>
          </a:xfrm>
          <a:prstGeom prst="line">
            <a:avLst/>
          </a:prstGeom>
          <a:noFill/>
          <a:ln w="38100">
            <a:solidFill>
              <a:schemeClr val="tx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01184"/>
            <a:ext cx="7498080" cy="242316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0" y="4901184"/>
            <a:ext cx="1581912" cy="2423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9079992" y="4901184"/>
            <a:ext cx="64008" cy="242316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" cy="51435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" y="0"/>
            <a:ext cx="5349240" cy="51435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6117336" y="0"/>
            <a:ext cx="3026664" cy="51435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Text 3"/>
          <p:cNvSpPr/>
          <p:nvPr/>
        </p:nvSpPr>
        <p:spPr>
          <a:xfrm>
            <a:off x="996696" y="502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ARA0095 · Desenvolvimento Rápido de Aplicações em Python</a:t>
            </a:r>
            <a:endParaRPr lang="en-US" sz="1200" dirty="0"/>
          </a:p>
        </p:txBody>
      </p:sp>
      <p:sp>
        <p:nvSpPr>
          <p:cNvPr id="6" name="Text 4"/>
          <p:cNvSpPr/>
          <p:nvPr>
            <p:ph idx="104" type="title" hasCustomPrompt="1"/>
          </p:nvPr>
        </p:nvSpPr>
        <p:spPr>
          <a:xfrm>
            <a:off x="996696" y="1325880"/>
            <a:ext cx="443484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7" name="Text 4"/>
          <p:cNvSpPr/>
          <p:nvPr>
            <p:ph idx="105" type="body" hasCustomPrompt="1"/>
          </p:nvPr>
        </p:nvSpPr>
        <p:spPr>
          <a:xfrm>
            <a:off x="996696" y="3200400"/>
            <a:ext cx="4434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" cy="51435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" y="0"/>
            <a:ext cx="5349240" cy="51435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6117336" y="0"/>
            <a:ext cx="3026664" cy="51435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Text 3"/>
          <p:cNvSpPr/>
          <p:nvPr/>
        </p:nvSpPr>
        <p:spPr>
          <a:xfrm>
            <a:off x="996696" y="502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ARA0095 · Desenvolvimento Rápido de Aplicações em Python</a:t>
            </a:r>
            <a:endParaRPr lang="en-US" sz="1200" dirty="0"/>
          </a:p>
        </p:txBody>
      </p:sp>
      <p:sp>
        <p:nvSpPr>
          <p:cNvPr id="6" name="Text 4"/>
          <p:cNvSpPr/>
          <p:nvPr>
            <p:ph idx="104" type="title" hasCustomPrompt="1"/>
          </p:nvPr>
        </p:nvSpPr>
        <p:spPr>
          <a:xfrm>
            <a:off x="996696" y="1737360"/>
            <a:ext cx="4434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7" name="Text 4"/>
          <p:cNvSpPr/>
          <p:nvPr>
            <p:ph idx="105" type="body" hasCustomPrompt="1"/>
          </p:nvPr>
        </p:nvSpPr>
        <p:spPr>
          <a:xfrm>
            <a:off x="996696" y="3246120"/>
            <a:ext cx="4434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996696" y="1325880"/>
            <a:ext cx="4434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RAD de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ponta a ponta</a:t>
            </a:r>
            <a:endParaRPr lang="en-US" sz="4000" dirty="0"/>
          </a:p>
        </p:txBody>
      </p:sp>
      <p:sp>
        <p:nvSpPr>
          <p:cNvPr id="3" name="Text 4"/>
          <p:cNvSpPr/>
          <p:nvPr>
            <p:ph idx="105" type="body" hasCustomPrompt="1"/>
          </p:nvPr>
        </p:nvSpPr>
        <p:spPr>
          <a:xfrm>
            <a:off x="996696" y="320040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Aula 3 de 3 · Tema 5, Aplicando RAD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Etapas do RAD, RAD em Python e a transição</a:t>
            </a:r>
            <a:endParaRPr lang="en-US" sz="1600" dirty="0"/>
          </a:p>
        </p:txBody>
      </p:sp>
      <p:sp>
        <p:nvSpPr>
          <p:cNvPr id="4" name="capa fundo"/>
          <p:cNvSpPr/>
          <p:nvPr/>
        </p:nvSpPr>
        <p:spPr>
          <a:xfrm>
            <a:off x="5669280" y="2009165"/>
            <a:ext cx="3246120" cy="1125169"/>
          </a:xfrm>
          <a:prstGeom prst="roundRect">
            <a:avLst>
              <a:gd name="adj" fmla="val 6501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33872" y="2128037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80176" y="2128037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0" y="2128037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27648" y="2064029"/>
            <a:ext cx="24231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terminal</a:t>
            </a:r>
            <a:endParaRPr lang="en-US" sz="900" dirty="0"/>
          </a:p>
        </p:txBody>
      </p:sp>
      <p:sp>
        <p:nvSpPr>
          <p:cNvPr id="9" name="capa texto"/>
          <p:cNvSpPr txBox="1"/>
          <p:nvPr/>
        </p:nvSpPr>
        <p:spPr>
          <a:xfrm>
            <a:off x="5888736" y="2393213"/>
            <a:ext cx="2880360" cy="6496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python manage.py test academico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python manage.py check --deploy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python verificar.py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Situação-problema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768096" y="1051560"/>
            <a:ext cx="7607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3F44"/>
                </a:solidFill>
              </a:rPr>
              <a:t>Uma escola pede o sistema de notas para daqui a </a:t>
            </a:r>
            <a:pPr indent="0" marL="0">
              <a:buNone/>
            </a:pPr>
            <a:r>
              <a:rPr lang="en-US" sz="1600" b="1" dirty="0">
                <a:solidFill>
                  <a:srgbClr val="3A3F44"/>
                </a:solidFill>
              </a:rPr>
              <a:t>quatro semanas</a:t>
            </a:r>
            <a:pPr indent="0" marL="0">
              <a:buNone/>
            </a:pPr>
            <a:r>
              <a:rPr lang="en-US" sz="1600" dirty="0">
                <a:solidFill>
                  <a:srgbClr val="3A3F44"/>
                </a:solidFill>
              </a:rPr>
              <a:t>. Vocês têm as ferramentas do semestre inteiro. O que entregariam ao fim de cada semana?</a:t>
            </a:r>
            <a:endParaRPr lang="en-US" sz="1600" dirty="0"/>
          </a:p>
        </p:txBody>
      </p:sp>
      <p:sp>
        <p:nvSpPr>
          <p:cNvPr id="5" name="semana 1"/>
          <p:cNvSpPr/>
          <p:nvPr/>
        </p:nvSpPr>
        <p:spPr>
          <a:xfrm>
            <a:off x="768096" y="1920240"/>
            <a:ext cx="1801368" cy="2148840"/>
          </a:xfrm>
          <a:prstGeom prst="roundRect">
            <a:avLst>
              <a:gd name="adj" fmla="val 3046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8096" y="2029968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Semana 1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1316736" y="2606040"/>
            <a:ext cx="704088" cy="7040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5717" y="2775021"/>
            <a:ext cx="366126" cy="36612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8096" y="3520440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entrega: ______</a:t>
            </a:r>
            <a:endParaRPr lang="en-US" sz="1300" dirty="0"/>
          </a:p>
        </p:txBody>
      </p:sp>
      <p:sp>
        <p:nvSpPr>
          <p:cNvPr id="10" name="semana 2"/>
          <p:cNvSpPr/>
          <p:nvPr/>
        </p:nvSpPr>
        <p:spPr>
          <a:xfrm>
            <a:off x="2715768" y="1920240"/>
            <a:ext cx="1801368" cy="2148840"/>
          </a:xfrm>
          <a:prstGeom prst="roundRect">
            <a:avLst>
              <a:gd name="adj" fmla="val 3046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715768" y="2029968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Semana 2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3264408" y="2606040"/>
            <a:ext cx="704088" cy="7040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3389" y="2775021"/>
            <a:ext cx="366126" cy="36612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715768" y="3520440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entrega: ______</a:t>
            </a:r>
            <a:endParaRPr lang="en-US" sz="1300" dirty="0"/>
          </a:p>
        </p:txBody>
      </p:sp>
      <p:sp>
        <p:nvSpPr>
          <p:cNvPr id="15" name="semana 3"/>
          <p:cNvSpPr/>
          <p:nvPr/>
        </p:nvSpPr>
        <p:spPr>
          <a:xfrm>
            <a:off x="4663440" y="1920240"/>
            <a:ext cx="1801368" cy="2148840"/>
          </a:xfrm>
          <a:prstGeom prst="roundRect">
            <a:avLst>
              <a:gd name="adj" fmla="val 3046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663440" y="2029968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Semana 3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5212080" y="2606040"/>
            <a:ext cx="704088" cy="7040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061" y="2775021"/>
            <a:ext cx="366126" cy="36612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663440" y="3520440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entrega: ______</a:t>
            </a:r>
            <a:endParaRPr lang="en-US" sz="1300" dirty="0"/>
          </a:p>
        </p:txBody>
      </p:sp>
      <p:sp>
        <p:nvSpPr>
          <p:cNvPr id="20" name="semana 4"/>
          <p:cNvSpPr/>
          <p:nvPr/>
        </p:nvSpPr>
        <p:spPr>
          <a:xfrm>
            <a:off x="6611112" y="1920240"/>
            <a:ext cx="1801368" cy="2148840"/>
          </a:xfrm>
          <a:prstGeom prst="roundRect">
            <a:avLst>
              <a:gd name="adj" fmla="val 3046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611112" y="2029968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Semana 4</a:t>
            </a:r>
            <a:endParaRPr lang="en-US" sz="1600" dirty="0"/>
          </a:p>
        </p:txBody>
      </p:sp>
      <p:sp>
        <p:nvSpPr>
          <p:cNvPr id="22" name="Shape 16"/>
          <p:cNvSpPr/>
          <p:nvPr/>
        </p:nvSpPr>
        <p:spPr>
          <a:xfrm>
            <a:off x="7159752" y="2606040"/>
            <a:ext cx="704088" cy="7040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8733" y="2775021"/>
            <a:ext cx="366126" cy="36612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611112" y="3520440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entrega: ______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768096" y="4343400"/>
            <a:ext cx="7607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185AA"/>
                </a:solidFill>
              </a:rPr>
              <a:t>Se a resposta é “tudo na semana 4”, não é RAD.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Objetivos da aula</a:t>
            </a:r>
            <a:endParaRPr lang="en-US" sz="3200" dirty="0"/>
          </a:p>
        </p:txBody>
      </p:sp>
      <p:sp>
        <p:nvSpPr>
          <p:cNvPr id="4" name="card Esquematizar o RAD de ponta a ponta"/>
          <p:cNvSpPr/>
          <p:nvPr/>
        </p:nvSpPr>
        <p:spPr>
          <a:xfrm>
            <a:off x="768096" y="1371600"/>
            <a:ext cx="2414016" cy="2926080"/>
          </a:xfrm>
          <a:prstGeom prst="roundRect">
            <a:avLst>
              <a:gd name="adj" fmla="val 227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96696" y="1600200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926" y="1749430"/>
            <a:ext cx="323332" cy="3233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96696" y="2359152"/>
            <a:ext cx="2002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Esquematizar o RAD de ponta a ponta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996696" y="2944368"/>
            <a:ext cx="20025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F44"/>
                </a:solidFill>
              </a:rPr>
              <a:t>Ligar as fases de James Martin e de James Kerr ao que construímos no semestre.</a:t>
            </a:r>
            <a:endParaRPr lang="en-US" sz="1400" dirty="0"/>
          </a:p>
        </p:txBody>
      </p:sp>
      <p:sp>
        <p:nvSpPr>
          <p:cNvPr id="9" name="card Escolher a ferramenta pelo contexto"/>
          <p:cNvSpPr/>
          <p:nvPr/>
        </p:nvSpPr>
        <p:spPr>
          <a:xfrm>
            <a:off x="3364992" y="1371600"/>
            <a:ext cx="2414016" cy="2926080"/>
          </a:xfrm>
          <a:prstGeom prst="roundRect">
            <a:avLst>
              <a:gd name="adj" fmla="val 227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593592" y="1600200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2822" y="1749430"/>
            <a:ext cx="323332" cy="3233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593592" y="2359152"/>
            <a:ext cx="2002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Escolher a ferramenta pelo contexto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3593592" y="2944368"/>
            <a:ext cx="20025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F44"/>
                </a:solidFill>
              </a:rPr>
              <a:t>Arquivo, SQLite ou PostgreSQL? Tkinter ou Django? Decidir com critério.</a:t>
            </a:r>
            <a:endParaRPr lang="en-US" sz="1400" dirty="0"/>
          </a:p>
        </p:txBody>
      </p:sp>
      <p:sp>
        <p:nvSpPr>
          <p:cNvPr id="14" name="card Preparar a transição"/>
          <p:cNvSpPr/>
          <p:nvPr/>
        </p:nvSpPr>
        <p:spPr>
          <a:xfrm>
            <a:off x="5961888" y="1371600"/>
            <a:ext cx="2414016" cy="2926080"/>
          </a:xfrm>
          <a:prstGeom prst="roundRect">
            <a:avLst>
              <a:gd name="adj" fmla="val 227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190488" y="1600200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718" y="1749430"/>
            <a:ext cx="323332" cy="32333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190488" y="2359152"/>
            <a:ext cx="2002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Preparar a transição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6190488" y="2944368"/>
            <a:ext cx="20025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F44"/>
                </a:solidFill>
              </a:rPr>
              <a:t>Testes, deploy e a entrega: o sistema sai do laboratório e muda de mãos.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Roteiro da aula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960120" y="1700784"/>
            <a:ext cx="7150608" cy="0"/>
          </a:xfrm>
          <a:prstGeom prst="line">
            <a:avLst/>
          </a:prstGeom>
          <a:noFill/>
          <a:ln w="25400">
            <a:solidFill>
              <a:srgbClr val="C9D6D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68096" y="1508760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809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68096" y="2011680"/>
            <a:ext cx="13844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AA"/>
                </a:solidFill>
              </a:rPr>
              <a:t>0 a 8 min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276856"/>
            <a:ext cx="1384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Abertura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807208"/>
            <a:ext cx="13386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Quatro semanas, um sistema.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289658" y="1508760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8965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289658" y="2011680"/>
            <a:ext cx="13844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AA"/>
                </a:solidFill>
              </a:rPr>
              <a:t>8 a 20 min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289658" y="2276856"/>
            <a:ext cx="1384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O semestre em RAD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289658" y="2807208"/>
            <a:ext cx="13386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Fases de Martin e de Kerr no nosso projeto.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811219" y="1508760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11219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11219" y="2011680"/>
            <a:ext cx="13844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AA"/>
                </a:solidFill>
              </a:rPr>
              <a:t>20 a 30 min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3811219" y="2276856"/>
            <a:ext cx="1384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Escolhas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3811219" y="2807208"/>
            <a:ext cx="13386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Arquivo, SQLite ou ORM; Tkinter ou Django.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332781" y="1508760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32781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332781" y="2011680"/>
            <a:ext cx="13844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AA"/>
                </a:solidFill>
              </a:rPr>
              <a:t>30 a 40 min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32781" y="2276856"/>
            <a:ext cx="1384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Transição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332781" y="2807208"/>
            <a:ext cx="13386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Testes, </a:t>
            </a:r>
            <a:pPr indent="0" marL="0"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check --deploy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 e publicação.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854342" y="1508760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4342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854342" y="2011680"/>
            <a:ext cx="13844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AA"/>
                </a:solidFill>
              </a:rPr>
              <a:t>40 a 50 min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6854342" y="2276856"/>
            <a:ext cx="1384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A entrega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854342" y="2807208"/>
            <a:ext cx="13386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Arguição, checklist e o teste do zero.</a:t>
            </a:r>
            <a:endParaRPr lang="en-US" sz="1300" dirty="0"/>
          </a:p>
        </p:txBody>
      </p:sp>
      <p:sp>
        <p:nvSpPr>
          <p:cNvPr id="30" name="destaque"/>
          <p:cNvSpPr/>
          <p:nvPr/>
        </p:nvSpPr>
        <p:spPr>
          <a:xfrm>
            <a:off x="768096" y="3794760"/>
            <a:ext cx="7607808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50976" y="3895344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4005072"/>
            <a:ext cx="237744" cy="237744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572768" y="3794760"/>
            <a:ext cx="6647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Depois da exposição: </a:t>
            </a:r>
            <a:pPr indent="0" marL="0">
              <a:buNone/>
            </a:pPr>
            <a:r>
              <a:rPr lang="en-US" sz="1500" dirty="0">
                <a:solidFill>
                  <a:srgbClr val="3A3F44"/>
                </a:solidFill>
              </a:rPr>
              <a:t>arguição simulada entre grupos e auditoria da entrega.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As fases de James Martin no nosso projeto</a:t>
            </a:r>
            <a:endParaRPr lang="en-US" sz="3200" dirty="0"/>
          </a:p>
        </p:txBody>
      </p:sp>
      <p:sp>
        <p:nvSpPr>
          <p:cNvPr id="4" name="fase 1"/>
          <p:cNvSpPr/>
          <p:nvPr/>
        </p:nvSpPr>
        <p:spPr>
          <a:xfrm>
            <a:off x="768096" y="1188720"/>
            <a:ext cx="1801368" cy="3108960"/>
          </a:xfrm>
          <a:prstGeom prst="roundRect">
            <a:avLst>
              <a:gd name="adj" fmla="val 3046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0976" y="1353312"/>
            <a:ext cx="420624" cy="420624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50976" y="1353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50976" y="187452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Planejamento de requisitos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50976" y="2514600"/>
            <a:ext cx="148132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O cenário do sistema de notas, os enunciados das Entregas 1 e 2 e os requisitos não negociáveis.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569464" y="2743200"/>
            <a:ext cx="146304" cy="0"/>
          </a:xfrm>
          <a:prstGeom prst="line">
            <a:avLst/>
          </a:prstGeom>
          <a:noFill/>
          <a:ln w="25400">
            <a:solidFill>
              <a:srgbClr val="1185AA"/>
            </a:solidFill>
            <a:prstDash val="solid"/>
            <a:tailEnd type="triangle"/>
          </a:ln>
        </p:spPr>
      </p:sp>
      <p:sp>
        <p:nvSpPr>
          <p:cNvPr id="10" name="fase 2"/>
          <p:cNvSpPr/>
          <p:nvPr/>
        </p:nvSpPr>
        <p:spPr>
          <a:xfrm>
            <a:off x="2715768" y="1188720"/>
            <a:ext cx="1801368" cy="3108960"/>
          </a:xfrm>
          <a:prstGeom prst="roundRect">
            <a:avLst>
              <a:gd name="adj" fmla="val 3046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898648" y="1353312"/>
            <a:ext cx="420624" cy="420624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98648" y="1353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898648" y="187452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Design do usuário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898648" y="2514600"/>
            <a:ext cx="148132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Telas em Tkinter, templates do Django e o protótipo validado antes do código final.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517136" y="2743200"/>
            <a:ext cx="146304" cy="0"/>
          </a:xfrm>
          <a:prstGeom prst="line">
            <a:avLst/>
          </a:prstGeom>
          <a:noFill/>
          <a:ln w="25400">
            <a:solidFill>
              <a:srgbClr val="1185AA"/>
            </a:solidFill>
            <a:prstDash val="solid"/>
            <a:tailEnd type="triangle"/>
          </a:ln>
        </p:spPr>
      </p:sp>
      <p:sp>
        <p:nvSpPr>
          <p:cNvPr id="16" name="fase 3"/>
          <p:cNvSpPr/>
          <p:nvPr/>
        </p:nvSpPr>
        <p:spPr>
          <a:xfrm>
            <a:off x="4663440" y="1188720"/>
            <a:ext cx="1801368" cy="3108960"/>
          </a:xfrm>
          <a:prstGeom prst="roundRect">
            <a:avLst>
              <a:gd name="adj" fmla="val 3046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846320" y="1353312"/>
            <a:ext cx="420624" cy="420624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46320" y="1353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846320" y="187452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Construção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4846320" y="2514600"/>
            <a:ext cx="148132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Arquivo, </a:t>
            </a:r>
            <a:pPr indent="0" marL="0"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sqlite3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, ORM. CRUD em ciclos curtos, com o </a:t>
            </a:r>
            <a:pPr indent="0" marL="0"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verificar.py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 dizendo onde estamos.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464808" y="2743200"/>
            <a:ext cx="146304" cy="0"/>
          </a:xfrm>
          <a:prstGeom prst="line">
            <a:avLst/>
          </a:prstGeom>
          <a:noFill/>
          <a:ln w="25400">
            <a:solidFill>
              <a:srgbClr val="1185AA"/>
            </a:solidFill>
            <a:prstDash val="solid"/>
            <a:tailEnd type="triangle"/>
          </a:ln>
        </p:spPr>
      </p:sp>
      <p:sp>
        <p:nvSpPr>
          <p:cNvPr id="22" name="fase 4"/>
          <p:cNvSpPr/>
          <p:nvPr/>
        </p:nvSpPr>
        <p:spPr>
          <a:xfrm>
            <a:off x="6611112" y="1188720"/>
            <a:ext cx="1801368" cy="3108960"/>
          </a:xfrm>
          <a:prstGeom prst="roundRect">
            <a:avLst>
              <a:gd name="adj" fmla="val 3046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793992" y="1353312"/>
            <a:ext cx="420624" cy="420624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793992" y="1353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793992" y="187452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Transição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6793992" y="2514600"/>
            <a:ext cx="148132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Testes, README, publicação e a arguição: o sistema muda de mãos.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3447288" y="4224528"/>
            <a:ext cx="1911096" cy="384048"/>
          </a:xfrm>
          <a:prstGeom prst="arc">
            <a:avLst>
              <a:gd name="adj1" fmla="val 0"/>
              <a:gd name="adj2" fmla="val 10800000"/>
            </a:avLst>
          </a:prstGeom>
          <a:ln w="25400">
            <a:solidFill>
              <a:srgbClr val="D06110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2715768" y="4572000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06110"/>
                </a:solidFill>
              </a:rPr>
              <a:t>ciclos curtos: design e construção se repetem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As etapas de James Kerr, arquivo por arquivo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" y="1188720"/>
          <a:ext cx="7607808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971800"/>
                <a:gridCol w="2487168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Etapa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39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 projeto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39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Artefato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397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Modelagem de negócios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quem usa, o que registra, que regras valem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ENUNCIADO.md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, perfis de usuário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Modelagem de dados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aluno, disciplina e o encontro entre eles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models.py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modelo_dados.png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Modelagem de processos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cadastrar, inscrever, lançar nota, excluir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views.py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urls.py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Geração da aplicação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o framework gera SQL, formulários e admin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migrations,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ModelForm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admin.py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Teste e modificação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rodar, medir, corrigir, repetir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verificar.py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tests/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Uma aplicação, três camadas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768096" y="1115568"/>
            <a:ext cx="2414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97B"/>
                </a:solidFill>
              </a:rPr>
              <a:t>Arquivo</a:t>
            </a:r>
            <a:endParaRPr lang="en-US" sz="1700" dirty="0"/>
          </a:p>
        </p:txBody>
      </p:sp>
      <p:sp>
        <p:nvSpPr>
          <p:cNvPr id="5" name="codigo fundo"/>
          <p:cNvSpPr/>
          <p:nvPr/>
        </p:nvSpPr>
        <p:spPr>
          <a:xfrm>
            <a:off x="768096" y="1536192"/>
            <a:ext cx="2414016" cy="1828800"/>
          </a:xfrm>
          <a:prstGeom prst="roundRect">
            <a:avLst>
              <a:gd name="adj" fmla="val 4000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32688" y="1655064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78992" y="1655064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25296" y="1655064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26464" y="1591056"/>
            <a:ext cx="15910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alunos.txt</a:t>
            </a:r>
            <a:endParaRPr lang="en-US" sz="900" dirty="0"/>
          </a:p>
        </p:txBody>
      </p:sp>
      <p:sp>
        <p:nvSpPr>
          <p:cNvPr id="10" name="codigo texto"/>
          <p:cNvSpPr txBox="1"/>
          <p:nvPr/>
        </p:nvSpPr>
        <p:spPr>
          <a:xfrm>
            <a:off x="987552" y="1920240"/>
            <a:ext cx="2048256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 = open(</a:t>
            </a:r>
            <a:pPr indent="0" marL="0">
              <a:buNone/>
            </a:pPr>
            <a:r>
              <a:rPr lang="en-US" sz="9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"alunos.txt"</a:t>
            </a:r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</a:t>
            </a:r>
            <a:pPr indent="0" marL="0">
              <a:buNone/>
            </a:pPr>
            <a:r>
              <a:rPr lang="en-US" sz="9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"a"</a:t>
            </a:r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f.write(f</a:t>
            </a:r>
            <a:pPr indent="0" marL="0">
              <a:buNone/>
            </a:pPr>
            <a:r>
              <a:rPr lang="en-US" sz="9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"{mat};{nome}\n"</a:t>
            </a:r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f.close()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68096" y="3493008"/>
            <a:ext cx="2414016" cy="868680"/>
          </a:xfrm>
          <a:prstGeom prst="roundRect">
            <a:avLst>
              <a:gd name="adj" fmla="val 6316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05256" y="3493008"/>
            <a:ext cx="2157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Quem garante: </a:t>
            </a:r>
            <a:pPr indent="0" marL="0">
              <a:buNone/>
            </a:pPr>
            <a:r>
              <a:rPr lang="en-US" sz="1300" b="1" dirty="0">
                <a:solidFill>
                  <a:srgbClr val="3A3F44"/>
                </a:solidFill>
              </a:rPr>
              <a:t>vocês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. Nada impede matrícula repetida.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200400" y="2450592"/>
            <a:ext cx="146304" cy="0"/>
          </a:xfrm>
          <a:prstGeom prst="line">
            <a:avLst/>
          </a:prstGeom>
          <a:noFill/>
          <a:ln w="25400">
            <a:solidFill>
              <a:srgbClr val="1185AA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3364992" y="1115568"/>
            <a:ext cx="2414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97B"/>
                </a:solidFill>
              </a:rPr>
              <a:t>sqlite3</a:t>
            </a:r>
            <a:endParaRPr lang="en-US" sz="1700" dirty="0"/>
          </a:p>
        </p:txBody>
      </p:sp>
      <p:sp>
        <p:nvSpPr>
          <p:cNvPr id="15" name="codigo fundo"/>
          <p:cNvSpPr/>
          <p:nvPr/>
        </p:nvSpPr>
        <p:spPr>
          <a:xfrm>
            <a:off x="3364992" y="1536192"/>
            <a:ext cx="2414016" cy="1828800"/>
          </a:xfrm>
          <a:prstGeom prst="roundRect">
            <a:avLst>
              <a:gd name="adj" fmla="val 4000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529584" y="1655064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75888" y="1655064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822192" y="1655064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23360" y="1591056"/>
            <a:ext cx="15910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Entrega 1</a:t>
            </a:r>
            <a:endParaRPr lang="en-US" sz="900" dirty="0"/>
          </a:p>
        </p:txBody>
      </p:sp>
      <p:sp>
        <p:nvSpPr>
          <p:cNvPr id="20" name="codigo texto"/>
          <p:cNvSpPr txBox="1"/>
          <p:nvPr/>
        </p:nvSpPr>
        <p:spPr>
          <a:xfrm>
            <a:off x="3584448" y="1920240"/>
            <a:ext cx="2048256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con.execute(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"INSERT INTO aluno"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 (matricula, nome)"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 VALUES (?, ?)"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(mat, nome))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con.commit()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364992" y="3493008"/>
            <a:ext cx="2414016" cy="868680"/>
          </a:xfrm>
          <a:prstGeom prst="roundRect">
            <a:avLst>
              <a:gd name="adj" fmla="val 6316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502152" y="3493008"/>
            <a:ext cx="2157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Quem garante: </a:t>
            </a:r>
            <a:pPr indent="0" marL="0">
              <a:buNone/>
            </a:pPr>
            <a:r>
              <a:rPr lang="en-US" sz="1300" b="1" dirty="0">
                <a:solidFill>
                  <a:srgbClr val="3A3F44"/>
                </a:solidFill>
              </a:rPr>
              <a:t>o banco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 (</a:t>
            </a:r>
            <a:pPr indent="0" marL="0"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UNIQUE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). O SQL é de vocês.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797296" y="2450592"/>
            <a:ext cx="146304" cy="0"/>
          </a:xfrm>
          <a:prstGeom prst="line">
            <a:avLst/>
          </a:prstGeom>
          <a:noFill/>
          <a:ln w="25400">
            <a:solidFill>
              <a:srgbClr val="1185AA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5961888" y="1115568"/>
            <a:ext cx="2414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97B"/>
                </a:solidFill>
              </a:rPr>
              <a:t>Django</a:t>
            </a:r>
            <a:endParaRPr lang="en-US" sz="1700" dirty="0"/>
          </a:p>
        </p:txBody>
      </p:sp>
      <p:sp>
        <p:nvSpPr>
          <p:cNvPr id="25" name="codigo fundo"/>
          <p:cNvSpPr/>
          <p:nvPr/>
        </p:nvSpPr>
        <p:spPr>
          <a:xfrm>
            <a:off x="5961888" y="1536192"/>
            <a:ext cx="2414016" cy="1828800"/>
          </a:xfrm>
          <a:prstGeom prst="roundRect">
            <a:avLst>
              <a:gd name="adj" fmla="val 4000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126480" y="1655064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72784" y="1655064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19088" y="1655064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20256" y="1591056"/>
            <a:ext cx="15910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Entrega 2</a:t>
            </a:r>
            <a:endParaRPr lang="en-US" sz="900" dirty="0"/>
          </a:p>
        </p:txBody>
      </p:sp>
      <p:sp>
        <p:nvSpPr>
          <p:cNvPr id="30" name="codigo texto"/>
          <p:cNvSpPr txBox="1"/>
          <p:nvPr/>
        </p:nvSpPr>
        <p:spPr>
          <a:xfrm>
            <a:off x="6181344" y="1920240"/>
            <a:ext cx="2048256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Aluno.objects.create(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matricula=mat,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nome=nome)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961888" y="3493008"/>
            <a:ext cx="2414016" cy="868680"/>
          </a:xfrm>
          <a:prstGeom prst="roundRect">
            <a:avLst>
              <a:gd name="adj" fmla="val 6316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99048" y="3493008"/>
            <a:ext cx="2157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Quem garante: </a:t>
            </a:r>
            <a:pPr indent="0" marL="0">
              <a:buNone/>
            </a:pPr>
            <a:r>
              <a:rPr lang="en-US" sz="1300" b="1" dirty="0">
                <a:solidFill>
                  <a:srgbClr val="3A3F44"/>
                </a:solidFill>
              </a:rPr>
              <a:t>o banco e o framework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. O SQL é gerado.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768096" y="4462272"/>
            <a:ext cx="7607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185AA"/>
                </a:solidFill>
              </a:rPr>
              <a:t>O CRUD não mudou. Mudou quem garante a integridade e quanto código vocês escrevem.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Tkinter ou Django?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" y="1188720"/>
          <a:ext cx="7607808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2852928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Critério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39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Tkinter (desktop)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39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Django (web)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397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Onde roda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no computador do usuário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no servidor; o usuário só precisa do navegador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Vários usuários ao mesmo tempo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difícil: cada máquina tem sua cópia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natural: um banco, muitos acessos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Atualizar o sistema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reinstalar em cada máquina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publicar uma vez no servidor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Sem internet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funciona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precisa de rede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Login e perfis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vocês implementam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já vem pronto (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django.contrib.auth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)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Bom para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ferramenta local, uso individual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sistema compartilhado, acesso remoto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768096" y="4416552"/>
            <a:ext cx="7607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185AA"/>
                </a:solidFill>
              </a:rPr>
              <a:t>Para uma escola com secretaria, coordenação e professores: web.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Quando o RAD funciona, e quando não</a:t>
            </a:r>
            <a:endParaRPr lang="en-US" sz="3200" dirty="0"/>
          </a:p>
        </p:txBody>
      </p:sp>
      <p:sp>
        <p:nvSpPr>
          <p:cNvPr id="4" name="Funciona quando"/>
          <p:cNvSpPr/>
          <p:nvPr/>
        </p:nvSpPr>
        <p:spPr>
          <a:xfrm>
            <a:off x="768096" y="1188720"/>
            <a:ext cx="3712464" cy="3108960"/>
          </a:xfrm>
          <a:prstGeom prst="roundRect">
            <a:avLst>
              <a:gd name="adj" fmla="val 1765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69264" y="1335024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159" y="1457919"/>
            <a:ext cx="266273" cy="26627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36776" y="1335024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97B"/>
                </a:solidFill>
              </a:rPr>
              <a:t>Funciona quando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1042416" y="2011680"/>
            <a:ext cx="3291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A3F44"/>
                </a:solidFill>
              </a:rPr>
              <a:t>os requisitos podem mudar e o usuário dá retorno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A3F44"/>
                </a:solidFill>
              </a:rPr>
              <a:t>o sistema se divide em módulos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A3F44"/>
                </a:solidFill>
              </a:rPr>
              <a:t>há framework para o trabalho mecânico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A3F44"/>
                </a:solidFill>
              </a:rPr>
              <a:t>o prazo pede entregas incrementais</a:t>
            </a:r>
            <a:endParaRPr lang="en-US" sz="1400" dirty="0"/>
          </a:p>
        </p:txBody>
      </p:sp>
      <p:sp>
        <p:nvSpPr>
          <p:cNvPr id="9" name="Não funciona quando"/>
          <p:cNvSpPr/>
          <p:nvPr/>
        </p:nvSpPr>
        <p:spPr>
          <a:xfrm>
            <a:off x="4663440" y="1188720"/>
            <a:ext cx="3712464" cy="3108960"/>
          </a:xfrm>
          <a:prstGeom prst="roundRect">
            <a:avLst>
              <a:gd name="adj" fmla="val 1765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864608" y="1335024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503" y="1457919"/>
            <a:ext cx="266273" cy="26627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532120" y="1335024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97B"/>
                </a:solidFill>
              </a:rPr>
              <a:t>Não funciona quando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4937760" y="2011680"/>
            <a:ext cx="3291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A3F44"/>
                </a:solidFill>
              </a:rPr>
              <a:t>o sistema é crítico, com requisitos fixos e auditoria pesada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A3F44"/>
                </a:solidFill>
              </a:rPr>
              <a:t>a equipe não domina a ferramenta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A3F44"/>
                </a:solidFill>
              </a:rPr>
              <a:t>o projeto é grande e difícil de dividir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A3F44"/>
                </a:solidFill>
              </a:rPr>
              <a:t>o usuário não está disponível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Testes: a rede de segurança da iteração</a:t>
            </a:r>
            <a:endParaRPr lang="en-US" sz="3200" dirty="0"/>
          </a:p>
        </p:txBody>
      </p:sp>
      <p:sp>
        <p:nvSpPr>
          <p:cNvPr id="4" name="codigo fundo"/>
          <p:cNvSpPr/>
          <p:nvPr/>
        </p:nvSpPr>
        <p:spPr>
          <a:xfrm>
            <a:off x="768096" y="1188720"/>
            <a:ext cx="5257800" cy="3429000"/>
          </a:xfrm>
          <a:prstGeom prst="roundRect">
            <a:avLst>
              <a:gd name="adj" fmla="val 2133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32688" y="1307592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78992" y="1307592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25296" y="1307592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426464" y="1243584"/>
            <a:ext cx="4434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academico/tests/test_media.py</a:t>
            </a:r>
            <a:endParaRPr lang="en-US" sz="900" dirty="0"/>
          </a:p>
        </p:txBody>
      </p:sp>
      <p:sp>
        <p:nvSpPr>
          <p:cNvPr id="9" name="codigo texto"/>
          <p:cNvSpPr txBox="1"/>
          <p:nvPr/>
        </p:nvSpPr>
        <p:spPr>
          <a:xfrm>
            <a:off x="987552" y="1572768"/>
            <a:ext cx="4892040" cy="29535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from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django.test </a:t>
            </a:r>
            <a:pPr indent="0" marL="0">
              <a:buNone/>
            </a:pPr>
            <a:r>
              <a:rPr lang="en-US" sz="105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import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TestCase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from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academico.models </a:t>
            </a:r>
            <a:pPr indent="0" marL="0">
              <a:buNone/>
            </a:pPr>
            <a:r>
              <a:rPr lang="en-US" sz="105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import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Aluno, Disciplina, Inscricao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class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MediaTest(TestCase):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</a:t>
            </a:r>
            <a:pPr indent="0" marL="0">
              <a:buNone/>
            </a:pPr>
            <a:r>
              <a:rPr lang="en-US" sz="105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def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test_nota_zero_entra_na_media(self):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    a = Aluno.objects.create(matricula=</a:t>
            </a:r>
            <a:pPr indent="0" marL="0">
              <a:buNone/>
            </a:pPr>
            <a:r>
              <a:rPr lang="en-US" sz="10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"2024001"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                             nome=</a:t>
            </a:r>
            <a:pPr indent="0" marL="0">
              <a:buNone/>
            </a:pPr>
            <a:r>
              <a:rPr lang="en-US" sz="10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"Ana"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    d = Disciplina.objects.create(codigo=</a:t>
            </a:r>
            <a:pPr indent="0" marL="0">
              <a:buNone/>
            </a:pPr>
            <a:r>
              <a:rPr lang="en-US" sz="10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"ARA0095"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                                  nome=</a:t>
            </a:r>
            <a:pPr indent="0" marL="0">
              <a:buNone/>
            </a:pPr>
            <a:r>
              <a:rPr lang="en-US" sz="10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"RAD"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                                  carga_horaria=</a:t>
            </a:r>
            <a:pPr indent="0" marL="0">
              <a:buNone/>
            </a:pPr>
            <a:r>
              <a:rPr lang="en-US" sz="1050" dirty="0">
                <a:solidFill>
                  <a:srgbClr val="F78C6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60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    i = Inscricao.objects.create(aluno=a, disciplina=d,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                                 nota1=</a:t>
            </a:r>
            <a:pPr indent="0" marL="0">
              <a:buNone/>
            </a:pPr>
            <a:r>
              <a:rPr lang="en-US" sz="1050" dirty="0">
                <a:solidFill>
                  <a:srgbClr val="F78C6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nota2=</a:t>
            </a:r>
            <a:pPr indent="0" marL="0">
              <a:buNone/>
            </a:pPr>
            <a:r>
              <a:rPr lang="en-US" sz="1050" dirty="0">
                <a:solidFill>
                  <a:srgbClr val="F78C6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8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    self.assertEqual(i.media, </a:t>
            </a:r>
            <a:pPr indent="0" marL="0">
              <a:buNone/>
            </a:pPr>
            <a:r>
              <a:rPr lang="en-US" sz="1050" dirty="0">
                <a:solidFill>
                  <a:srgbClr val="F78C6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4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188720"/>
            <a:ext cx="2167128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55080" y="126187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97B"/>
                </a:solidFill>
              </a:rPr>
              <a:t>Banco limpo a cada teste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355080" y="164592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O Django cria um banco temporário e desfaz tudo no fim.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08776" y="2359152"/>
            <a:ext cx="2167128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55080" y="24323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97B"/>
                </a:solidFill>
              </a:rPr>
              <a:t>Rodem de novo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281635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Mudou o código? Em segundos vocês sabem se quebraram algo.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08776" y="3529584"/>
            <a:ext cx="2167128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55080" y="36027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verificar.py</a:t>
            </a:r>
            <a:pPr indent="0" marL="0">
              <a:buNone/>
            </a:pPr>
            <a:r>
              <a:rPr lang="en-US" sz="1300" b="1" dirty="0">
                <a:solidFill>
                  <a:srgbClr val="00397B"/>
                </a:solidFill>
              </a:rPr>
              <a:t> é isto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355080" y="398678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Uma suíte pronta que diz qual TODO falta e onde.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Transição: do runserver para produção</a:t>
            </a:r>
            <a:endParaRPr lang="en-US" sz="3200" dirty="0"/>
          </a:p>
        </p:txBody>
      </p:sp>
      <p:sp>
        <p:nvSpPr>
          <p:cNvPr id="4" name="card `DEBUG = False`"/>
          <p:cNvSpPr/>
          <p:nvPr/>
        </p:nvSpPr>
        <p:spPr>
          <a:xfrm>
            <a:off x="768096" y="1143000"/>
            <a:ext cx="2414016" cy="1481328"/>
          </a:xfrm>
          <a:prstGeom prst="roundRect">
            <a:avLst>
              <a:gd name="adj" fmla="val 3704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69264" y="1325880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159" y="1448775"/>
            <a:ext cx="266273" cy="26627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36776" y="1325880"/>
            <a:ext cx="1362456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DEBUG = False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996696" y="1947672"/>
            <a:ext cx="2002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A3F44"/>
                </a:solidFill>
              </a:rPr>
              <a:t>Com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True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A3F44"/>
                </a:solidFill>
              </a:rPr>
              <a:t>, qualquer erro mostra código e configuração para quem acessar.</a:t>
            </a:r>
            <a:endParaRPr lang="en-US" sz="1200" dirty="0"/>
          </a:p>
        </p:txBody>
      </p:sp>
      <p:sp>
        <p:nvSpPr>
          <p:cNvPr id="9" name="card `SECRET_KEY` fora do código"/>
          <p:cNvSpPr/>
          <p:nvPr/>
        </p:nvSpPr>
        <p:spPr>
          <a:xfrm>
            <a:off x="3364992" y="1143000"/>
            <a:ext cx="2414016" cy="1481328"/>
          </a:xfrm>
          <a:prstGeom prst="roundRect">
            <a:avLst>
              <a:gd name="adj" fmla="val 3704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566160" y="1325880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9055" y="1448775"/>
            <a:ext cx="266273" cy="26627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33672" y="1325880"/>
            <a:ext cx="1362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SECRET_KEY</a:t>
            </a:r>
            <a:pPr indent="0" marL="0">
              <a:buNone/>
            </a:pPr>
            <a:r>
              <a:rPr lang="en-US" sz="1300" b="1" dirty="0">
                <a:solidFill>
                  <a:srgbClr val="00397B"/>
                </a:solidFill>
              </a:rPr>
              <a:t> fora do código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3593592" y="1947672"/>
            <a:ext cx="2002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A3F44"/>
                </a:solidFill>
              </a:rPr>
              <a:t>Vai no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.env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A3F44"/>
                </a:solidFill>
              </a:rPr>
              <a:t>, que nunca entra no zip nem no Git.</a:t>
            </a:r>
            <a:endParaRPr lang="en-US" sz="1200" dirty="0"/>
          </a:p>
        </p:txBody>
      </p:sp>
      <p:sp>
        <p:nvSpPr>
          <p:cNvPr id="14" name="card `ALLOWED_HOSTS`"/>
          <p:cNvSpPr/>
          <p:nvPr/>
        </p:nvSpPr>
        <p:spPr>
          <a:xfrm>
            <a:off x="5961888" y="1143000"/>
            <a:ext cx="2414016" cy="1481328"/>
          </a:xfrm>
          <a:prstGeom prst="roundRect">
            <a:avLst>
              <a:gd name="adj" fmla="val 3704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163056" y="1325880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5951" y="1448775"/>
            <a:ext cx="266273" cy="266273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30568" y="1325880"/>
            <a:ext cx="1362456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ALLOWED_HOSTS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6190488" y="1947672"/>
            <a:ext cx="2002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A3F44"/>
                </a:solidFill>
              </a:rPr>
              <a:t>Lista os domínios que podem servir o sistema.</a:t>
            </a:r>
            <a:endParaRPr lang="en-US" sz="1200" dirty="0"/>
          </a:p>
        </p:txBody>
      </p:sp>
      <p:sp>
        <p:nvSpPr>
          <p:cNvPr id="19" name="card Servidor de verdade"/>
          <p:cNvSpPr/>
          <p:nvPr/>
        </p:nvSpPr>
        <p:spPr>
          <a:xfrm>
            <a:off x="768096" y="2770632"/>
            <a:ext cx="2414016" cy="1481328"/>
          </a:xfrm>
          <a:prstGeom prst="roundRect">
            <a:avLst>
              <a:gd name="adj" fmla="val 3704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969264" y="2953512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159" y="3076407"/>
            <a:ext cx="266273" cy="266273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36776" y="2953512"/>
            <a:ext cx="1362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97B"/>
                </a:solidFill>
              </a:rPr>
              <a:t>Servidor de verdade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996696" y="3575304"/>
            <a:ext cx="2002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runserver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A3F44"/>
                </a:solidFill>
              </a:rPr>
              <a:t> é para desenvolver. Em produção: gunicorn ou waitress.</a:t>
            </a:r>
            <a:endParaRPr lang="en-US" sz="1200" dirty="0"/>
          </a:p>
        </p:txBody>
      </p:sp>
      <p:sp>
        <p:nvSpPr>
          <p:cNvPr id="24" name="card Banco para muitos acessos"/>
          <p:cNvSpPr/>
          <p:nvPr/>
        </p:nvSpPr>
        <p:spPr>
          <a:xfrm>
            <a:off x="3364992" y="2770632"/>
            <a:ext cx="2414016" cy="1481328"/>
          </a:xfrm>
          <a:prstGeom prst="roundRect">
            <a:avLst>
              <a:gd name="adj" fmla="val 3704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3566160" y="2953512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9055" y="3076407"/>
            <a:ext cx="266273" cy="266273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233672" y="2953512"/>
            <a:ext cx="1362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97B"/>
                </a:solidFill>
              </a:rPr>
              <a:t>Banco para muitos acessos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3593592" y="3575304"/>
            <a:ext cx="2002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A3F44"/>
                </a:solidFill>
              </a:rPr>
              <a:t>PostgreSQL no lugar do SQLite quando o uso cresce.</a:t>
            </a:r>
            <a:endParaRPr lang="en-US" sz="1200" dirty="0"/>
          </a:p>
        </p:txBody>
      </p:sp>
      <p:sp>
        <p:nvSpPr>
          <p:cNvPr id="29" name="card Arquivos estáticos"/>
          <p:cNvSpPr/>
          <p:nvPr/>
        </p:nvSpPr>
        <p:spPr>
          <a:xfrm>
            <a:off x="5961888" y="2770632"/>
            <a:ext cx="2414016" cy="1481328"/>
          </a:xfrm>
          <a:prstGeom prst="roundRect">
            <a:avLst>
              <a:gd name="adj" fmla="val 3704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6163056" y="2953512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5951" y="3076407"/>
            <a:ext cx="266273" cy="266273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6830568" y="2953512"/>
            <a:ext cx="1362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97B"/>
                </a:solidFill>
              </a:rPr>
              <a:t>Arquivos estáticos</a:t>
            </a:r>
            <a:endParaRPr lang="en-US" sz="1300" dirty="0"/>
          </a:p>
        </p:txBody>
      </p:sp>
      <p:sp>
        <p:nvSpPr>
          <p:cNvPr id="33" name="Text 24"/>
          <p:cNvSpPr txBox="1"/>
          <p:nvPr/>
        </p:nvSpPr>
        <p:spPr>
          <a:xfrm>
            <a:off x="6190488" y="3575304"/>
            <a:ext cx="2002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collectstatic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A3F44"/>
                </a:solidFill>
              </a:rPr>
              <a:t> junta CSS e JS numa pasta servida pelo servidor web.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768096" y="4462272"/>
            <a:ext cx="7607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185A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python manage.py check --deploy</a:t>
            </a:r>
            <a:pPr indent="0" marL="0">
              <a:buNone/>
            </a:pPr>
            <a:r>
              <a:rPr lang="en-US" sz="1500" i="1" dirty="0">
                <a:solidFill>
                  <a:srgbClr val="1185AA"/>
                </a:solidFill>
              </a:rPr>
              <a:t> aponta o que falta.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Publicar: o caminho mínimo</a:t>
            </a:r>
            <a:endParaRPr lang="en-US" sz="3200" dirty="0"/>
          </a:p>
        </p:txBody>
      </p:sp>
      <p:sp>
        <p:nvSpPr>
          <p:cNvPr id="4" name="passo 1"/>
          <p:cNvSpPr/>
          <p:nvPr/>
        </p:nvSpPr>
        <p:spPr>
          <a:xfrm>
            <a:off x="768096" y="1508760"/>
            <a:ext cx="1371600" cy="2103120"/>
          </a:xfrm>
          <a:prstGeom prst="roundRect">
            <a:avLst>
              <a:gd name="adj" fmla="val 4000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61872" y="1664208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6187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1762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97B"/>
                </a:solidFill>
              </a:rPr>
              <a:t>Código no Git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432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sem </a:t>
            </a:r>
            <a:pPr algn="ctr" indent="0" marL="0">
              <a:buNone/>
            </a:pPr>
            <a:r>
              <a:rPr lang="en-US" sz="11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.env</a:t>
            </a:r>
            <a:pPr algn="ctr"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, </a:t>
            </a:r>
            <a:pPr algn="ctr" indent="0" marL="0">
              <a:buNone/>
            </a:pPr>
            <a:r>
              <a:rPr lang="en-US" sz="11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.venv</a:t>
            </a:r>
            <a:pPr algn="ctr"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 e banco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157984" y="2560320"/>
            <a:ext cx="146304" cy="0"/>
          </a:xfrm>
          <a:prstGeom prst="line">
            <a:avLst/>
          </a:prstGeom>
          <a:noFill/>
          <a:ln w="25400">
            <a:solidFill>
              <a:srgbClr val="1185AA"/>
            </a:solidFill>
            <a:prstDash val="solid"/>
            <a:tailEnd type="triangle"/>
          </a:ln>
        </p:spPr>
      </p:sp>
      <p:sp>
        <p:nvSpPr>
          <p:cNvPr id="10" name="passo 2"/>
          <p:cNvSpPr/>
          <p:nvPr/>
        </p:nvSpPr>
        <p:spPr>
          <a:xfrm>
            <a:off x="2322576" y="1508760"/>
            <a:ext cx="1371600" cy="2103120"/>
          </a:xfrm>
          <a:prstGeom prst="roundRect">
            <a:avLst>
              <a:gd name="adj" fmla="val 4000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816352" y="1664208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1635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414016" y="21762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97B"/>
                </a:solidFill>
              </a:rPr>
              <a:t>Servidor com Python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14016" y="27432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ex.: PythonAnywhere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712464" y="2560320"/>
            <a:ext cx="146304" cy="0"/>
          </a:xfrm>
          <a:prstGeom prst="line">
            <a:avLst/>
          </a:prstGeom>
          <a:noFill/>
          <a:ln w="25400">
            <a:solidFill>
              <a:srgbClr val="1185AA"/>
            </a:solidFill>
            <a:prstDash val="solid"/>
            <a:tailEnd type="triangle"/>
          </a:ln>
        </p:spPr>
      </p:sp>
      <p:sp>
        <p:nvSpPr>
          <p:cNvPr id="16" name="passo 3"/>
          <p:cNvSpPr/>
          <p:nvPr/>
        </p:nvSpPr>
        <p:spPr>
          <a:xfrm>
            <a:off x="3877056" y="1508760"/>
            <a:ext cx="1371600" cy="2103120"/>
          </a:xfrm>
          <a:prstGeom prst="roundRect">
            <a:avLst>
              <a:gd name="adj" fmla="val 4000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70832" y="1664208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37083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968496" y="21762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97B"/>
                </a:solidFill>
              </a:rPr>
              <a:t>Ambiente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968496" y="27432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criar o </a:t>
            </a:r>
            <a:pPr algn="ctr" indent="0" marL="0">
              <a:buNone/>
            </a:pPr>
            <a:r>
              <a:rPr lang="en-US" sz="11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venv</a:t>
            </a:r>
            <a:pPr algn="ctr"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 e instalar as dependências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266944" y="2560320"/>
            <a:ext cx="146304" cy="0"/>
          </a:xfrm>
          <a:prstGeom prst="line">
            <a:avLst/>
          </a:prstGeom>
          <a:noFill/>
          <a:ln w="25400">
            <a:solidFill>
              <a:srgbClr val="1185AA"/>
            </a:solidFill>
            <a:prstDash val="solid"/>
            <a:tailEnd type="triangle"/>
          </a:ln>
        </p:spPr>
      </p:sp>
      <p:sp>
        <p:nvSpPr>
          <p:cNvPr id="22" name="passo 4"/>
          <p:cNvSpPr/>
          <p:nvPr/>
        </p:nvSpPr>
        <p:spPr>
          <a:xfrm>
            <a:off x="5431536" y="1508760"/>
            <a:ext cx="1371600" cy="2103120"/>
          </a:xfrm>
          <a:prstGeom prst="roundRect">
            <a:avLst>
              <a:gd name="adj" fmla="val 4000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25312" y="1664208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92531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522976" y="21762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97B"/>
                </a:solidFill>
              </a:rPr>
              <a:t>Banco e estáticos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522976" y="27432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migrate</a:t>
            </a:r>
            <a:pPr algn="ctr"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 + </a:t>
            </a:r>
            <a:pPr algn="ctr" indent="0" marL="0">
              <a:buNone/>
            </a:pPr>
            <a:r>
              <a:rPr lang="en-US" sz="11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collectstatic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821424" y="2560320"/>
            <a:ext cx="146304" cy="0"/>
          </a:xfrm>
          <a:prstGeom prst="line">
            <a:avLst/>
          </a:prstGeom>
          <a:noFill/>
          <a:ln w="25400">
            <a:solidFill>
              <a:srgbClr val="1185AA"/>
            </a:solidFill>
            <a:prstDash val="solid"/>
            <a:tailEnd type="triangle"/>
          </a:ln>
        </p:spPr>
      </p:sp>
      <p:sp>
        <p:nvSpPr>
          <p:cNvPr id="28" name="passo 5"/>
          <p:cNvSpPr/>
          <p:nvPr/>
        </p:nvSpPr>
        <p:spPr>
          <a:xfrm>
            <a:off x="6986016" y="1508760"/>
            <a:ext cx="1371600" cy="2103120"/>
          </a:xfrm>
          <a:prstGeom prst="roundRect">
            <a:avLst>
              <a:gd name="adj" fmla="val 4000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9792" y="1664208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979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077456" y="21762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97B"/>
                </a:solidFill>
              </a:rPr>
              <a:t>Configurar e abrir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7077456" y="27432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.env</a:t>
            </a:r>
            <a:pPr algn="ctr"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 de produção e WSGI</a:t>
            </a:r>
            <a:endParaRPr lang="en-US" sz="1200" dirty="0"/>
          </a:p>
        </p:txBody>
      </p:sp>
      <p:sp>
        <p:nvSpPr>
          <p:cNvPr id="33" name="destaque"/>
          <p:cNvSpPr/>
          <p:nvPr/>
        </p:nvSpPr>
        <p:spPr>
          <a:xfrm>
            <a:off x="768096" y="3840480"/>
            <a:ext cx="7607808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50976" y="3941064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4050792"/>
            <a:ext cx="237744" cy="237744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1572768" y="3840480"/>
            <a:ext cx="6647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Para a entrega: </a:t>
            </a:r>
            <a:pPr indent="0" marL="0">
              <a:buNone/>
            </a:pPr>
            <a:r>
              <a:rPr lang="en-US" sz="1500" dirty="0">
                <a:solidFill>
                  <a:srgbClr val="3A3F44"/>
                </a:solidFill>
              </a:rPr>
              <a:t>não é preciso publicar. Mas o projeto precisa subir do zero numa máquina limpa (slide 20).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De volta às quatro semanas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768096" y="1188720"/>
            <a:ext cx="1801368" cy="2971800"/>
          </a:xfrm>
          <a:prstGeom prst="roundRect">
            <a:avLst>
              <a:gd name="adj" fmla="val 3046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68096" y="1188720"/>
            <a:ext cx="1801368" cy="457200"/>
          </a:xfrm>
          <a:prstGeom prst="rect">
            <a:avLst/>
          </a:prstGeom>
          <a:solidFill>
            <a:srgbClr val="00397B"/>
          </a:solidFill>
          <a:ln w="12700">
            <a:solidFill>
              <a:srgbClr val="00397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8096" y="1188720"/>
            <a:ext cx="180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Semana 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32688" y="1810512"/>
            <a:ext cx="148132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Modelo de dados, migrations e o admin como protótipo. A secretaria já cadastra e opina.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715768" y="1188720"/>
            <a:ext cx="1801368" cy="2971800"/>
          </a:xfrm>
          <a:prstGeom prst="roundRect">
            <a:avLst>
              <a:gd name="adj" fmla="val 3046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715768" y="1188720"/>
            <a:ext cx="1801368" cy="457200"/>
          </a:xfrm>
          <a:prstGeom prst="rect">
            <a:avLst/>
          </a:prstGeom>
          <a:solidFill>
            <a:srgbClr val="00397B"/>
          </a:solidFill>
          <a:ln w="12700">
            <a:solidFill>
              <a:srgbClr val="00397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15768" y="1188720"/>
            <a:ext cx="180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Semana 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2880360" y="1810512"/>
            <a:ext cx="148132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Telas de aluno e disciplina com validação. Ajustes a partir do retorno da semana 1.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663440" y="1188720"/>
            <a:ext cx="1801368" cy="2971800"/>
          </a:xfrm>
          <a:prstGeom prst="roundRect">
            <a:avLst>
              <a:gd name="adj" fmla="val 3046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63440" y="1188720"/>
            <a:ext cx="1801368" cy="457200"/>
          </a:xfrm>
          <a:prstGeom prst="rect">
            <a:avLst/>
          </a:prstGeom>
          <a:solidFill>
            <a:srgbClr val="00397B"/>
          </a:solidFill>
          <a:ln w="12700">
            <a:solidFill>
              <a:srgbClr val="00397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663440" y="1188720"/>
            <a:ext cx="180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Semana 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828032" y="1810512"/>
            <a:ext cx="148132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Inscrições, notas, perfis de acesso e o cuidado com o N+1.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611112" y="1188720"/>
            <a:ext cx="1801368" cy="2971800"/>
          </a:xfrm>
          <a:prstGeom prst="roundRect">
            <a:avLst>
              <a:gd name="adj" fmla="val 3046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611112" y="1188720"/>
            <a:ext cx="1801368" cy="457200"/>
          </a:xfrm>
          <a:prstGeom prst="rect">
            <a:avLst/>
          </a:prstGeom>
          <a:solidFill>
            <a:srgbClr val="D06110"/>
          </a:solidFill>
          <a:ln w="12700">
            <a:solidFill>
              <a:srgbClr val="D0611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611112" y="1188720"/>
            <a:ext cx="180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Semana 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775704" y="1810512"/>
            <a:ext cx="148132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Testes, publicação, treinamento e a documentação: a transição.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68096" y="4343400"/>
            <a:ext cx="7607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185AA"/>
                </a:solidFill>
              </a:rPr>
              <a:t>Toda semana termina com algo rodando e mostrado ao usuário.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Como vai ser a arguição</a:t>
            </a:r>
            <a:endParaRPr lang="en-US" sz="3200" dirty="0"/>
          </a:p>
        </p:txBody>
      </p:sp>
      <p:sp>
        <p:nvSpPr>
          <p:cNvPr id="4" name="card Sorteio"/>
          <p:cNvSpPr/>
          <p:nvPr/>
        </p:nvSpPr>
        <p:spPr>
          <a:xfrm>
            <a:off x="768096" y="1143000"/>
            <a:ext cx="2414016" cy="2514600"/>
          </a:xfrm>
          <a:prstGeom prst="roundRect">
            <a:avLst>
              <a:gd name="adj" fmla="val 227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96696" y="1371600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926" y="1520830"/>
            <a:ext cx="323332" cy="3233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96696" y="2130552"/>
            <a:ext cx="2002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Sorteio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996696" y="2715768"/>
            <a:ext cx="2002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F44"/>
                </a:solidFill>
              </a:rPr>
              <a:t>Qualquer integrante pode ser chamado para responder sobre qualquer trecho.</a:t>
            </a:r>
            <a:endParaRPr lang="en-US" sz="1400" dirty="0"/>
          </a:p>
        </p:txBody>
      </p:sp>
      <p:sp>
        <p:nvSpPr>
          <p:cNvPr id="9" name="card Explicar"/>
          <p:cNvSpPr/>
          <p:nvPr/>
        </p:nvSpPr>
        <p:spPr>
          <a:xfrm>
            <a:off x="3364992" y="1143000"/>
            <a:ext cx="2414016" cy="2514600"/>
          </a:xfrm>
          <a:prstGeom prst="roundRect">
            <a:avLst>
              <a:gd name="adj" fmla="val 227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593592" y="1371600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2822" y="1520830"/>
            <a:ext cx="323332" cy="3233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593592" y="2130552"/>
            <a:ext cx="2002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Explicar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3593592" y="2715768"/>
            <a:ext cx="2002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F44"/>
                </a:solidFill>
              </a:rPr>
              <a:t>Ler um trecho do código do grupo e dizer o que faz e por que foi feito assim.</a:t>
            </a:r>
            <a:endParaRPr lang="en-US" sz="1400" dirty="0"/>
          </a:p>
        </p:txBody>
      </p:sp>
      <p:sp>
        <p:nvSpPr>
          <p:cNvPr id="14" name="card Alterar ao vivo"/>
          <p:cNvSpPr/>
          <p:nvPr/>
        </p:nvSpPr>
        <p:spPr>
          <a:xfrm>
            <a:off x="5961888" y="1143000"/>
            <a:ext cx="2414016" cy="2514600"/>
          </a:xfrm>
          <a:prstGeom prst="roundRect">
            <a:avLst>
              <a:gd name="adj" fmla="val 227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190488" y="1371600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718" y="1520830"/>
            <a:ext cx="323332" cy="32333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190488" y="2130552"/>
            <a:ext cx="2002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Alterar ao vivo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6190488" y="2715768"/>
            <a:ext cx="2002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F44"/>
                </a:solidFill>
              </a:rPr>
              <a:t>Uma mudança pequena, na frente do professor, com o projeto rodando.</a:t>
            </a:r>
            <a:endParaRPr lang="en-US" sz="1400" dirty="0"/>
          </a:p>
        </p:txBody>
      </p:sp>
      <p:sp>
        <p:nvSpPr>
          <p:cNvPr id="19" name="destaque"/>
          <p:cNvSpPr/>
          <p:nvPr/>
        </p:nvSpPr>
        <p:spPr>
          <a:xfrm>
            <a:off x="768096" y="3840480"/>
            <a:ext cx="7607808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950976" y="3941064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4050792"/>
            <a:ext cx="237744" cy="23774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72768" y="3840480"/>
            <a:ext cx="6647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Código que o grupo não sabe explicar vale zero, </a:t>
            </a:r>
            <a:pPr indent="0" marL="0">
              <a:buNone/>
            </a:pPr>
            <a:r>
              <a:rPr lang="en-US" sz="1500" dirty="0">
                <a:solidFill>
                  <a:srgbClr val="3A3F44"/>
                </a:solidFill>
              </a:rPr>
              <a:t>mesmo funcionando. Registrem no README o que foi feito com IA.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Perguntas que costumam cair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768096" y="1143000"/>
            <a:ext cx="3712464" cy="640080"/>
          </a:xfrm>
          <a:prstGeom prst="roundRect">
            <a:avLst>
              <a:gd name="adj" fmla="val 8571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14400" y="1280160"/>
            <a:ext cx="365760" cy="365760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408176" y="114300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Por que </a:t>
            </a:r>
            <a:pPr indent="0" marL="0">
              <a:buNone/>
            </a:pPr>
            <a:r>
              <a:rPr lang="en-US" sz="12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nota1</a:t>
            </a:r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 fica em </a:t>
            </a:r>
            <a:pPr indent="0" marL="0">
              <a:buNone/>
            </a:pPr>
            <a:r>
              <a:rPr lang="en-US" sz="12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inscricao</a:t>
            </a:r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?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68096" y="1911096"/>
            <a:ext cx="3712464" cy="640080"/>
          </a:xfrm>
          <a:prstGeom prst="roundRect">
            <a:avLst>
              <a:gd name="adj" fmla="val 8571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2048256"/>
            <a:ext cx="365760" cy="365760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2048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408176" y="1911096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Por que </a:t>
            </a:r>
            <a:pPr indent="0" marL="0">
              <a:buNone/>
            </a:pPr>
            <a:r>
              <a:rPr lang="en-US" sz="12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PROTECT</a:t>
            </a:r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, e não </a:t>
            </a:r>
            <a:pPr indent="0" marL="0">
              <a:buNone/>
            </a:pPr>
            <a:r>
              <a:rPr lang="en-US" sz="12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CASCADE</a:t>
            </a:r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?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68096" y="2679192"/>
            <a:ext cx="3712464" cy="640080"/>
          </a:xfrm>
          <a:prstGeom prst="roundRect">
            <a:avLst>
              <a:gd name="adj" fmla="val 8571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14400" y="2816352"/>
            <a:ext cx="365760" cy="365760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2816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408176" y="2679192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Qual a única diferença entre criar e editar?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68096" y="3447288"/>
            <a:ext cx="3712464" cy="640080"/>
          </a:xfrm>
          <a:prstGeom prst="roundRect">
            <a:avLst>
              <a:gd name="adj" fmla="val 8571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08176" y="3447288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Por que redirecionar depois de salvar?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663440" y="1143000"/>
            <a:ext cx="3712464" cy="640080"/>
          </a:xfrm>
          <a:prstGeom prst="roundRect">
            <a:avLst>
              <a:gd name="adj" fmla="val 8571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809744" y="1280160"/>
            <a:ext cx="365760" cy="365760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809744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303520" y="114300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Por que a exclusão só acontece no POST?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663440" y="1911096"/>
            <a:ext cx="3712464" cy="640080"/>
          </a:xfrm>
          <a:prstGeom prst="roundRect">
            <a:avLst>
              <a:gd name="adj" fmla="val 8571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809744" y="2048256"/>
            <a:ext cx="365760" cy="365760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809744" y="2048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303520" y="1911096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O que o </a:t>
            </a:r>
            <a:pPr indent="0" marL="0">
              <a:buNone/>
            </a:pPr>
            <a:r>
              <a:rPr lang="en-US" sz="12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select_related</a:t>
            </a:r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 evita?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663440" y="2679192"/>
            <a:ext cx="3712464" cy="640080"/>
          </a:xfrm>
          <a:prstGeom prst="roundRect">
            <a:avLst>
              <a:gd name="adj" fmla="val 8571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809744" y="2816352"/>
            <a:ext cx="365760" cy="365760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9744" y="2816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303520" y="2679192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Onde ficou cada validação, e por quê ali?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4663440" y="3447288"/>
            <a:ext cx="3712464" cy="640080"/>
          </a:xfrm>
          <a:prstGeom prst="roundRect">
            <a:avLst>
              <a:gd name="adj" fmla="val 8571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809744" y="3584448"/>
            <a:ext cx="365760" cy="365760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809744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303520" y="3447288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Esconder o link no menu protege a tela?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68096" y="4343400"/>
            <a:ext cx="7607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185AA"/>
                </a:solidFill>
              </a:rPr>
              <a:t>Mais dez no fim de </a:t>
            </a:r>
            <a:pPr indent="0" marL="0">
              <a:buNone/>
            </a:pPr>
            <a:r>
              <a:rPr lang="en-US" sz="1350" i="1" dirty="0">
                <a:solidFill>
                  <a:srgbClr val="1185A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material/07-tour-do-app-contas.md</a:t>
            </a:r>
            <a:pPr indent="0" marL="0">
              <a:buNone/>
            </a:pPr>
            <a:r>
              <a:rPr lang="en-US" sz="1500" i="1" dirty="0">
                <a:solidFill>
                  <a:srgbClr val="1185AA"/>
                </a:solidFill>
              </a:rPr>
              <a:t>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Alterações ao vivo: exemplos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" y="1188720"/>
          <a:ext cx="7607808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773168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Pedido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39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 que muda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397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Adicione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telefone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 ao aluno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models.py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makemigrations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 +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migrate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fields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 no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AlunoForm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Liste só os alunos ativos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views.py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: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Aluno.objects.filter(ativo=True)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Ordene as disciplinas por código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ordering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 no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Meta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 +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makemigrations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Mostre a média na lista de notas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o template, com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{{ i.media }}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Troque a mensagem de duplicidade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error_messages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 no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InscricaoForm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768096" y="4343400"/>
            <a:ext cx="7607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185AA"/>
                </a:solidFill>
              </a:rPr>
              <a:t>Treinem: cada integrante faz uma destas sozinho, com o grupo olhando.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Checklist da entrega</a:t>
            </a:r>
            <a:endParaRPr lang="en-US" sz="3200" dirty="0"/>
          </a:p>
        </p:txBody>
      </p:sp>
      <p:sp>
        <p:nvSpPr>
          <p:cNvPr id="4" name="Vai no zip"/>
          <p:cNvSpPr/>
          <p:nvPr/>
        </p:nvSpPr>
        <p:spPr>
          <a:xfrm>
            <a:off x="768096" y="1143000"/>
            <a:ext cx="3712464" cy="2514600"/>
          </a:xfrm>
          <a:prstGeom prst="roundRect">
            <a:avLst>
              <a:gd name="adj" fmla="val 2182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69264" y="1280160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381" y="1394277"/>
            <a:ext cx="247254" cy="24725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91056" y="12801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Vai no zip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042416" y="190195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o projeto com as </a:t>
            </a:r>
            <a:pPr indent="0" marL="0">
              <a:buNone/>
            </a:pPr>
            <a:r>
              <a:rPr lang="en-US" sz="12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migrations/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042416" y="23134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README.md</a:t>
            </a:r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 preenchido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042416" y="2724912"/>
            <a:ext cx="329184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modelo_dados.png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042416" y="3136392"/>
            <a:ext cx="329184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requirements.txt</a:t>
            </a:r>
            <a:endParaRPr lang="en-US" sz="1400" dirty="0"/>
          </a:p>
        </p:txBody>
      </p:sp>
      <p:sp>
        <p:nvSpPr>
          <p:cNvPr id="12" name="Fica fora"/>
          <p:cNvSpPr/>
          <p:nvPr/>
        </p:nvSpPr>
        <p:spPr>
          <a:xfrm>
            <a:off x="4663440" y="1143000"/>
            <a:ext cx="3712464" cy="2514600"/>
          </a:xfrm>
          <a:prstGeom prst="roundRect">
            <a:avLst>
              <a:gd name="adj" fmla="val 2182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864608" y="1280160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725" y="1394277"/>
            <a:ext cx="247254" cy="24725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0" y="12801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Fica fora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4937760" y="1901952"/>
            <a:ext cx="329184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escola.sqlite3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937760" y="2313432"/>
            <a:ext cx="329184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.venv/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937760" y="2724912"/>
            <a:ext cx="329184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__pycache__/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937760" y="3136392"/>
            <a:ext cx="329184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.env</a:t>
            </a:r>
            <a:endParaRPr lang="en-US" sz="1400" dirty="0"/>
          </a:p>
        </p:txBody>
      </p:sp>
      <p:sp>
        <p:nvSpPr>
          <p:cNvPr id="20" name="destaque"/>
          <p:cNvSpPr/>
          <p:nvPr/>
        </p:nvSpPr>
        <p:spPr>
          <a:xfrm>
            <a:off x="768096" y="3794760"/>
            <a:ext cx="7607808" cy="777240"/>
          </a:xfrm>
          <a:prstGeom prst="roundRect">
            <a:avLst>
              <a:gd name="adj" fmla="val 7059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50976" y="395478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4064508"/>
            <a:ext cx="237744" cy="23774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72768" y="3794760"/>
            <a:ext cx="6647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97B"/>
                </a:solidFill>
              </a:rPr>
              <a:t>Descontos: </a:t>
            </a:r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arquivo proibido no zip −0,5 · migrations faltando −1,0 · erro de sintaxe −2,0 · SQL com f-string zera o item 4.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O teste final: rodar do zero</a:t>
            </a:r>
            <a:endParaRPr lang="en-US" sz="3200" dirty="0"/>
          </a:p>
        </p:txBody>
      </p:sp>
      <p:sp>
        <p:nvSpPr>
          <p:cNvPr id="4" name="codigo fundo"/>
          <p:cNvSpPr/>
          <p:nvPr/>
        </p:nvSpPr>
        <p:spPr>
          <a:xfrm>
            <a:off x="768096" y="1188720"/>
            <a:ext cx="4937760" cy="3429000"/>
          </a:xfrm>
          <a:prstGeom prst="roundRect">
            <a:avLst>
              <a:gd name="adj" fmla="val 2133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32688" y="1307592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78992" y="1307592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25296" y="1307592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426464" y="1243584"/>
            <a:ext cx="41148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PowerShell, numa pasta nova</a:t>
            </a:r>
            <a:endParaRPr lang="en-US" sz="900" dirty="0"/>
          </a:p>
        </p:txBody>
      </p:sp>
      <p:sp>
        <p:nvSpPr>
          <p:cNvPr id="9" name="codigo texto"/>
          <p:cNvSpPr txBox="1"/>
          <p:nvPr/>
        </p:nvSpPr>
        <p:spPr>
          <a:xfrm>
            <a:off x="987552" y="1572768"/>
            <a:ext cx="4572000" cy="29535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# descompacte o zip da entrega aqui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python</a:t>
            </a:r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-m venv .venv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.venv\Scripts\activate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pip</a:t>
            </a:r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install -r requirements.txt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python</a:t>
            </a:r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manage.py migrate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python</a:t>
            </a:r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manage.py seed_demo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python</a:t>
            </a:r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verificar.py        </a:t>
            </a:r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# 0 FALHA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python</a:t>
            </a:r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manage.py runserver</a:t>
            </a:r>
            <a:endParaRPr lang="en-US" sz="1300" dirty="0"/>
          </a:p>
        </p:txBody>
      </p:sp>
      <p:sp>
        <p:nvSpPr>
          <p:cNvPr id="10" name="card Pasta limpa"/>
          <p:cNvSpPr/>
          <p:nvPr/>
        </p:nvSpPr>
        <p:spPr>
          <a:xfrm>
            <a:off x="5888736" y="1188720"/>
            <a:ext cx="2487168" cy="1627632"/>
          </a:xfrm>
          <a:prstGeom prst="roundRect">
            <a:avLst>
              <a:gd name="adj" fmla="val 3371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089904" y="1371600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2799" y="1494495"/>
            <a:ext cx="266273" cy="26627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757416" y="1371600"/>
            <a:ext cx="1435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Pasta limpa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6117336" y="1993392"/>
            <a:ext cx="20756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A3F44"/>
                </a:solidFill>
              </a:rPr>
              <a:t>Se não sobe do zero aqui, não sobe na correção.</a:t>
            </a:r>
            <a:endParaRPr lang="en-US" sz="1300" dirty="0"/>
          </a:p>
        </p:txBody>
      </p:sp>
      <p:sp>
        <p:nvSpPr>
          <p:cNvPr id="15" name="card Outra máquina"/>
          <p:cNvSpPr/>
          <p:nvPr/>
        </p:nvSpPr>
        <p:spPr>
          <a:xfrm>
            <a:off x="5888736" y="2990088"/>
            <a:ext cx="2487168" cy="1627632"/>
          </a:xfrm>
          <a:prstGeom prst="roundRect">
            <a:avLst>
              <a:gd name="adj" fmla="val 3371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089904" y="317296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2799" y="3295863"/>
            <a:ext cx="266273" cy="26627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757416" y="3172968"/>
            <a:ext cx="1435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Outra máquina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117336" y="3794760"/>
            <a:ext cx="20756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A3F44"/>
                </a:solidFill>
              </a:rPr>
              <a:t>Façam no notebook de outro integrante do grupo.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Para levar da disciplina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768096" y="1234440"/>
            <a:ext cx="7607808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0976" y="1371600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50976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234440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F44"/>
                </a:solidFill>
              </a:rPr>
              <a:t>RAD é ciclo curto com retorno do usuário: requisitos, design, construção e transição.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68096" y="2039112"/>
            <a:ext cx="7607808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0976" y="2176272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50976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039112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F44"/>
                </a:solidFill>
              </a:rPr>
              <a:t>O framework assume o trabalho mecânico. Onde mora a regra e o que proteger continua com vocês.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68096" y="2843784"/>
            <a:ext cx="7607808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50976" y="2980944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50976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2843784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F44"/>
                </a:solidFill>
              </a:rPr>
              <a:t>Escolham a ferramenta pelo contexto: desktop ou web, arquivo ou banco.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68096" y="3648456"/>
            <a:ext cx="7607808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50976" y="3785616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50976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3648456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F44"/>
                </a:solidFill>
              </a:rPr>
              <a:t>Código que vocês não sabem explicar não é de vocês, com ou sem IA.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996696" y="1737360"/>
            <a:ext cx="4434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Prática: arguição simulada</a:t>
            </a:r>
            <a:endParaRPr lang="en-US" sz="4000" dirty="0"/>
          </a:p>
        </p:txBody>
      </p:sp>
      <p:sp>
        <p:nvSpPr>
          <p:cNvPr id="3" name="Text 4"/>
          <p:cNvSpPr/>
          <p:nvPr>
            <p:ph idx="105" type="body" hasCustomPrompt="1"/>
          </p:nvPr>
        </p:nvSpPr>
        <p:spPr>
          <a:xfrm>
            <a:off x="996696" y="324612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Arguição cruzada entre grupos · auditoria da entrega</a:t>
            </a:r>
            <a:endParaRPr lang="en-US" sz="1600" dirty="0"/>
          </a:p>
        </p:txBody>
      </p:sp>
      <p:sp>
        <p:nvSpPr>
          <p:cNvPr id="4" name="capa fundo"/>
          <p:cNvSpPr/>
          <p:nvPr/>
        </p:nvSpPr>
        <p:spPr>
          <a:xfrm>
            <a:off x="5669280" y="2102206"/>
            <a:ext cx="3246120" cy="939089"/>
          </a:xfrm>
          <a:prstGeom prst="roundRect">
            <a:avLst>
              <a:gd name="adj" fmla="val 7790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33872" y="2221078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80176" y="2221078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0" y="2221078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27648" y="2157070"/>
            <a:ext cx="24231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terminal</a:t>
            </a:r>
            <a:endParaRPr lang="en-US" sz="900" dirty="0"/>
          </a:p>
        </p:txBody>
      </p:sp>
      <p:sp>
        <p:nvSpPr>
          <p:cNvPr id="9" name="capa texto"/>
          <p:cNvSpPr txBox="1"/>
          <p:nvPr/>
        </p:nvSpPr>
        <p:spPr>
          <a:xfrm>
            <a:off x="5888736" y="2486254"/>
            <a:ext cx="2880360" cy="4636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python manage.py runserver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python verificar.py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Prática 1: arguição cruzada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6784848" y="512064"/>
            <a:ext cx="1591056" cy="274320"/>
          </a:xfrm>
          <a:prstGeom prst="roundRect">
            <a:avLst>
              <a:gd name="adj" fmla="val 50000"/>
            </a:avLst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84848" y="5120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≈ 30 min</a:t>
            </a:r>
            <a:endParaRPr lang="en-US" sz="1100" dirty="0"/>
          </a:p>
        </p:txBody>
      </p:sp>
      <p:sp>
        <p:nvSpPr>
          <p:cNvPr id="6" name="passo 1"/>
          <p:cNvSpPr/>
          <p:nvPr/>
        </p:nvSpPr>
        <p:spPr>
          <a:xfrm>
            <a:off x="768096" y="1143000"/>
            <a:ext cx="4480560" cy="804672"/>
          </a:xfrm>
          <a:prstGeom prst="roundRect">
            <a:avLst>
              <a:gd name="adj" fmla="val 6818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0976" y="1325880"/>
            <a:ext cx="402336" cy="402336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50976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517904" y="13075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Pares de grupos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17904" y="1691640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A argui B por 12 minutos; depois invertem.</a:t>
            </a:r>
            <a:endParaRPr lang="en-US" sz="1300" dirty="0"/>
          </a:p>
        </p:txBody>
      </p:sp>
      <p:sp>
        <p:nvSpPr>
          <p:cNvPr id="11" name="passo 2"/>
          <p:cNvSpPr/>
          <p:nvPr/>
        </p:nvSpPr>
        <p:spPr>
          <a:xfrm>
            <a:off x="768096" y="2039112"/>
            <a:ext cx="4480560" cy="804672"/>
          </a:xfrm>
          <a:prstGeom prst="roundRect">
            <a:avLst>
              <a:gd name="adj" fmla="val 6818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0976" y="2221992"/>
            <a:ext cx="402336" cy="402336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50976" y="2221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517904" y="220370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Sorteiem quem responde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517904" y="2587752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Perguntas do slide 15, sem consultar o código.</a:t>
            </a:r>
            <a:endParaRPr lang="en-US" sz="1300" dirty="0"/>
          </a:p>
        </p:txBody>
      </p:sp>
      <p:sp>
        <p:nvSpPr>
          <p:cNvPr id="16" name="passo 3"/>
          <p:cNvSpPr/>
          <p:nvPr/>
        </p:nvSpPr>
        <p:spPr>
          <a:xfrm>
            <a:off x="768096" y="2935224"/>
            <a:ext cx="4480560" cy="804672"/>
          </a:xfrm>
          <a:prstGeom prst="roundRect">
            <a:avLst>
              <a:gd name="adj" fmla="val 6818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50976" y="3118104"/>
            <a:ext cx="402336" cy="402336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50976" y="3118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517904" y="309981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Uma alteração ao vivo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517904" y="3483864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O grupo arguidor escolhe um pedido do slide 18.</a:t>
            </a:r>
            <a:endParaRPr lang="en-US" sz="1300" dirty="0"/>
          </a:p>
        </p:txBody>
      </p:sp>
      <p:sp>
        <p:nvSpPr>
          <p:cNvPr id="21" name="passo 4"/>
          <p:cNvSpPr/>
          <p:nvPr/>
        </p:nvSpPr>
        <p:spPr>
          <a:xfrm>
            <a:off x="768096" y="3831336"/>
            <a:ext cx="4480560" cy="804672"/>
          </a:xfrm>
          <a:prstGeom prst="roundRect">
            <a:avLst>
              <a:gd name="adj" fmla="val 6818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0976" y="4014216"/>
            <a:ext cx="402336" cy="402336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50976" y="4014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517904" y="39959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Anotem o que travou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1517904" y="4379976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Cada pergunta sem resposta vira tarefa de estudo.</a:t>
            </a:r>
            <a:endParaRPr lang="en-US" sz="1300" dirty="0"/>
          </a:p>
        </p:txBody>
      </p:sp>
      <p:sp>
        <p:nvSpPr>
          <p:cNvPr id="26" name="ficha"/>
          <p:cNvSpPr/>
          <p:nvPr/>
        </p:nvSpPr>
        <p:spPr>
          <a:xfrm>
            <a:off x="5431536" y="1143000"/>
            <a:ext cx="2944368" cy="3493008"/>
          </a:xfrm>
          <a:prstGeom prst="roundRect">
            <a:avLst>
              <a:gd name="adj" fmla="val 186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614416" y="1280160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28533" y="1394277"/>
            <a:ext cx="247254" cy="247254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6217920" y="12801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Ficha do arguidor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632704" y="2029968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1185A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989320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Explicou com as próprias palavras?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5632704" y="2670048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1185A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989320" y="257860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Apontou o arquivo certo?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632704" y="3310128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1185AA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989320" y="321868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Disse o porquê, não só o quê?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5632704" y="3950208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1185A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989320" y="38587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A alteração rodou?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Prática 2: auditoria da entrega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6784848" y="512064"/>
            <a:ext cx="1591056" cy="274320"/>
          </a:xfrm>
          <a:prstGeom prst="roundRect">
            <a:avLst>
              <a:gd name="adj" fmla="val 50000"/>
            </a:avLst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84848" y="5120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até o fim da aula</a:t>
            </a:r>
            <a:endParaRPr lang="en-US" sz="1100" dirty="0"/>
          </a:p>
        </p:txBody>
      </p:sp>
      <p:sp>
        <p:nvSpPr>
          <p:cNvPr id="6" name="passo 1"/>
          <p:cNvSpPr/>
          <p:nvPr/>
        </p:nvSpPr>
        <p:spPr>
          <a:xfrm>
            <a:off x="768096" y="1188720"/>
            <a:ext cx="4480560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0976" y="1371600"/>
            <a:ext cx="402336" cy="402336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50976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517904" y="13533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Rodem do zero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17904" y="173736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Do próprio zip, numa pasta nova, com os comandos do slide 20.</a:t>
            </a:r>
            <a:endParaRPr lang="en-US" sz="1300" dirty="0"/>
          </a:p>
        </p:txBody>
      </p:sp>
      <p:sp>
        <p:nvSpPr>
          <p:cNvPr id="11" name="passo 2"/>
          <p:cNvSpPr/>
          <p:nvPr/>
        </p:nvSpPr>
        <p:spPr>
          <a:xfrm>
            <a:off x="768096" y="2377440"/>
            <a:ext cx="4480560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0976" y="2560320"/>
            <a:ext cx="402336" cy="402336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50976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517904" y="254203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Confiram o checklist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517904" y="292608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Zip sem banco, </a:t>
            </a:r>
            <a:pPr indent="0" marL="0"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.venv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 e </a:t>
            </a:r>
            <a:pPr indent="0" marL="0"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__pycache__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; com migrations.</a:t>
            </a:r>
            <a:endParaRPr lang="en-US" sz="1300" dirty="0"/>
          </a:p>
        </p:txBody>
      </p:sp>
      <p:sp>
        <p:nvSpPr>
          <p:cNvPr id="16" name="passo 3"/>
          <p:cNvSpPr/>
          <p:nvPr/>
        </p:nvSpPr>
        <p:spPr>
          <a:xfrm>
            <a:off x="768096" y="3566160"/>
            <a:ext cx="4480560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50976" y="3749040"/>
            <a:ext cx="402336" cy="402336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50976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517904" y="37307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Revisem o README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517904" y="411480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Modelo, </a:t>
            </a:r>
            <a:pPr indent="0" marL="0"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on_delete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 justificado, decisões e uso de IA.</a:t>
            </a:r>
            <a:endParaRPr lang="en-US" sz="1300" dirty="0"/>
          </a:p>
        </p:txBody>
      </p:sp>
      <p:sp>
        <p:nvSpPr>
          <p:cNvPr id="21" name="readme"/>
          <p:cNvSpPr/>
          <p:nvPr/>
        </p:nvSpPr>
        <p:spPr>
          <a:xfrm>
            <a:off x="5431536" y="1188720"/>
            <a:ext cx="2944368" cy="3401568"/>
          </a:xfrm>
          <a:prstGeom prst="roundRect">
            <a:avLst>
              <a:gd name="adj" fmla="val 186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14416" y="129844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O README tem</a:t>
            </a:r>
            <a:endParaRPr lang="en-US" sz="16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4416" y="1856232"/>
            <a:ext cx="182880" cy="18288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907024" y="17647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o modelo de dados e o diagrama</a:t>
            </a:r>
            <a:endParaRPr lang="en-US" sz="1300" dirty="0"/>
          </a:p>
        </p:txBody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386584"/>
            <a:ext cx="182880" cy="18288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5907024" y="22951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a justificativa de cada </a:t>
            </a:r>
            <a:pPr indent="0" marL="0"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on_delete</a:t>
            </a:r>
            <a:endParaRPr lang="en-US" sz="130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4416" y="2916936"/>
            <a:ext cx="182880" cy="18288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907024" y="282549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as decisões do bônus, se houver</a:t>
            </a:r>
            <a:endParaRPr lang="en-US" sz="130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4416" y="3447288"/>
            <a:ext cx="182880" cy="18288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5907024" y="335584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o que foi feito com IA e o que o grupo revisou</a:t>
            </a:r>
            <a:endParaRPr lang="en-US" sz="1300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4416" y="3977640"/>
            <a:ext cx="182880" cy="1828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907024" y="38862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como instalar e rodar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996696" y="1737360"/>
            <a:ext cx="4434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Boa entrega</a:t>
            </a:r>
            <a:endParaRPr lang="en-US" sz="4000" dirty="0"/>
          </a:p>
        </p:txBody>
      </p:sp>
      <p:sp>
        <p:nvSpPr>
          <p:cNvPr id="3" name="Text 4"/>
          <p:cNvSpPr/>
          <p:nvPr>
            <p:ph idx="105" type="body" hasCustomPrompt="1"/>
          </p:nvPr>
        </p:nvSpPr>
        <p:spPr>
          <a:xfrm>
            <a:off x="996696" y="324612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ARA0095_Django_&lt;sobrenomes&gt;.zip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Com migrations, sem banco, com README.</a:t>
            </a:r>
            <a:endParaRPr lang="en-US" sz="1600" dirty="0"/>
          </a:p>
        </p:txBody>
      </p:sp>
      <p:sp>
        <p:nvSpPr>
          <p:cNvPr id="4" name="capa fundo"/>
          <p:cNvSpPr/>
          <p:nvPr/>
        </p:nvSpPr>
        <p:spPr>
          <a:xfrm>
            <a:off x="5669280" y="2102206"/>
            <a:ext cx="3246120" cy="939089"/>
          </a:xfrm>
          <a:prstGeom prst="roundRect">
            <a:avLst>
              <a:gd name="adj" fmla="val 7790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33872" y="2221078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80176" y="2221078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0" y="2221078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27648" y="2157070"/>
            <a:ext cx="24231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terminal</a:t>
            </a:r>
            <a:endParaRPr lang="en-US" sz="900" dirty="0"/>
          </a:p>
        </p:txBody>
      </p:sp>
      <p:sp>
        <p:nvSpPr>
          <p:cNvPr id="9" name="capa texto"/>
          <p:cNvSpPr txBox="1"/>
          <p:nvPr/>
        </p:nvSpPr>
        <p:spPr>
          <a:xfrm>
            <a:off x="5888736" y="2486254"/>
            <a:ext cx="2880360" cy="4636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python verificar.py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# 0 FALHA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Respostas: perguntas 1 a 4</a:t>
            </a:r>
            <a:endParaRPr lang="en-US" sz="3200" dirty="0"/>
          </a:p>
        </p:txBody>
      </p:sp>
      <p:sp>
        <p:nvSpPr>
          <p:cNvPr id="9001" name="resposta"/>
          <p:cNvSpPr/>
          <p:nvPr/>
        </p:nvSpPr>
        <p:spPr>
          <a:xfrm>
            <a:off x="768096" y="1097280"/>
            <a:ext cx="7607808" cy="749808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02" name="numero"/>
          <p:cNvSpPr/>
          <p:nvPr/>
        </p:nvSpPr>
        <p:spPr>
          <a:xfrm>
            <a:off x="914400" y="1280160"/>
            <a:ext cx="384048" cy="384048"/>
          </a:xfrm>
          <a:prstGeom prst="ellipse">
            <a:avLst/>
          </a:prstGeom>
          <a:solidFill>
            <a:srgbClr val="1185AA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03" name="texto"/>
          <p:cNvSpPr txBox="1"/>
          <p:nvPr/>
        </p:nvSpPr>
        <p:spPr>
          <a:xfrm>
            <a:off x="914400" y="12801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pt-BR" sz="1400" b="1" dirty="0">
                <a:solidFill>
                  <a:srgbClr val="FFFFFF"/>
                </a:solidFill>
              </a:rPr>
              <a:t>1</a:t>
            </a:r>
            <a:endParaRPr lang="pt-BR" sz="1400" dirty="0"/>
          </a:p>
        </p:txBody>
      </p:sp>
      <p:sp>
        <p:nvSpPr>
          <p:cNvPr id="9004" name="texto"/>
          <p:cNvSpPr txBox="1"/>
          <p:nvPr/>
        </p:nvSpPr>
        <p:spPr>
          <a:xfrm>
            <a:off x="1481328" y="1097280"/>
            <a:ext cx="6729984" cy="7498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00397B"/>
                </a:solidFill>
              </a:rPr>
              <a:t xml:space="preserve">Por que </a:t>
            </a:r>
            <a:r>
              <a:rPr lang="pt-BR" sz="1150" b="1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nota1</a:t>
            </a:r>
            <a:r>
              <a:rPr lang="pt-BR" sz="1300" b="1" dirty="0">
                <a:solidFill>
                  <a:srgbClr val="00397B"/>
                </a:solidFill>
              </a:rPr>
              <a:t xml:space="preserve"> fica em </a:t>
            </a:r>
            <a:r>
              <a:rPr lang="pt-BR" sz="1150" b="1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inscricao</a:t>
            </a:r>
            <a:r>
              <a:rPr lang="pt-BR" sz="1300" b="1" dirty="0">
                <a:solidFill>
                  <a:srgbClr val="00397B"/>
                </a:solidFill>
              </a:rPr>
              <a:t>?</a:t>
            </a:r>
            <a:endParaRPr lang="pt-BR" sz="1300" dirty="0"/>
          </a:p>
          <a:p>
            <a:pPr marL="0" indent="0">
              <a:buNone/>
            </a:pPr>
            <a:r>
              <a:rPr lang="pt-BR" sz="1150" dirty="0">
                <a:solidFill>
                  <a:srgbClr val="3A3F44"/>
                </a:solidFill>
              </a:rPr>
              <a:t xml:space="preserve">A nota não é do aluno (ele tem uma por disciplina) nem da disciplina (ela tem uma por aluno): é do encontro entre os dois, a tabela </a:t>
            </a:r>
            <a:r>
              <a:rPr lang="pt-BR" sz="1000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inscricao</a:t>
            </a:r>
            <a:r>
              <a:rPr lang="pt-BR" sz="1150" dirty="0">
                <a:solidFill>
                  <a:srgbClr val="3A3F44"/>
                </a:solidFill>
              </a:rPr>
              <a:t>.</a:t>
            </a:r>
            <a:endParaRPr lang="pt-BR" sz="1150" dirty="0"/>
          </a:p>
        </p:txBody>
      </p:sp>
      <p:sp>
        <p:nvSpPr>
          <p:cNvPr id="9005" name="resposta"/>
          <p:cNvSpPr/>
          <p:nvPr/>
        </p:nvSpPr>
        <p:spPr>
          <a:xfrm>
            <a:off x="768096" y="1965960"/>
            <a:ext cx="7607808" cy="749808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06" name="numero"/>
          <p:cNvSpPr/>
          <p:nvPr/>
        </p:nvSpPr>
        <p:spPr>
          <a:xfrm>
            <a:off x="914400" y="2148840"/>
            <a:ext cx="384048" cy="384048"/>
          </a:xfrm>
          <a:prstGeom prst="ellipse">
            <a:avLst/>
          </a:prstGeom>
          <a:solidFill>
            <a:srgbClr val="1185AA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07" name="texto"/>
          <p:cNvSpPr txBox="1"/>
          <p:nvPr/>
        </p:nvSpPr>
        <p:spPr>
          <a:xfrm>
            <a:off x="914400" y="214884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pt-BR" sz="1400" b="1" dirty="0">
                <a:solidFill>
                  <a:srgbClr val="FFFFFF"/>
                </a:solidFill>
              </a:rPr>
              <a:t>2</a:t>
            </a:r>
            <a:endParaRPr lang="pt-BR" sz="1400" dirty="0"/>
          </a:p>
        </p:txBody>
      </p:sp>
      <p:sp>
        <p:nvSpPr>
          <p:cNvPr id="9008" name="texto"/>
          <p:cNvSpPr txBox="1"/>
          <p:nvPr/>
        </p:nvSpPr>
        <p:spPr>
          <a:xfrm>
            <a:off x="1481328" y="1965960"/>
            <a:ext cx="6729984" cy="7498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00397B"/>
                </a:solidFill>
              </a:rPr>
              <a:t xml:space="preserve">Por que </a:t>
            </a:r>
            <a:r>
              <a:rPr lang="pt-BR" sz="1150" b="1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PROTECT</a:t>
            </a:r>
            <a:r>
              <a:rPr lang="pt-BR" sz="1300" b="1" dirty="0">
                <a:solidFill>
                  <a:srgbClr val="00397B"/>
                </a:solidFill>
              </a:rPr>
              <a:t xml:space="preserve">, e não </a:t>
            </a:r>
            <a:r>
              <a:rPr lang="pt-BR" sz="1150" b="1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CASCADE</a:t>
            </a:r>
            <a:r>
              <a:rPr lang="pt-BR" sz="1300" b="1" dirty="0">
                <a:solidFill>
                  <a:srgbClr val="00397B"/>
                </a:solidFill>
              </a:rPr>
              <a:t>?</a:t>
            </a:r>
            <a:endParaRPr lang="pt-BR" sz="1300" dirty="0"/>
          </a:p>
          <a:p>
            <a:pPr marL="0" indent="0">
              <a:buNone/>
            </a:pPr>
            <a:r>
              <a:rPr lang="pt-BR" sz="1000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CASCADE</a:t>
            </a:r>
            <a:r>
              <a:rPr lang="pt-BR" sz="1150" dirty="0">
                <a:solidFill>
                  <a:srgbClr val="3A3F44"/>
                </a:solidFill>
              </a:rPr>
              <a:t xml:space="preserve"> apagaria inscrições e notas junto com o aluno, sem aviso. Com </a:t>
            </a:r>
            <a:r>
              <a:rPr lang="pt-BR" sz="1000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PROTECT</a:t>
            </a:r>
            <a:r>
              <a:rPr lang="pt-BR" sz="1150" dirty="0">
                <a:solidFill>
                  <a:srgbClr val="3A3F44"/>
                </a:solidFill>
              </a:rPr>
              <a:t xml:space="preserve"> o banco recusa (</a:t>
            </a:r>
            <a:r>
              <a:rPr lang="pt-BR" sz="1000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ProtectedError</a:t>
            </a:r>
            <a:r>
              <a:rPr lang="pt-BR" sz="1150" dirty="0">
                <a:solidFill>
                  <a:srgbClr val="3A3F44"/>
                </a:solidFill>
              </a:rPr>
              <a:t>) e a view transforma o erro em mensagem.</a:t>
            </a:r>
            <a:endParaRPr lang="pt-BR" sz="1150" dirty="0"/>
          </a:p>
        </p:txBody>
      </p:sp>
      <p:sp>
        <p:nvSpPr>
          <p:cNvPr id="9009" name="resposta"/>
          <p:cNvSpPr/>
          <p:nvPr/>
        </p:nvSpPr>
        <p:spPr>
          <a:xfrm>
            <a:off x="768096" y="2834640"/>
            <a:ext cx="7607808" cy="749808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10" name="numero"/>
          <p:cNvSpPr/>
          <p:nvPr/>
        </p:nvSpPr>
        <p:spPr>
          <a:xfrm>
            <a:off x="914400" y="3017520"/>
            <a:ext cx="384048" cy="384048"/>
          </a:xfrm>
          <a:prstGeom prst="ellipse">
            <a:avLst/>
          </a:prstGeom>
          <a:solidFill>
            <a:srgbClr val="1185AA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11" name="texto"/>
          <p:cNvSpPr txBox="1"/>
          <p:nvPr/>
        </p:nvSpPr>
        <p:spPr>
          <a:xfrm>
            <a:off x="914400" y="30175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pt-BR" sz="1400" b="1" dirty="0">
                <a:solidFill>
                  <a:srgbClr val="FFFFFF"/>
                </a:solidFill>
              </a:rPr>
              <a:t>3</a:t>
            </a:r>
            <a:endParaRPr lang="pt-BR" sz="1400" dirty="0"/>
          </a:p>
        </p:txBody>
      </p:sp>
      <p:sp>
        <p:nvSpPr>
          <p:cNvPr id="9012" name="texto"/>
          <p:cNvSpPr txBox="1"/>
          <p:nvPr/>
        </p:nvSpPr>
        <p:spPr>
          <a:xfrm>
            <a:off x="1481328" y="2834640"/>
            <a:ext cx="6729984" cy="7498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00397B"/>
                </a:solidFill>
              </a:rPr>
              <a:t>Qual a única diferença entre criar e editar?</a:t>
            </a:r>
            <a:endParaRPr lang="pt-BR" sz="1300" dirty="0"/>
          </a:p>
          <a:p>
            <a:pPr marL="0" indent="0">
              <a:buNone/>
            </a:pPr>
            <a:r>
              <a:rPr lang="pt-BR" sz="1150" dirty="0">
                <a:solidFill>
                  <a:srgbClr val="3A3F44"/>
                </a:solidFill>
              </a:rPr>
              <a:t xml:space="preserve">Buscar o objeto com </a:t>
            </a:r>
            <a:r>
              <a:rPr lang="pt-BR" sz="1000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get_object_or_404</a:t>
            </a:r>
            <a:r>
              <a:rPr lang="pt-BR" sz="1150" dirty="0">
                <a:solidFill>
                  <a:srgbClr val="3A3F44"/>
                </a:solidFill>
              </a:rPr>
              <a:t xml:space="preserve"> e passar </a:t>
            </a:r>
            <a:r>
              <a:rPr lang="pt-BR" sz="1000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instance=</a:t>
            </a:r>
            <a:r>
              <a:rPr lang="pt-BR" sz="1150" dirty="0">
                <a:solidFill>
                  <a:srgbClr val="3A3F44"/>
                </a:solidFill>
              </a:rPr>
              <a:t xml:space="preserve"> ao form. Sem </a:t>
            </a:r>
            <a:r>
              <a:rPr lang="pt-BR" sz="1000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instance=</a:t>
            </a:r>
            <a:r>
              <a:rPr lang="pt-BR" sz="1150" dirty="0">
                <a:solidFill>
                  <a:srgbClr val="3A3F44"/>
                </a:solidFill>
              </a:rPr>
              <a:t xml:space="preserve">, o </a:t>
            </a:r>
            <a:r>
              <a:rPr lang="pt-BR" sz="1000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save()</a:t>
            </a:r>
            <a:r>
              <a:rPr lang="pt-BR" sz="1150" dirty="0">
                <a:solidFill>
                  <a:srgbClr val="3A3F44"/>
                </a:solidFill>
              </a:rPr>
              <a:t xml:space="preserve"> faz INSERT e cria outro registro.</a:t>
            </a:r>
            <a:endParaRPr lang="pt-BR" sz="1150" dirty="0"/>
          </a:p>
        </p:txBody>
      </p:sp>
      <p:sp>
        <p:nvSpPr>
          <p:cNvPr id="9013" name="resposta"/>
          <p:cNvSpPr/>
          <p:nvPr/>
        </p:nvSpPr>
        <p:spPr>
          <a:xfrm>
            <a:off x="768096" y="3703320"/>
            <a:ext cx="7607808" cy="749808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14" name="numero"/>
          <p:cNvSpPr/>
          <p:nvPr/>
        </p:nvSpPr>
        <p:spPr>
          <a:xfrm>
            <a:off x="914400" y="3886200"/>
            <a:ext cx="384048" cy="384048"/>
          </a:xfrm>
          <a:prstGeom prst="ellipse">
            <a:avLst/>
          </a:prstGeom>
          <a:solidFill>
            <a:srgbClr val="1185AA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15" name="texto"/>
          <p:cNvSpPr txBox="1"/>
          <p:nvPr/>
        </p:nvSpPr>
        <p:spPr>
          <a:xfrm>
            <a:off x="914400" y="388620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pt-BR" sz="1400" b="1" dirty="0">
                <a:solidFill>
                  <a:srgbClr val="FFFFFF"/>
                </a:solidFill>
              </a:rPr>
              <a:t>4</a:t>
            </a:r>
            <a:endParaRPr lang="pt-BR" sz="1400" dirty="0"/>
          </a:p>
        </p:txBody>
      </p:sp>
      <p:sp>
        <p:nvSpPr>
          <p:cNvPr id="9016" name="texto"/>
          <p:cNvSpPr txBox="1"/>
          <p:nvPr/>
        </p:nvSpPr>
        <p:spPr>
          <a:xfrm>
            <a:off x="1481328" y="3703320"/>
            <a:ext cx="6729984" cy="7498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00397B"/>
                </a:solidFill>
              </a:rPr>
              <a:t>Por que redirecionar depois de salvar?</a:t>
            </a:r>
            <a:endParaRPr lang="pt-BR" sz="1300" dirty="0"/>
          </a:p>
          <a:p>
            <a:pPr marL="0" indent="0">
              <a:buNone/>
            </a:pPr>
            <a:r>
              <a:rPr lang="pt-BR" sz="1150" dirty="0">
                <a:solidFill>
                  <a:srgbClr val="3A3F44"/>
                </a:solidFill>
              </a:rPr>
              <a:t xml:space="preserve">POST/Redirect/GET: sem o </a:t>
            </a:r>
            <a:r>
              <a:rPr lang="pt-BR" sz="1000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redirect()</a:t>
            </a:r>
            <a:r>
              <a:rPr lang="pt-BR" sz="1150" dirty="0">
                <a:solidFill>
                  <a:srgbClr val="3A3F44"/>
                </a:solidFill>
              </a:rPr>
              <a:t>, o F5 reenvia o POST e duplica o cadastro. Com ele, o F5 repete só o GET da lista.</a:t>
            </a:r>
            <a:endParaRPr lang="pt-BR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Respostas: perguntas 5 a 8</a:t>
            </a:r>
            <a:endParaRPr lang="en-US" sz="3200" dirty="0"/>
          </a:p>
        </p:txBody>
      </p:sp>
      <p:sp>
        <p:nvSpPr>
          <p:cNvPr id="9017" name="resposta"/>
          <p:cNvSpPr/>
          <p:nvPr/>
        </p:nvSpPr>
        <p:spPr>
          <a:xfrm>
            <a:off x="768096" y="1097280"/>
            <a:ext cx="7607808" cy="749808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18" name="numero"/>
          <p:cNvSpPr/>
          <p:nvPr/>
        </p:nvSpPr>
        <p:spPr>
          <a:xfrm>
            <a:off x="914400" y="1280160"/>
            <a:ext cx="384048" cy="384048"/>
          </a:xfrm>
          <a:prstGeom prst="ellipse">
            <a:avLst/>
          </a:prstGeom>
          <a:solidFill>
            <a:srgbClr val="1185AA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19" name="texto"/>
          <p:cNvSpPr txBox="1"/>
          <p:nvPr/>
        </p:nvSpPr>
        <p:spPr>
          <a:xfrm>
            <a:off x="914400" y="12801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pt-BR" sz="1400" b="1" dirty="0">
                <a:solidFill>
                  <a:srgbClr val="FFFFFF"/>
                </a:solidFill>
              </a:rPr>
              <a:t>5</a:t>
            </a:r>
            <a:endParaRPr lang="pt-BR" sz="1400" dirty="0"/>
          </a:p>
        </p:txBody>
      </p:sp>
      <p:sp>
        <p:nvSpPr>
          <p:cNvPr id="9020" name="texto"/>
          <p:cNvSpPr txBox="1"/>
          <p:nvPr/>
        </p:nvSpPr>
        <p:spPr>
          <a:xfrm>
            <a:off x="1481328" y="1097280"/>
            <a:ext cx="6729984" cy="7498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00397B"/>
                </a:solidFill>
              </a:rPr>
              <a:t>Por que a exclusão só acontece no POST?</a:t>
            </a:r>
            <a:endParaRPr lang="pt-BR" sz="1300" dirty="0"/>
          </a:p>
          <a:p>
            <a:pPr marL="0" indent="0">
              <a:buNone/>
            </a:pPr>
            <a:r>
              <a:rPr lang="pt-BR" sz="1150" dirty="0">
                <a:solidFill>
                  <a:srgbClr val="3A3F44"/>
                </a:solidFill>
              </a:rPr>
              <a:t xml:space="preserve">GET é para ler: robôs, pré-carregadores e links disparam GET sozinhos. O GET mostra a confirmação; o POST, com </a:t>
            </a:r>
            <a:r>
              <a:rPr lang="pt-BR" sz="1000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csrf_token</a:t>
            </a:r>
            <a:r>
              <a:rPr lang="pt-BR" sz="1150" dirty="0">
                <a:solidFill>
                  <a:srgbClr val="3A3F44"/>
                </a:solidFill>
              </a:rPr>
              <a:t>, exclui.</a:t>
            </a:r>
            <a:endParaRPr lang="pt-BR" sz="1150" dirty="0"/>
          </a:p>
        </p:txBody>
      </p:sp>
      <p:sp>
        <p:nvSpPr>
          <p:cNvPr id="9021" name="resposta"/>
          <p:cNvSpPr/>
          <p:nvPr/>
        </p:nvSpPr>
        <p:spPr>
          <a:xfrm>
            <a:off x="768096" y="1965960"/>
            <a:ext cx="7607808" cy="749808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22" name="numero"/>
          <p:cNvSpPr/>
          <p:nvPr/>
        </p:nvSpPr>
        <p:spPr>
          <a:xfrm>
            <a:off x="914400" y="2148840"/>
            <a:ext cx="384048" cy="384048"/>
          </a:xfrm>
          <a:prstGeom prst="ellipse">
            <a:avLst/>
          </a:prstGeom>
          <a:solidFill>
            <a:srgbClr val="1185AA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23" name="texto"/>
          <p:cNvSpPr txBox="1"/>
          <p:nvPr/>
        </p:nvSpPr>
        <p:spPr>
          <a:xfrm>
            <a:off x="914400" y="214884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pt-BR" sz="1400" b="1" dirty="0">
                <a:solidFill>
                  <a:srgbClr val="FFFFFF"/>
                </a:solidFill>
              </a:rPr>
              <a:t>6</a:t>
            </a:r>
            <a:endParaRPr lang="pt-BR" sz="1400" dirty="0"/>
          </a:p>
        </p:txBody>
      </p:sp>
      <p:sp>
        <p:nvSpPr>
          <p:cNvPr id="9024" name="texto"/>
          <p:cNvSpPr txBox="1"/>
          <p:nvPr/>
        </p:nvSpPr>
        <p:spPr>
          <a:xfrm>
            <a:off x="1481328" y="1965960"/>
            <a:ext cx="6729984" cy="7498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00397B"/>
                </a:solidFill>
              </a:rPr>
              <a:t xml:space="preserve">O que o </a:t>
            </a:r>
            <a:r>
              <a:rPr lang="pt-BR" sz="1150" b="1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select_related</a:t>
            </a:r>
            <a:r>
              <a:rPr lang="pt-BR" sz="1300" b="1" dirty="0">
                <a:solidFill>
                  <a:srgbClr val="00397B"/>
                </a:solidFill>
              </a:rPr>
              <a:t xml:space="preserve"> evita?</a:t>
            </a:r>
            <a:endParaRPr lang="pt-BR" sz="1300" dirty="0"/>
          </a:p>
          <a:p>
            <a:pPr marL="0" indent="0">
              <a:buNone/>
            </a:pPr>
            <a:r>
              <a:rPr lang="pt-BR" sz="1150" dirty="0">
                <a:solidFill>
                  <a:srgbClr val="3A3F44"/>
                </a:solidFill>
              </a:rPr>
              <a:t xml:space="preserve">O N+1: uma consulta para a lista e mais uma por linha para cada chave estrangeira. Com </a:t>
            </a:r>
            <a:r>
              <a:rPr lang="pt-BR" sz="1000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select_related</a:t>
            </a:r>
            <a:r>
              <a:rPr lang="pt-BR" sz="1150" dirty="0">
                <a:solidFill>
                  <a:srgbClr val="3A3F44"/>
                </a:solidFill>
              </a:rPr>
              <a:t>, um JOIN traz tudo em 1 consulta.</a:t>
            </a:r>
            <a:endParaRPr lang="pt-BR" sz="1150" dirty="0"/>
          </a:p>
        </p:txBody>
      </p:sp>
      <p:sp>
        <p:nvSpPr>
          <p:cNvPr id="9025" name="resposta"/>
          <p:cNvSpPr/>
          <p:nvPr/>
        </p:nvSpPr>
        <p:spPr>
          <a:xfrm>
            <a:off x="768096" y="2834640"/>
            <a:ext cx="7607808" cy="749808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26" name="numero"/>
          <p:cNvSpPr/>
          <p:nvPr/>
        </p:nvSpPr>
        <p:spPr>
          <a:xfrm>
            <a:off x="914400" y="3017520"/>
            <a:ext cx="384048" cy="384048"/>
          </a:xfrm>
          <a:prstGeom prst="ellipse">
            <a:avLst/>
          </a:prstGeom>
          <a:solidFill>
            <a:srgbClr val="1185AA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27" name="texto"/>
          <p:cNvSpPr txBox="1"/>
          <p:nvPr/>
        </p:nvSpPr>
        <p:spPr>
          <a:xfrm>
            <a:off x="914400" y="30175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pt-BR" sz="1400" b="1" dirty="0">
                <a:solidFill>
                  <a:srgbClr val="FFFFFF"/>
                </a:solidFill>
              </a:rPr>
              <a:t>7</a:t>
            </a:r>
            <a:endParaRPr lang="pt-BR" sz="1400" dirty="0"/>
          </a:p>
        </p:txBody>
      </p:sp>
      <p:sp>
        <p:nvSpPr>
          <p:cNvPr id="9028" name="texto"/>
          <p:cNvSpPr txBox="1"/>
          <p:nvPr/>
        </p:nvSpPr>
        <p:spPr>
          <a:xfrm>
            <a:off x="1481328" y="2834640"/>
            <a:ext cx="6729984" cy="7498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00397B"/>
                </a:solidFill>
              </a:rPr>
              <a:t>Onde ficou cada validação, e por quê ali?</a:t>
            </a:r>
            <a:endParaRPr lang="pt-BR" sz="1300" dirty="0"/>
          </a:p>
          <a:p>
            <a:pPr marL="0" indent="0">
              <a:buNone/>
            </a:pPr>
            <a:r>
              <a:rPr lang="pt-BR" sz="1150" dirty="0">
                <a:solidFill>
                  <a:srgbClr val="3A3F44"/>
                </a:solidFill>
              </a:rPr>
              <a:t>Integridade no modelo e no banco (</a:t>
            </a:r>
            <a:r>
              <a:rPr lang="pt-BR" sz="1000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unique</a:t>
            </a:r>
            <a:r>
              <a:rPr lang="pt-BR" sz="1150" dirty="0">
                <a:solidFill>
                  <a:srgbClr val="3A3F44"/>
                </a:solidFill>
              </a:rPr>
              <a:t xml:space="preserve">, </a:t>
            </a:r>
            <a:r>
              <a:rPr lang="pt-BR" sz="1000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validators</a:t>
            </a:r>
            <a:r>
              <a:rPr lang="pt-BR" sz="1150" dirty="0">
                <a:solidFill>
                  <a:srgbClr val="3A3F44"/>
                </a:solidFill>
              </a:rPr>
              <a:t xml:space="preserve">, </a:t>
            </a:r>
            <a:r>
              <a:rPr lang="pt-BR" sz="1000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PROTECT</a:t>
            </a:r>
            <a:r>
              <a:rPr lang="pt-BR" sz="1150" dirty="0">
                <a:solidFill>
                  <a:srgbClr val="3A3F44"/>
                </a:solidFill>
              </a:rPr>
              <a:t>), que vale para tela, admin e shell. Normalização e mensagem no form (</a:t>
            </a:r>
            <a:r>
              <a:rPr lang="pt-BR" sz="1000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clean_&lt;campo&gt;</a:t>
            </a:r>
            <a:r>
              <a:rPr lang="pt-BR" sz="1150" dirty="0">
                <a:solidFill>
                  <a:srgbClr val="3A3F44"/>
                </a:solidFill>
              </a:rPr>
              <a:t>). Fluxo na view.</a:t>
            </a:r>
            <a:endParaRPr lang="pt-BR" sz="1150" dirty="0"/>
          </a:p>
        </p:txBody>
      </p:sp>
      <p:sp>
        <p:nvSpPr>
          <p:cNvPr id="9029" name="resposta"/>
          <p:cNvSpPr/>
          <p:nvPr/>
        </p:nvSpPr>
        <p:spPr>
          <a:xfrm>
            <a:off x="768096" y="3703320"/>
            <a:ext cx="7607808" cy="749808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30" name="numero"/>
          <p:cNvSpPr/>
          <p:nvPr/>
        </p:nvSpPr>
        <p:spPr>
          <a:xfrm>
            <a:off x="914400" y="3886200"/>
            <a:ext cx="384048" cy="384048"/>
          </a:xfrm>
          <a:prstGeom prst="ellipse">
            <a:avLst/>
          </a:prstGeom>
          <a:solidFill>
            <a:srgbClr val="1185AA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31" name="texto"/>
          <p:cNvSpPr txBox="1"/>
          <p:nvPr/>
        </p:nvSpPr>
        <p:spPr>
          <a:xfrm>
            <a:off x="914400" y="388620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pt-BR" sz="1400" b="1" dirty="0">
                <a:solidFill>
                  <a:srgbClr val="FFFFFF"/>
                </a:solidFill>
              </a:rPr>
              <a:t>8</a:t>
            </a:r>
            <a:endParaRPr lang="pt-BR" sz="1400" dirty="0"/>
          </a:p>
        </p:txBody>
      </p:sp>
      <p:sp>
        <p:nvSpPr>
          <p:cNvPr id="9032" name="texto"/>
          <p:cNvSpPr txBox="1"/>
          <p:nvPr/>
        </p:nvSpPr>
        <p:spPr>
          <a:xfrm>
            <a:off x="1481328" y="3703320"/>
            <a:ext cx="6729984" cy="7498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00397B"/>
                </a:solidFill>
              </a:rPr>
              <a:t>Esconder o link no menu protege a tela?</a:t>
            </a:r>
            <a:endParaRPr lang="pt-BR" sz="1300" dirty="0"/>
          </a:p>
          <a:p>
            <a:pPr marL="0" indent="0">
              <a:buNone/>
            </a:pPr>
            <a:r>
              <a:rPr lang="pt-BR" sz="1150" dirty="0">
                <a:solidFill>
                  <a:srgbClr val="3A3F44"/>
                </a:solidFill>
              </a:rPr>
              <a:t>Não: quem digita a URL chega na view do mesmo jeito. Esconder o link é cortesia; a proteção é o decorator na view (</a:t>
            </a:r>
            <a:r>
              <a:rPr lang="pt-BR" sz="1000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@login_required</a:t>
            </a:r>
            <a:r>
              <a:rPr lang="pt-BR" sz="1150" dirty="0">
                <a:solidFill>
                  <a:srgbClr val="3A3F44"/>
                </a:solidFill>
              </a:rPr>
              <a:t xml:space="preserve">, </a:t>
            </a:r>
            <a:r>
              <a:rPr lang="pt-BR" sz="1000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@somente_coordenacao</a:t>
            </a:r>
            <a:r>
              <a:rPr lang="pt-BR" sz="1150" dirty="0">
                <a:solidFill>
                  <a:srgbClr val="3A3F44"/>
                </a:solidFill>
              </a:rPr>
              <a:t>).</a:t>
            </a:r>
            <a:endParaRPr lang="pt-BR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A0095 RAD">
  <a:themeElements>
    <a:clrScheme name="ARA0095 RAD">
      <a:dk1>
        <a:srgbClr val="3A3F44"/>
      </a:dk1>
      <a:lt1>
        <a:srgbClr val="FFFFFF"/>
      </a:lt1>
      <a:dk2>
        <a:srgbClr val="00397B"/>
      </a:dk2>
      <a:lt2>
        <a:srgbClr val="E3EFF1"/>
      </a:lt2>
      <a:accent1>
        <a:srgbClr val="1185AA"/>
      </a:accent1>
      <a:accent2>
        <a:srgbClr val="D06110"/>
      </a:accent2>
      <a:accent3>
        <a:srgbClr val="54C8E1"/>
      </a:accent3>
      <a:accent4>
        <a:srgbClr val="892900"/>
      </a:accent4>
      <a:accent5>
        <a:srgbClr val="9FE8ED"/>
      </a:accent5>
      <a:accent6>
        <a:srgbClr val="FCBCA1"/>
      </a:accent6>
      <a:hlink>
        <a:srgbClr val="1185AA"/>
      </a:hlink>
      <a:folHlink>
        <a:srgbClr val="892900"/>
      </a:folHlink>
    </a:clrScheme>
    <a:fontScheme name="ARA0095 RAD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RAD de ponta a ponta</dc:title>
  <dc:subject>PptxGenJS Presentation</dc:subject>
  <dc:creator>ARA0095</dc:creator>
  <cp:lastModifiedBy>ARA0095</cp:lastModifiedBy>
  <cp:revision>1</cp:revision>
  <dcterms:created xsi:type="dcterms:W3CDTF">2026-10-23T01:44:32Z</dcterms:created>
  <dcterms:modified xsi:type="dcterms:W3CDTF">2026-10-23T01:44:32Z</dcterms:modified>
</cp:coreProperties>
</file>