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24db3e6-2181-5331-2791-5a0c575bfe1e}">
          <p14:sldIdLst>
            <p14:sldId id="256"/>
            <p14:sldId id="257"/>
            <p14:sldId id="258"/>
            <p14:sldId id="259"/>
          </p14:sldIdLst>
        </p14:section>
        <p14:section name="Exposição" id="{aa0d205c-3847-d42a-bef7-ac837eb1a1a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ática" id="{2498598d-72d5-3bb3-a695-9861795a6ce0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Última aula da sequência. Primeira metade: amarrar o semestre nas etapas do RAD (Tema 5.1 e 5.4), escolhas de ferramenta, testes e transição. Segunda metade: arguição simulada e auditoria da entrega. Os grupos devem estar com o projeto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Dê 3 minutos para os grupos preencherem as quatro semanas no caderno. Não corrija ainda: a resposta comentada está no slide 13, depois de passarmos pelas fases do RAD. O que se espera: algo funcionando e mostrado ao usuário já na semana 1, e não tudo na semana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minutos de exposição, depois arguição simulada e auditoria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Tema 5.1. Retome as quatro fases da primeira aula do semestre e peça para a turma dizer o que fizemos em cada uma antes de mostrar. O ponto: no RAD, Design do Usuário e Construção se repetem em ciclos curtos; não é cascata.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A outra abordagem vista na primeira aula. Cada etapa deixou um artefato concreto no projeto. Peça para os grupos abrirem os arquivos enquanto você percorre a tabela: é um bom ensaio para a arguição.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A mesma operação (inserir um aluno) nas três fases do semestre. O CRUD não mudou; mudou quem garante a integridade e quanto código cada um escreve. No arquivo, nada impede matrícula repetida; no sqlite3, o UNIQUE impede, mas o SQL e o commit são seus; no ORM, o framework escreve o SQL e o banco continua garantindo.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Tema 5.4 (RAD em Python). Não existe ferramenta melhor em absoluto: existe a que cabe no contexto. Pergunte à turma: para a escola com secretaria, coordenação e professores, qual escolher? Web, porque é compartilhado, multiusuário e atualizado num lugar só. Exemplo de onde Tkinter vence: ferramenta local de um laboratório, sem rede, operando um equipamento.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Retoma a discussão da segunda aula do semestre (o Kahoot de cenários). Aplique ao nosso projeto: requisitos que mudam, módulos independentes (alunos, disciplinas, notas), framework que gera o trabalho mecânico e usuário por perto. Por isso o RAD coube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Iterar rápido sem testes é quebrar rápido. O verificar.py dos grupos é exatamente isto: roda academico/tests/test_entrega.py, com quase mil linhas de testes do mesmo tipo do exemplo. Mostre o teste rodando com python manage.py test academico. Este teste cobre o bug da média com nota zero visto na primeira aula da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Mostre `python manage.py check --deploy`: ele lista o que falta para produção. O settings.py do projeto já lê SECRET_KEY, DEBUG e ALLOWED_HOSTS do .env, e o DEBUG só liga com o texto 'true': é o desenho certo. runserver é servidor de desenvolvimento; em produção usa-se gunicorn (Linux) ou waitress (Windows), normalmente atrás de um proxy como o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Demonstração opcional, se houver uma conta preparada antes da aula (por exemplo, no PythonAnywhere, que tem plano gratuito para estudantes). Não é exigido na entrega. O objetivo é mostrar que a transição é uma sequência de passos conhecidos, não mágica.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Agora compare com o que os grupos escreveram na abertura. O critério: toda semana termina com algo rodando e mostrado ao usuário. O admin na semana 1 é o protótipo de graça da aula passada.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 min. Deixe as regras explícitas para diminuir a ansiedade: qualquer integrante, qualquer trecho, e uma alteração pequena ao vivo. O enunciado (seção 9) diz que código que o grupo não sabe explicar vale zero, independentemente de funcionar, e pede que o README registre o que foi feito com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Leia as perguntas sem responder; elas são o material da Prática 1. As respostas estão nas duas aulas anteriores e no material (texto 07 tem mais dez, sobre o app contas). Sugestão: sorteie uma e peça para alguém responder agora, como aquecimento.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Exemplos do porte da alteração ao vivo. A coluna da direita é a resposta: o que importa é o grupo saber em que arquivo mexer e lembrar da migration quando o modelo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 min. Resumo das seções 7 e 8 do enunciado. Os descontos de arquivo pegam muitos grupos: o banco é gerado pelo migrate, então não vai no zip; as migrations são código, então vão.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 min. É o que o professor vai fazer na correção. Peça para cada grupo executar isto numa pasta nova, a partir do próprio zip, de preferência no notebook de outro integrante. Os comandos são para Windows (PowerShell); no Linux e no macOS, a ativação é source .venv/bin/activate.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Fechamento da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prática. Forme os pares de grupos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min. Forme pares de grupos. O grupo A argui o B por 12 minutos e depois os papéis se invertem. Circule pelos pares ouvindo as respostas. Atividade verificadora: cada grupo entrega a ficha do arguidor com as perguntas que travaram; essas perguntas viram a lista de estudo do grupo para a arguição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o fim da aula. O critério de saída é o teste do zero do slide 18 passando numa pasta limpa, com 0 FALHA. Quem terminar revisa o README de outro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Reforce o prazo e a forma de envio da Entrega 2 combinados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19456" y="676656"/>
            <a:ext cx="384048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1184"/>
            <a:ext cx="7498080" cy="2423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4901184"/>
            <a:ext cx="1581912" cy="2423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9079992" y="4901184"/>
            <a:ext cx="64008" cy="2423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RAD de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ponta a ponta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Aula 3 de 3 · Tema 5, Aplicando RAD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Etapas do RAD, RAD em Python e a transição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2009165"/>
            <a:ext cx="3246120" cy="1125169"/>
          </a:xfrm>
          <a:prstGeom prst="roundRect">
            <a:avLst>
              <a:gd name="adj" fmla="val 650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2128037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2128037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128037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2064029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393213"/>
            <a:ext cx="2880360" cy="64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test academico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check --deploy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Situação-problema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68096" y="1051560"/>
            <a:ext cx="7607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Uma escola pede o sistema de notas para daqui a </a:t>
            </a:r>
            <a:pPr indent="0" marL="0">
              <a:buNone/>
            </a:pPr>
            <a:r>
              <a:rPr lang="en-US" sz="1600" b="1" dirty="0">
                <a:solidFill>
                  <a:srgbClr val="3A3F44"/>
                </a:solidFill>
              </a:rPr>
              <a:t>quatro semanas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. Vocês têm as ferramentas do semestre inteiro. O que entregariam ao fim de cada semana?</a:t>
            </a:r>
            <a:endParaRPr lang="en-US" sz="1600" dirty="0"/>
          </a:p>
        </p:txBody>
      </p:sp>
      <p:sp>
        <p:nvSpPr>
          <p:cNvPr id="5" name="semana 1"/>
          <p:cNvSpPr/>
          <p:nvPr/>
        </p:nvSpPr>
        <p:spPr>
          <a:xfrm>
            <a:off x="768096" y="1920240"/>
            <a:ext cx="1801368" cy="214884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Semana 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16736" y="2606040"/>
            <a:ext cx="704088" cy="7040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717" y="2775021"/>
            <a:ext cx="366126" cy="3661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8096" y="35204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entrega: ______</a:t>
            </a:r>
            <a:endParaRPr lang="en-US" sz="1300" dirty="0"/>
          </a:p>
        </p:txBody>
      </p:sp>
      <p:sp>
        <p:nvSpPr>
          <p:cNvPr id="10" name="semana 2"/>
          <p:cNvSpPr/>
          <p:nvPr/>
        </p:nvSpPr>
        <p:spPr>
          <a:xfrm>
            <a:off x="2715768" y="1920240"/>
            <a:ext cx="1801368" cy="214884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715768" y="20299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Semana 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264408" y="2606040"/>
            <a:ext cx="704088" cy="7040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89" y="2775021"/>
            <a:ext cx="366126" cy="36612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15768" y="35204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entrega: ______</a:t>
            </a:r>
            <a:endParaRPr lang="en-US" sz="1300" dirty="0"/>
          </a:p>
        </p:txBody>
      </p:sp>
      <p:sp>
        <p:nvSpPr>
          <p:cNvPr id="15" name="semana 3"/>
          <p:cNvSpPr/>
          <p:nvPr/>
        </p:nvSpPr>
        <p:spPr>
          <a:xfrm>
            <a:off x="4663440" y="1920240"/>
            <a:ext cx="1801368" cy="214884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663440" y="20299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Semana 3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212080" y="2606040"/>
            <a:ext cx="704088" cy="7040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061" y="2775021"/>
            <a:ext cx="366126" cy="36612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63440" y="35204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entrega: ______</a:t>
            </a:r>
            <a:endParaRPr lang="en-US" sz="1300" dirty="0"/>
          </a:p>
        </p:txBody>
      </p:sp>
      <p:sp>
        <p:nvSpPr>
          <p:cNvPr id="20" name="semana 4"/>
          <p:cNvSpPr/>
          <p:nvPr/>
        </p:nvSpPr>
        <p:spPr>
          <a:xfrm>
            <a:off x="6611112" y="1920240"/>
            <a:ext cx="1801368" cy="214884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611112" y="202996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Semana 4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159752" y="2606040"/>
            <a:ext cx="704088" cy="7040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733" y="2775021"/>
            <a:ext cx="366126" cy="36612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11112" y="35204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entrega: ______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34340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Se a resposta é “tudo na semana 4”, não é RAD.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Objetivos da aula</a:t>
            </a:r>
            <a:endParaRPr lang="en-US" sz="3200" dirty="0"/>
          </a:p>
        </p:txBody>
      </p:sp>
      <p:sp>
        <p:nvSpPr>
          <p:cNvPr id="4" name="card Esquematizar o RAD de ponta a ponta"/>
          <p:cNvSpPr/>
          <p:nvPr/>
        </p:nvSpPr>
        <p:spPr>
          <a:xfrm>
            <a:off x="768096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74943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Esquematizar o RAD de ponta a ponta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Ligar as fases de James Martin e de James Kerr ao que construímos no semestre.</a:t>
            </a:r>
            <a:endParaRPr lang="en-US" sz="1400" dirty="0"/>
          </a:p>
        </p:txBody>
      </p:sp>
      <p:sp>
        <p:nvSpPr>
          <p:cNvPr id="9" name="card Escolher a ferramenta pelo contexto"/>
          <p:cNvSpPr/>
          <p:nvPr/>
        </p:nvSpPr>
        <p:spPr>
          <a:xfrm>
            <a:off x="3364992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74943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Escolher a ferramenta pelo contexto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Arquivo, SQLite ou PostgreSQL? Tkinter ou Django? Decidir com critério.</a:t>
            </a:r>
            <a:endParaRPr lang="en-US" sz="1400" dirty="0"/>
          </a:p>
        </p:txBody>
      </p:sp>
      <p:sp>
        <p:nvSpPr>
          <p:cNvPr id="14" name="card Preparar a transição"/>
          <p:cNvSpPr/>
          <p:nvPr/>
        </p:nvSpPr>
        <p:spPr>
          <a:xfrm>
            <a:off x="5961888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74943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Preparar a transição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Testes, deploy e a entrega: o sistema sai do laboratório e muda de mãos.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Roteiro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60120" y="1700784"/>
            <a:ext cx="7150608" cy="0"/>
          </a:xfrm>
          <a:prstGeom prst="line">
            <a:avLst/>
          </a:prstGeom>
          <a:noFill/>
          <a:ln w="25400">
            <a:solidFill>
              <a:srgbClr val="C9D6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0 a 8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Abertura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Quatro semanas, um sistema.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9658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965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89658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8 a 20 min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289658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O semestre em RAD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289658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Fases de Martin e de Kerr no nosso projeto.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11219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11219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11219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20 a 30 min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811219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Escolhas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811219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Arquivo, SQLite ou ORM; Tkinter ou Django.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32781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32781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30 a 40 min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32781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Transição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32781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Testes,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--deploy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publicação.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4342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434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54342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40 a 50 min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4342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A entrega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54342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Arguição, checklist e o teste do zero.</a:t>
            </a:r>
            <a:endParaRPr lang="en-US" sz="1300" dirty="0"/>
          </a:p>
        </p:txBody>
      </p:sp>
      <p:sp>
        <p:nvSpPr>
          <p:cNvPr id="30" name="destaque"/>
          <p:cNvSpPr/>
          <p:nvPr/>
        </p:nvSpPr>
        <p:spPr>
          <a:xfrm>
            <a:off x="768096" y="379476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0976" y="38953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0507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572768" y="379476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Depois da exposição: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arguição simulada entre grupos e auditoria da entrega.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As fases de James Martin no nosso projeto</a:t>
            </a:r>
            <a:endParaRPr lang="en-US" sz="3200" dirty="0"/>
          </a:p>
        </p:txBody>
      </p:sp>
      <p:sp>
        <p:nvSpPr>
          <p:cNvPr id="4" name="fase 1"/>
          <p:cNvSpPr/>
          <p:nvPr/>
        </p:nvSpPr>
        <p:spPr>
          <a:xfrm>
            <a:off x="768096" y="1188720"/>
            <a:ext cx="1801368" cy="310896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0976" y="1353312"/>
            <a:ext cx="420624" cy="420624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Planejamento de requisitos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251460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cenário do sistema de notas, os enunciados das Entregas 1 e 2 e os requisitos não negociáveis.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9464" y="274320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0" name="fase 2"/>
          <p:cNvSpPr/>
          <p:nvPr/>
        </p:nvSpPr>
        <p:spPr>
          <a:xfrm>
            <a:off x="2715768" y="1188720"/>
            <a:ext cx="1801368" cy="310896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8648" y="1353312"/>
            <a:ext cx="420624" cy="420624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98648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898648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Design do usuário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898648" y="251460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Telas em Tkinter, templates do Django e o protótipo validado antes do código final.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17136" y="274320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6" name="fase 3"/>
          <p:cNvSpPr/>
          <p:nvPr/>
        </p:nvSpPr>
        <p:spPr>
          <a:xfrm>
            <a:off x="4663440" y="1188720"/>
            <a:ext cx="1801368" cy="310896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1353312"/>
            <a:ext cx="420624" cy="420624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Construção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51460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Arquivo,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ORM. CRUD em ciclos curtos, com o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verificar.py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dizendo onde estamos.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64808" y="274320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2" name="fase 4"/>
          <p:cNvSpPr/>
          <p:nvPr/>
        </p:nvSpPr>
        <p:spPr>
          <a:xfrm>
            <a:off x="6611112" y="1188720"/>
            <a:ext cx="1801368" cy="310896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353312"/>
            <a:ext cx="420624" cy="420624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9399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793992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Transição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793992" y="251460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Testes, README, publicação e a arguição: o sistema muda de mãos.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47288" y="4224528"/>
            <a:ext cx="1911096" cy="384048"/>
          </a:xfrm>
          <a:prstGeom prst="arc">
            <a:avLst>
              <a:gd name="adj1" fmla="val 0"/>
              <a:gd name="adj2" fmla="val 10800000"/>
            </a:avLst>
          </a:prstGeom>
          <a:ln w="25400">
            <a:solidFill>
              <a:srgbClr val="D06110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715768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06110"/>
                </a:solidFill>
              </a:rPr>
              <a:t>ciclos curtos: design e construção se repetem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As etapas de James Kerr, arquivo por arquivo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71800"/>
                <a:gridCol w="248716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 projeto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Artefato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Modelagem de negócios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quem usa, o que registra, que regras valem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ENUNCIADO.md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perfis de usuário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Modelagem de dados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aluno, disciplina e o encontro entre eles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models.py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modelo_dados.png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Modelagem de processos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cadastrar, inscrever, lançar nota, excluir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views.py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urls.py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Geração da aplicação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 framework gera SQL, formulários e admin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migrations,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ModelForm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admin.py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Teste e modificação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rodar, medir, corrigir, repetir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verificar.py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tests/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Uma aplicação, três camadas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68096" y="111556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Arquivo</a:t>
            </a:r>
            <a:endParaRPr lang="en-US" sz="1700" dirty="0"/>
          </a:p>
        </p:txBody>
      </p:sp>
      <p:sp>
        <p:nvSpPr>
          <p:cNvPr id="5" name="codigo fundo"/>
          <p:cNvSpPr/>
          <p:nvPr/>
        </p:nvSpPr>
        <p:spPr>
          <a:xfrm>
            <a:off x="768096" y="1536192"/>
            <a:ext cx="2414016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8992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5296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26464" y="15910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alunos.txt</a:t>
            </a:r>
            <a:endParaRPr lang="en-US" sz="900" dirty="0"/>
          </a:p>
        </p:txBody>
      </p:sp>
      <p:sp>
        <p:nvSpPr>
          <p:cNvPr id="10" name="codigo texto"/>
          <p:cNvSpPr txBox="1"/>
          <p:nvPr/>
        </p:nvSpPr>
        <p:spPr>
          <a:xfrm>
            <a:off x="987552" y="1920240"/>
            <a:ext cx="2048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"alunos.txt"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f.write(f</a:t>
            </a:r>
            <a:pPr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"{mat};{nome}\n"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" y="3493008"/>
            <a:ext cx="2414016" cy="868680"/>
          </a:xfrm>
          <a:prstGeom prst="roundRect">
            <a:avLst>
              <a:gd name="adj" fmla="val 631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5256" y="3493008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Quem garante: </a:t>
            </a:r>
            <a:pPr indent="0" marL="0">
              <a:buNone/>
            </a:pPr>
            <a:r>
              <a:rPr lang="en-US" sz="1300" b="1" dirty="0">
                <a:solidFill>
                  <a:srgbClr val="3A3F44"/>
                </a:solidFill>
              </a:rPr>
              <a:t>vocês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 Nada impede matrícula repetida.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2450592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364992" y="111556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sqlite3</a:t>
            </a:r>
            <a:endParaRPr lang="en-US" sz="1700" dirty="0"/>
          </a:p>
        </p:txBody>
      </p:sp>
      <p:sp>
        <p:nvSpPr>
          <p:cNvPr id="15" name="codigo fundo"/>
          <p:cNvSpPr/>
          <p:nvPr/>
        </p:nvSpPr>
        <p:spPr>
          <a:xfrm>
            <a:off x="3364992" y="1536192"/>
            <a:ext cx="2414016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9584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75888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22192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23360" y="15910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 1</a:t>
            </a:r>
            <a:endParaRPr lang="en-US" sz="900" dirty="0"/>
          </a:p>
        </p:txBody>
      </p:sp>
      <p:sp>
        <p:nvSpPr>
          <p:cNvPr id="20" name="codigo texto"/>
          <p:cNvSpPr txBox="1"/>
          <p:nvPr/>
        </p:nvSpPr>
        <p:spPr>
          <a:xfrm>
            <a:off x="3584448" y="1920240"/>
            <a:ext cx="2048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con.execute(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aluno"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(matricula, nome)"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VALUES (?, ?)"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(mat, nome))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con.commit()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64992" y="3493008"/>
            <a:ext cx="2414016" cy="868680"/>
          </a:xfrm>
          <a:prstGeom prst="roundRect">
            <a:avLst>
              <a:gd name="adj" fmla="val 631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02152" y="3493008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Quem garante: </a:t>
            </a:r>
            <a:pPr indent="0" marL="0">
              <a:buNone/>
            </a:pPr>
            <a:r>
              <a:rPr lang="en-US" sz="1300" b="1" dirty="0">
                <a:solidFill>
                  <a:srgbClr val="3A3F44"/>
                </a:solidFill>
              </a:rPr>
              <a:t>o banco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). O SQL é de vocês.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797296" y="2450592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961888" y="111556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Django</a:t>
            </a:r>
            <a:endParaRPr lang="en-US" sz="1700" dirty="0"/>
          </a:p>
        </p:txBody>
      </p:sp>
      <p:sp>
        <p:nvSpPr>
          <p:cNvPr id="25" name="codigo fundo"/>
          <p:cNvSpPr/>
          <p:nvPr/>
        </p:nvSpPr>
        <p:spPr>
          <a:xfrm>
            <a:off x="5961888" y="1536192"/>
            <a:ext cx="2414016" cy="1828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7278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1908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20256" y="15910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 2</a:t>
            </a:r>
            <a:endParaRPr lang="en-US" sz="900" dirty="0"/>
          </a:p>
        </p:txBody>
      </p:sp>
      <p:sp>
        <p:nvSpPr>
          <p:cNvPr id="30" name="codigo texto"/>
          <p:cNvSpPr txBox="1"/>
          <p:nvPr/>
        </p:nvSpPr>
        <p:spPr>
          <a:xfrm>
            <a:off x="6181344" y="1920240"/>
            <a:ext cx="2048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Aluno.objects.create(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matricula=mat,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nome=nome)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61888" y="3493008"/>
            <a:ext cx="2414016" cy="868680"/>
          </a:xfrm>
          <a:prstGeom prst="roundRect">
            <a:avLst>
              <a:gd name="adj" fmla="val 631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48" y="3493008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Quem garante: </a:t>
            </a:r>
            <a:pPr indent="0" marL="0">
              <a:buNone/>
            </a:pPr>
            <a:r>
              <a:rPr lang="en-US" sz="1300" b="1" dirty="0">
                <a:solidFill>
                  <a:srgbClr val="3A3F44"/>
                </a:solidFill>
              </a:rPr>
              <a:t>o banco e o framework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 O SQL é gerado.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68096" y="446227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O CRUD não mudou. Mudou quem garante a integridade e quanto código vocês escrevem.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Tkinter ou Django?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85292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Tkinter (desktop)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Django (web)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Onde roda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no computador do usuário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no servidor; o usuário só precisa do navegador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Vários usuários ao mesmo tempo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difícil: cada máquina tem sua cópia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natural: um banco, muitos acessos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Atualizar o sistema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reinstalar em cada máquina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publicar uma vez no servidor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Sem internet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funciona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precisa de rede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Login e perfis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vocês implementam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já vem pronto (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django.contrib.auth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Bom para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ferramenta local, uso individual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sistema compartilhado, acesso remoto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Para uma escola com secretaria, coordenação e professores: web.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Quando o RAD funciona, e quando não</a:t>
            </a:r>
            <a:endParaRPr lang="en-US" sz="3200" dirty="0"/>
          </a:p>
        </p:txBody>
      </p:sp>
      <p:sp>
        <p:nvSpPr>
          <p:cNvPr id="4" name="Funciona quando"/>
          <p:cNvSpPr/>
          <p:nvPr/>
        </p:nvSpPr>
        <p:spPr>
          <a:xfrm>
            <a:off x="768096" y="1188720"/>
            <a:ext cx="3712464" cy="3108960"/>
          </a:xfrm>
          <a:prstGeom prst="roundRect">
            <a:avLst>
              <a:gd name="adj" fmla="val 176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33502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457919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36776" y="13350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Funciona quando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042416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os requisitos podem mudar e o usuário dá retorno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 sistema se divide em módulos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há framework para o trabalho mecânico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 prazo pede entregas incrementais</a:t>
            </a:r>
            <a:endParaRPr lang="en-US" sz="1400" dirty="0"/>
          </a:p>
        </p:txBody>
      </p:sp>
      <p:sp>
        <p:nvSpPr>
          <p:cNvPr id="9" name="Não funciona quando"/>
          <p:cNvSpPr/>
          <p:nvPr/>
        </p:nvSpPr>
        <p:spPr>
          <a:xfrm>
            <a:off x="4663440" y="1188720"/>
            <a:ext cx="3712464" cy="3108960"/>
          </a:xfrm>
          <a:prstGeom prst="roundRect">
            <a:avLst>
              <a:gd name="adj" fmla="val 176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64608" y="133502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03" y="1457919"/>
            <a:ext cx="266273" cy="2662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13350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Não funciona quando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93776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 sistema é crítico, com requisitos fixos e auditoria pesada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a equipe não domina a ferramenta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 projeto é grande e difícil de dividir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44"/>
                </a:solidFill>
              </a:rPr>
              <a:t>o usuário não está disponível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Testes: a rede de segurança da iteração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academico/tests/test_media.py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892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django.test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academico.models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Aluno, Disciplina, Inscricao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MediaTest(TestCase):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test_nota_zero_entra_na_media(self):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= Aluno.objects.create(matricula=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"2024001"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nome=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 = Disciplina.objects.create(codigo=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"ARA0095"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nome=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"RAD"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carga_horaria=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Inscricao.objects.create(aluno=a, disciplina=d,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nota1=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nota2=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self.assertEqual(i.media, 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08776" y="1188720"/>
            <a:ext cx="21671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Banco limpo a cada teste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1645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O Django cria um banco temporário e desfaz tudo no fim.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08776" y="2359152"/>
            <a:ext cx="21671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24323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Rodem de novo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816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Mudou o código? Em segundos vocês sabem se quebraram algo.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08776" y="3529584"/>
            <a:ext cx="21671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5080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verificar.py</a:t>
            </a:r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 é isto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9867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Uma suíte pronta que diz qual TODO falta e onde.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Transição: do runserver para produção</a:t>
            </a:r>
            <a:endParaRPr lang="en-US" sz="3200" dirty="0"/>
          </a:p>
        </p:txBody>
      </p:sp>
      <p:sp>
        <p:nvSpPr>
          <p:cNvPr id="4" name="card `DEBUG = False`"/>
          <p:cNvSpPr/>
          <p:nvPr/>
        </p:nvSpPr>
        <p:spPr>
          <a:xfrm>
            <a:off x="768096" y="1143000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32588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448775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36776" y="1325880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= False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194767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Com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, qualquer erro mostra código e configuração para quem acessar.</a:t>
            </a:r>
            <a:endParaRPr lang="en-US" sz="1200" dirty="0"/>
          </a:p>
        </p:txBody>
      </p:sp>
      <p:sp>
        <p:nvSpPr>
          <p:cNvPr id="9" name="card `SECRET_KEY` fora do código"/>
          <p:cNvSpPr/>
          <p:nvPr/>
        </p:nvSpPr>
        <p:spPr>
          <a:xfrm>
            <a:off x="3364992" y="1143000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66160" y="132588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055" y="1448775"/>
            <a:ext cx="266273" cy="2662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33672" y="1325880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SECRET_KEY</a:t>
            </a:r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 fora do código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194767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Vai no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, que nunca entra no zip nem no Git.</a:t>
            </a:r>
            <a:endParaRPr lang="en-US" sz="1200" dirty="0"/>
          </a:p>
        </p:txBody>
      </p:sp>
      <p:sp>
        <p:nvSpPr>
          <p:cNvPr id="14" name="card `ALLOWED_HOSTS`"/>
          <p:cNvSpPr/>
          <p:nvPr/>
        </p:nvSpPr>
        <p:spPr>
          <a:xfrm>
            <a:off x="5961888" y="1143000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63056" y="132588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951" y="1448775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30568" y="1325880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ALLOWED_HOSTS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194767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Lista os domínios que podem servir o sistema.</a:t>
            </a:r>
            <a:endParaRPr lang="en-US" sz="1200" dirty="0"/>
          </a:p>
        </p:txBody>
      </p:sp>
      <p:sp>
        <p:nvSpPr>
          <p:cNvPr id="19" name="card Servidor de verdade"/>
          <p:cNvSpPr/>
          <p:nvPr/>
        </p:nvSpPr>
        <p:spPr>
          <a:xfrm>
            <a:off x="768096" y="2770632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9264" y="29535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59" y="3076407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36776" y="2953512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Servidor de verdade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96696" y="3575304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runserver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 é para desenvolver. Em produção: gunicorn ou waitress.</a:t>
            </a:r>
            <a:endParaRPr lang="en-US" sz="1200" dirty="0"/>
          </a:p>
        </p:txBody>
      </p:sp>
      <p:sp>
        <p:nvSpPr>
          <p:cNvPr id="24" name="card Banco para muitos acessos"/>
          <p:cNvSpPr/>
          <p:nvPr/>
        </p:nvSpPr>
        <p:spPr>
          <a:xfrm>
            <a:off x="3364992" y="2770632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566160" y="29535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055" y="3076407"/>
            <a:ext cx="266273" cy="26627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233672" y="2953512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Banco para muitos acessos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593592" y="3575304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PostgreSQL no lugar do SQLite quando o uso cresce.</a:t>
            </a:r>
            <a:endParaRPr lang="en-US" sz="1200" dirty="0"/>
          </a:p>
        </p:txBody>
      </p:sp>
      <p:sp>
        <p:nvSpPr>
          <p:cNvPr id="29" name="card Arquivos estáticos"/>
          <p:cNvSpPr/>
          <p:nvPr/>
        </p:nvSpPr>
        <p:spPr>
          <a:xfrm>
            <a:off x="5961888" y="2770632"/>
            <a:ext cx="2414016" cy="1481328"/>
          </a:xfrm>
          <a:prstGeom prst="roundRect">
            <a:avLst>
              <a:gd name="adj" fmla="val 37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163056" y="29535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951" y="3076407"/>
            <a:ext cx="266273" cy="26627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30568" y="2953512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Arquivos estáticos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190488" y="3575304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collectstatic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F44"/>
                </a:solidFill>
              </a:rPr>
              <a:t> junta CSS e JS numa pasta servida pelo servidor web.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768096" y="446227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check --deploy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 aponta o que falta.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Publicar: o caminho mínimo</a:t>
            </a:r>
            <a:endParaRPr lang="en-US" sz="3200" dirty="0"/>
          </a:p>
        </p:txBody>
      </p:sp>
      <p:sp>
        <p:nvSpPr>
          <p:cNvPr id="4" name="passo 1"/>
          <p:cNvSpPr/>
          <p:nvPr/>
        </p:nvSpPr>
        <p:spPr>
          <a:xfrm>
            <a:off x="768096" y="1508760"/>
            <a:ext cx="1371600" cy="210312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61872" y="1664208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6187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21762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Código no Git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743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sem </a:t>
            </a:r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, </a:t>
            </a:r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</a:t>
            </a:r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e banco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57984" y="256032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0" name="passo 2"/>
          <p:cNvSpPr/>
          <p:nvPr/>
        </p:nvSpPr>
        <p:spPr>
          <a:xfrm>
            <a:off x="2322576" y="1508760"/>
            <a:ext cx="1371600" cy="210312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16352" y="1664208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635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14016" y="21762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Servidor com Python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414016" y="2743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ex.: PythonAnywhere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12464" y="256032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6" name="passo 3"/>
          <p:cNvSpPr/>
          <p:nvPr/>
        </p:nvSpPr>
        <p:spPr>
          <a:xfrm>
            <a:off x="3877056" y="1508760"/>
            <a:ext cx="1371600" cy="210312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1664208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7083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68496" y="21762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Ambiente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68496" y="2743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criar o </a:t>
            </a:r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e instalar as dependências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66944" y="256032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2" name="passo 4"/>
          <p:cNvSpPr/>
          <p:nvPr/>
        </p:nvSpPr>
        <p:spPr>
          <a:xfrm>
            <a:off x="5431536" y="1508760"/>
            <a:ext cx="1371600" cy="210312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25312" y="1664208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2531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522976" y="21762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Banco e estáticos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522976" y="2743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</a:t>
            </a:r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+ </a:t>
            </a:r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collectstatic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21424" y="2560320"/>
            <a:ext cx="1463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8" name="passo 5"/>
          <p:cNvSpPr/>
          <p:nvPr/>
        </p:nvSpPr>
        <p:spPr>
          <a:xfrm>
            <a:off x="6986016" y="1508760"/>
            <a:ext cx="1371600" cy="210312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9792" y="1664208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797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077456" y="21762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Configurar e abrir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077456" y="2743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ctr"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de produção e WSGI</a:t>
            </a:r>
            <a:endParaRPr lang="en-US" sz="1200" dirty="0"/>
          </a:p>
        </p:txBody>
      </p:sp>
      <p:sp>
        <p:nvSpPr>
          <p:cNvPr id="33" name="destaque"/>
          <p:cNvSpPr/>
          <p:nvPr/>
        </p:nvSpPr>
        <p:spPr>
          <a:xfrm>
            <a:off x="768096" y="384048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976" y="39410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5079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572768" y="384048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Para a entrega: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não é preciso publicar. Mas o projeto precisa subir do zero numa máquina limpa (slide 18).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De volta às quatro semanas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188720"/>
            <a:ext cx="1801368" cy="297180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1188720"/>
            <a:ext cx="1801368" cy="457200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18872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Semana 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1810512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Modelo de dados, migrations e o admin como protótipo. A secretaria já cadastra e opina.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15768" y="1188720"/>
            <a:ext cx="1801368" cy="297180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15768" y="1188720"/>
            <a:ext cx="1801368" cy="457200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15768" y="118872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Semana 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1810512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Telas de aluno e disciplina com validação. Ajustes a partir do retorno da semana 1.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1801368" cy="297180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1801368" cy="457200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18872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Semana 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28032" y="1810512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Inscrições, notas, perfis de acesso e o cuidado com o N+1.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1112" y="1188720"/>
            <a:ext cx="1801368" cy="2971800"/>
          </a:xfrm>
          <a:prstGeom prst="roundRect">
            <a:avLst>
              <a:gd name="adj" fmla="val 304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1112" y="1188720"/>
            <a:ext cx="1801368" cy="457200"/>
          </a:xfrm>
          <a:prstGeom prst="rect">
            <a:avLst/>
          </a:prstGeom>
          <a:solidFill>
            <a:srgbClr val="D06110"/>
          </a:solidFill>
          <a:ln w="12700">
            <a:solidFill>
              <a:srgbClr val="D0611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11112" y="118872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Semana 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75704" y="1810512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Testes, publicação, treinamento e a documentação: a transição.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" y="434340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Toda semana termina com algo rodando e mostrado ao usuário.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Como vai ser a arguição</a:t>
            </a:r>
            <a:endParaRPr lang="en-US" sz="3200" dirty="0"/>
          </a:p>
        </p:txBody>
      </p:sp>
      <p:sp>
        <p:nvSpPr>
          <p:cNvPr id="4" name="card Sorteio"/>
          <p:cNvSpPr/>
          <p:nvPr/>
        </p:nvSpPr>
        <p:spPr>
          <a:xfrm>
            <a:off x="768096" y="114300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3716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52083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1305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Sorteio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7157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Qualquer integrante pode ser chamado para responder sobre qualquer trecho.</a:t>
            </a:r>
            <a:endParaRPr lang="en-US" sz="1400" dirty="0"/>
          </a:p>
        </p:txBody>
      </p:sp>
      <p:sp>
        <p:nvSpPr>
          <p:cNvPr id="9" name="card Explicar"/>
          <p:cNvSpPr/>
          <p:nvPr/>
        </p:nvSpPr>
        <p:spPr>
          <a:xfrm>
            <a:off x="3364992" y="114300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3716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52083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1305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Explicar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7157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Ler um trecho do código do grupo e dizer o que faz e por que foi feito assim.</a:t>
            </a:r>
            <a:endParaRPr lang="en-US" sz="1400" dirty="0"/>
          </a:p>
        </p:txBody>
      </p:sp>
      <p:sp>
        <p:nvSpPr>
          <p:cNvPr id="14" name="card Alterar ao vivo"/>
          <p:cNvSpPr/>
          <p:nvPr/>
        </p:nvSpPr>
        <p:spPr>
          <a:xfrm>
            <a:off x="5961888" y="114300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3716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52083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1305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Alterar ao vivo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7157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Uma mudança pequena, na frente do professor, com o projeto rodando.</a:t>
            </a:r>
            <a:endParaRPr lang="en-US" sz="1400" dirty="0"/>
          </a:p>
        </p:txBody>
      </p:sp>
      <p:sp>
        <p:nvSpPr>
          <p:cNvPr id="19" name="destaque"/>
          <p:cNvSpPr/>
          <p:nvPr/>
        </p:nvSpPr>
        <p:spPr>
          <a:xfrm>
            <a:off x="768096" y="384048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50976" y="39410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05079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72768" y="384048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Código que o grupo não sabe explicar vale zero,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mesmo funcionando. Registrem no README o que foi feito com IA.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Perguntas que costumam cair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143000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08176" y="11430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Por que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fica em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1911096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048256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08176" y="1911096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Por que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e não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" y="2679192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816352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08176" y="267919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Qual a única diferença entre criar e editar?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" y="3447288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08176" y="344728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Por que redirecionar depois de salvar?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63440" y="1143000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9744" y="1280160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9744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11430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Por que a exclusão só acontece no POST?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63440" y="1911096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09744" y="2048256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97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1911096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que o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evita?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63440" y="2679192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09744" y="2816352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9744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303520" y="267919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Onde ficou cada validação, e por quê ali?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663440" y="3447288"/>
            <a:ext cx="3712464" cy="640080"/>
          </a:xfrm>
          <a:prstGeom prst="roundRect">
            <a:avLst>
              <a:gd name="adj" fmla="val 85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09744" y="3584448"/>
            <a:ext cx="365760" cy="365760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09744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344728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Esconder o link no menu protege a tela?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68096" y="434340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Mais dez no fim de 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material/07-tour-do-app-contas.md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Alterações ao vivo: exemplos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7316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Pedido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 que muda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Adicione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telefone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ao aluno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models.py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makemigrations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migrate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fields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Liste só os alunos ativos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views.py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: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Aluno.objects.filter(ativo=True)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Ordene as disciplinas por código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ordering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Meta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makemigrations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Mostre a média na lista de notas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 template, com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 i.media }}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Troque a mensagem de duplicidade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error_messages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" y="434340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Treinem: cada integrante faz uma destas sozinho, com o grupo olhando.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Checklist da entrega</a:t>
            </a:r>
            <a:endParaRPr lang="en-US" sz="3200" dirty="0"/>
          </a:p>
        </p:txBody>
      </p:sp>
      <p:sp>
        <p:nvSpPr>
          <p:cNvPr id="4" name="Vai no zip"/>
          <p:cNvSpPr/>
          <p:nvPr/>
        </p:nvSpPr>
        <p:spPr>
          <a:xfrm>
            <a:off x="768096" y="1143000"/>
            <a:ext cx="3712464" cy="2514600"/>
          </a:xfrm>
          <a:prstGeom prst="roundRect">
            <a:avLst>
              <a:gd name="adj" fmla="val 21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2801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81" y="139427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91056" y="12801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Vai no zip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042416" y="1901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projeto com as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migrations/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042416" y="2313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preenchido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42416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modelo_dados.png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4241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12" name="Fica fora"/>
          <p:cNvSpPr/>
          <p:nvPr/>
        </p:nvSpPr>
        <p:spPr>
          <a:xfrm>
            <a:off x="4663440" y="1143000"/>
            <a:ext cx="3712464" cy="2514600"/>
          </a:xfrm>
          <a:prstGeom prst="roundRect">
            <a:avLst>
              <a:gd name="adj" fmla="val 21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64608" y="12801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725" y="1394277"/>
            <a:ext cx="247254" cy="24725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12801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Fica fora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1901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escola.sqlite3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937760" y="2313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</p:txBody>
      </p:sp>
      <p:sp>
        <p:nvSpPr>
          <p:cNvPr id="20" name="destaque"/>
          <p:cNvSpPr/>
          <p:nvPr/>
        </p:nvSpPr>
        <p:spPr>
          <a:xfrm>
            <a:off x="768096" y="3794760"/>
            <a:ext cx="7607808" cy="777240"/>
          </a:xfrm>
          <a:prstGeom prst="roundRect">
            <a:avLst>
              <a:gd name="adj" fmla="val 7059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976" y="39547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0645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72768" y="3794760"/>
            <a:ext cx="6647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Descontos: 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arquivo proibido no zip −0,5 · migrations faltando −1,0 · erro de sintaxe −2,0 · SQL com f-string zera o item 4.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 teste final: rodar do zero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PowerShell, numa pasta nova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5720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descompacte o zip da entrega aqui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-m venv .venv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-r 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manage.py migrate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manage.py seed_demo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verificar.py      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0 FALHA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manage.py runserver</a:t>
            </a:r>
            <a:endParaRPr lang="en-US" sz="1300" dirty="0"/>
          </a:p>
        </p:txBody>
      </p:sp>
      <p:sp>
        <p:nvSpPr>
          <p:cNvPr id="10" name="card Pasta limpa"/>
          <p:cNvSpPr/>
          <p:nvPr/>
        </p:nvSpPr>
        <p:spPr>
          <a:xfrm>
            <a:off x="5888736" y="1188720"/>
            <a:ext cx="2487168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371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2799" y="149449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57416" y="1371600"/>
            <a:ext cx="143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Pasta limpa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117336" y="1993392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Se não sobe do zero aqui, não sobe na correção.</a:t>
            </a:r>
            <a:endParaRPr lang="en-US" sz="1300" dirty="0"/>
          </a:p>
        </p:txBody>
      </p:sp>
      <p:sp>
        <p:nvSpPr>
          <p:cNvPr id="15" name="card Outra máquina"/>
          <p:cNvSpPr/>
          <p:nvPr/>
        </p:nvSpPr>
        <p:spPr>
          <a:xfrm>
            <a:off x="5888736" y="2990088"/>
            <a:ext cx="2487168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9904" y="31729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799" y="3295863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57416" y="3172968"/>
            <a:ext cx="143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Outra máquina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117336" y="3794760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Façam no notebook de outro integrante do grupo.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Para levar da disciplina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23444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0976" y="137160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2344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RAD é ciclo curto com retorno do usuário: requisitos, design, construção e transição.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" y="2039112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0976" y="2176272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3911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O framework assume o trabalho mecânico. Onde mora a regra e o que proteger continua com vocês.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8096" y="2843784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980944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84378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Escolham a ferramenta pelo contexto: desktop ou web, arquivo ou banco.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8096" y="3648456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85616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64845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Código que vocês não sabem explicar não é de vocês, com ou sem IA.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Prática: arguição simulada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Arguição cruzada entre grupos · auditoria da entrega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2102206"/>
            <a:ext cx="3246120" cy="939089"/>
          </a:xfrm>
          <a:prstGeom prst="roundRect">
            <a:avLst>
              <a:gd name="adj" fmla="val 779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222107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222107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22107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215707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486254"/>
            <a:ext cx="288036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1: arguição cruzada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≈ 30 min</a:t>
            </a:r>
            <a:endParaRPr lang="en-US" sz="1100" dirty="0"/>
          </a:p>
        </p:txBody>
      </p:sp>
      <p:sp>
        <p:nvSpPr>
          <p:cNvPr id="6" name="passo 1"/>
          <p:cNvSpPr/>
          <p:nvPr/>
        </p:nvSpPr>
        <p:spPr>
          <a:xfrm>
            <a:off x="768096" y="1143000"/>
            <a:ext cx="4480560" cy="804672"/>
          </a:xfrm>
          <a:prstGeom prst="roundRect">
            <a:avLst>
              <a:gd name="adj" fmla="val 6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2588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1307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Pares de grupos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17904" y="16916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 argui B por 12 minutos; depois invertem.</a:t>
            </a:r>
            <a:endParaRPr lang="en-US" sz="1300" dirty="0"/>
          </a:p>
        </p:txBody>
      </p:sp>
      <p:sp>
        <p:nvSpPr>
          <p:cNvPr id="11" name="passo 2"/>
          <p:cNvSpPr/>
          <p:nvPr/>
        </p:nvSpPr>
        <p:spPr>
          <a:xfrm>
            <a:off x="768096" y="2039112"/>
            <a:ext cx="4480560" cy="804672"/>
          </a:xfrm>
          <a:prstGeom prst="roundRect">
            <a:avLst>
              <a:gd name="adj" fmla="val 6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221992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17904" y="2203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Sorteiem quem responde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17904" y="25877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Perguntas do slide 15, sem consultar o código.</a:t>
            </a:r>
            <a:endParaRPr lang="en-US" sz="1300" dirty="0"/>
          </a:p>
        </p:txBody>
      </p:sp>
      <p:sp>
        <p:nvSpPr>
          <p:cNvPr id="16" name="passo 3"/>
          <p:cNvSpPr/>
          <p:nvPr/>
        </p:nvSpPr>
        <p:spPr>
          <a:xfrm>
            <a:off x="768096" y="2935224"/>
            <a:ext cx="4480560" cy="804672"/>
          </a:xfrm>
          <a:prstGeom prst="roundRect">
            <a:avLst>
              <a:gd name="adj" fmla="val 6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118104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3099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Uma alteração ao vivo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34838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grupo arguidor escolhe um pedido do slide 16.</a:t>
            </a:r>
            <a:endParaRPr lang="en-US" sz="1300" dirty="0"/>
          </a:p>
        </p:txBody>
      </p:sp>
      <p:sp>
        <p:nvSpPr>
          <p:cNvPr id="21" name="passo 4"/>
          <p:cNvSpPr/>
          <p:nvPr/>
        </p:nvSpPr>
        <p:spPr>
          <a:xfrm>
            <a:off x="768096" y="3831336"/>
            <a:ext cx="4480560" cy="804672"/>
          </a:xfrm>
          <a:prstGeom prst="roundRect">
            <a:avLst>
              <a:gd name="adj" fmla="val 6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0976" y="4014216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517904" y="3995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Anotem o que travou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517904" y="43799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Cada pergunta sem resposta vira tarefa de estudo.</a:t>
            </a:r>
            <a:endParaRPr lang="en-US" sz="1300" dirty="0"/>
          </a:p>
        </p:txBody>
      </p:sp>
      <p:sp>
        <p:nvSpPr>
          <p:cNvPr id="26" name="ficha"/>
          <p:cNvSpPr/>
          <p:nvPr/>
        </p:nvSpPr>
        <p:spPr>
          <a:xfrm>
            <a:off x="5431536" y="1143000"/>
            <a:ext cx="2944368" cy="3493008"/>
          </a:xfrm>
          <a:prstGeom prst="roundRect">
            <a:avLst>
              <a:gd name="adj" fmla="val 186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14416" y="12801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533" y="1394277"/>
            <a:ext cx="247254" cy="24725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217920" y="12801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Ficha do arguidor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632704" y="202996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185A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98932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Explicou com as próprias palavras?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632704" y="267004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185A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98932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Apontou o arquivo certo?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632704" y="331012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185A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98932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Disse o porquê, não só o quê?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632704" y="395020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185A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989320" y="3858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 alteração rodou?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2: auditoria da entrega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até o fim da aula</a:t>
            </a:r>
            <a:endParaRPr lang="en-US" sz="1100" dirty="0"/>
          </a:p>
        </p:txBody>
      </p:sp>
      <p:sp>
        <p:nvSpPr>
          <p:cNvPr id="6" name="passo 1"/>
          <p:cNvSpPr/>
          <p:nvPr/>
        </p:nvSpPr>
        <p:spPr>
          <a:xfrm>
            <a:off x="768096" y="118872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7160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Rodem do zero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17904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Do próprio zip, numa pasta nova, com os comandos do slide 18.</a:t>
            </a:r>
            <a:endParaRPr lang="en-US" sz="1300" dirty="0"/>
          </a:p>
        </p:txBody>
      </p:sp>
      <p:sp>
        <p:nvSpPr>
          <p:cNvPr id="11" name="passo 2"/>
          <p:cNvSpPr/>
          <p:nvPr/>
        </p:nvSpPr>
        <p:spPr>
          <a:xfrm>
            <a:off x="768096" y="237744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56032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17904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Confiram o checklist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17904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Zip sem banco,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; com migrations.</a:t>
            </a:r>
            <a:endParaRPr lang="en-US" sz="1300" dirty="0"/>
          </a:p>
        </p:txBody>
      </p:sp>
      <p:sp>
        <p:nvSpPr>
          <p:cNvPr id="16" name="passo 3"/>
          <p:cNvSpPr/>
          <p:nvPr/>
        </p:nvSpPr>
        <p:spPr>
          <a:xfrm>
            <a:off x="768096" y="356616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4904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Revisem o README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Modelo,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on_delete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justificado, decisões e uso de IA.</a:t>
            </a:r>
            <a:endParaRPr lang="en-US" sz="1300" dirty="0"/>
          </a:p>
        </p:txBody>
      </p:sp>
      <p:sp>
        <p:nvSpPr>
          <p:cNvPr id="21" name="readme"/>
          <p:cNvSpPr/>
          <p:nvPr/>
        </p:nvSpPr>
        <p:spPr>
          <a:xfrm>
            <a:off x="5431536" y="1188720"/>
            <a:ext cx="2944368" cy="3401568"/>
          </a:xfrm>
          <a:prstGeom prst="roundRect">
            <a:avLst>
              <a:gd name="adj" fmla="val 186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14416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O README tem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1856232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907024" y="1764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modelo de dados e o diagrama</a:t>
            </a:r>
            <a:endParaRPr lang="en-US" sz="13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386584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907024" y="2295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 justificativa de cada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on_delete</a:t>
            </a:r>
            <a:endParaRPr lang="en-US" sz="13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291693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907024" y="2825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as decisões do bônus, se houver</a:t>
            </a:r>
            <a:endParaRPr lang="en-US" sz="13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3447288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907024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que foi feito com IA e o que o grupo revisou</a:t>
            </a:r>
            <a:endParaRPr lang="en-US" sz="13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397764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907024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como instalar e rodar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Boa entrega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ARA0095_Django_&lt;sobrenomes&gt;.zip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Com migrations, sem banco, com README.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2102206"/>
            <a:ext cx="3246120" cy="939089"/>
          </a:xfrm>
          <a:prstGeom prst="roundRect">
            <a:avLst>
              <a:gd name="adj" fmla="val 779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222107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222107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22107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215707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486254"/>
            <a:ext cx="288036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FALHA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A0095 RAD">
  <a:themeElements>
    <a:clrScheme name="ARA0095 RAD">
      <a:dk1>
        <a:srgbClr val="3A3F44"/>
      </a:dk1>
      <a:lt1>
        <a:srgbClr val="FFFFFF"/>
      </a:lt1>
      <a:dk2>
        <a:srgbClr val="00397B"/>
      </a:dk2>
      <a:lt2>
        <a:srgbClr val="E3EFF1"/>
      </a:lt2>
      <a:accent1>
        <a:srgbClr val="1185AA"/>
      </a:accent1>
      <a:accent2>
        <a:srgbClr val="D06110"/>
      </a:accent2>
      <a:accent3>
        <a:srgbClr val="54C8E1"/>
      </a:accent3>
      <a:accent4>
        <a:srgbClr val="892900"/>
      </a:accent4>
      <a:accent5>
        <a:srgbClr val="9FE8ED"/>
      </a:accent5>
      <a:accent6>
        <a:srgbClr val="FCBCA1"/>
      </a:accent6>
      <a:hlink>
        <a:srgbClr val="1185AA"/>
      </a:hlink>
      <a:folHlink>
        <a:srgbClr val="892900"/>
      </a:folHlink>
    </a:clrScheme>
    <a:fontScheme name="ARA0095 R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 de ponta a ponta</dc:title>
  <dc:subject>PptxGenJS Presentation</dc:subject>
  <dc:creator>ARA0095</dc:creator>
  <cp:lastModifiedBy>ARA0095</cp:lastModifiedBy>
  <cp:revision>1</cp:revision>
  <dcterms:created xsi:type="dcterms:W3CDTF">2026-10-23T01:44:32Z</dcterms:created>
  <dcterms:modified xsi:type="dcterms:W3CDTF">2026-10-23T01:44:32Z</dcterms:modified>
</cp:coreProperties>
</file>