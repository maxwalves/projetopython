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834" r:id="rId5"/>
    <p:sldId id="835" r:id="rId6"/>
    <p:sldId id="864" r:id="rId40"/>
    <p:sldId id="836" r:id="rId7"/>
    <p:sldId id="837" r:id="rId8"/>
    <p:sldId id="838" r:id="rId9"/>
    <p:sldId id="839" r:id="rId10"/>
    <p:sldId id="840" r:id="rId11"/>
    <p:sldId id="841" r:id="rId12"/>
    <p:sldId id="842" r:id="rId13"/>
    <p:sldId id="843" r:id="rId14"/>
    <p:sldId id="855" r:id="rId15"/>
    <p:sldId id="844" r:id="rId16"/>
    <p:sldId id="845" r:id="rId17"/>
    <p:sldId id="846" r:id="rId18"/>
    <p:sldId id="847" r:id="rId19"/>
    <p:sldId id="850" r:id="rId20"/>
    <p:sldId id="849" r:id="rId21"/>
    <p:sldId id="848" r:id="rId22"/>
    <p:sldId id="851" r:id="rId23"/>
    <p:sldId id="852" r:id="rId24"/>
    <p:sldId id="853" r:id="rId25"/>
    <p:sldId id="854" r:id="rId26"/>
    <p:sldId id="857" r:id="rId27"/>
    <p:sldId id="858" r:id="rId28"/>
    <p:sldId id="859" r:id="rId29"/>
    <p:sldId id="860" r:id="rId30"/>
    <p:sldId id="865" r:id="rId41"/>
    <p:sldId id="861" r:id="rId31"/>
    <p:sldId id="862" r:id="rId32"/>
    <p:sldId id="863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jango: RAD na web" id="{6B1D2C55-0E3A-4C41-9A57-0D7F2A9C1E01}">
          <p14:sldIdLst>
            <p14:sldId id="834"/>
            <p14:sldId id="835"/>
            <p14:sldId id="836"/>
            <p14:sldId id="837"/>
            <p14:sldId id="838"/>
            <p14:sldId id="839"/>
            <p14:sldId id="840"/>
            <p14:sldId id="841"/>
            <p14:sldId id="842"/>
            <p14:sldId id="843"/>
            <p14:sldId id="855"/>
            <p14:sldId id="844"/>
            <p14:sldId id="845"/>
            <p14:sldId id="846"/>
            <p14:sldId id="847"/>
            <p14:sldId id="850"/>
            <p14:sldId id="849"/>
            <p14:sldId id="848"/>
            <p14:sldId id="851"/>
            <p14:sldId id="852"/>
            <p14:sldId id="853"/>
            <p14:sldId id="854"/>
            <p14:sldId id="857"/>
          </p14:sldIdLst>
        </p14:section>
        <p14:section name="Prática: Django" id="{6B1D2C55-0E3A-4C41-9A57-0D7F2A9C1E02}">
          <p14:sldIdLst>
            <p14:sldId id="858"/>
            <p14:sldId id="859"/>
            <p14:sldId id="860"/>
            <p14:sldId id="861"/>
            <p14:sldId id="862"/>
            <p14:sldId id="8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7B"/>
    <a:srgbClr val="1C8BBB"/>
    <a:srgbClr val="198ABA"/>
    <a:srgbClr val="0A6640"/>
    <a:srgbClr val="6D7D9B"/>
    <a:srgbClr val="F5F8FA"/>
    <a:srgbClr val="E3EAF6"/>
    <a:srgbClr val="FFFFFF"/>
    <a:srgbClr val="E2F7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71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4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886" y="11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  <Relationship Id="rId40" Type="http://schemas.openxmlformats.org/officeDocument/2006/relationships/slide" Target="slides/slide30.xml"/>
  <Relationship Id="rId41" Type="http://schemas.openxmlformats.org/officeDocument/2006/relationships/slide" Target="slides/slide31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811A212-6A12-8F4E-6808-D4F2102078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C73FF2A-1C70-7FA4-A271-9E323F5F89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A0C11-A484-4AE7-B838-3BA57A26A6BF}" type="datetimeFigureOut">
              <a:rPr lang="pt-BR" smtClean="0"/>
              <a:t>15/10/2026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3AFBC9E-D42D-833B-6F78-F44CB4CEF3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AC13DC-F617-C448-AA01-40021C7D7E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091E9-4D97-4F96-A896-53BB6A17C6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11200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413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Abertura da aula (sem tempo de exposição; troque de slide assim que a turma estiver pronta).</a:t>
            </a:r>
          </a:p>
          <a:p>
            <a:endParaRPr/>
          </a:p>
          <a:p>
            <a:r>
              <a:t>Duração total da exposição: 50 minutos. Depois dela vem a parte prática, com slides próprios ao final desta seção.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0 a 4 min</a:t>
            </a:r>
          </a:p>
          <a:p>
            <a:endParaRPr/>
          </a:p>
          <a:p>
            <a:r>
              <a:t>Mostre o código da Entrega 1 e pergunte à turma: "neste trecho, o que é DECISÃO de vocês e o que é só CERIMÔNIA que se repete em toda função?"</a:t>
            </a:r>
          </a:p>
          <a:p>
            <a:endParaRPr/>
          </a:p>
          <a:p>
            <a:r>
              <a:t>Resposta esperada: as decisões são os nomes das colunas e as regras. Todo o resto (connect, PRAGMA, cursor, commit, close, montar o INSERT com ?) se repetia em cada operação do CRUD.</a:t>
            </a:r>
          </a:p>
          <a:p>
            <a:endParaRPr/>
          </a:p>
          <a:p>
            <a:r>
              <a:t>Ponte para a aula: um framework full-stack assume exatamente essa cerimônia. O banco continua SQLite; o que muda é quem escreve o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 a 5 min</a:t>
            </a:r>
          </a:p>
          <a:p>
            <a:endParaRPr/>
          </a:p>
          <a:p>
            <a:r>
              <a:t>Leia os três objetivos rapidamente. Diga que o terceiro objetivo é cumprido na parte prática, no laboratório, logo depois da exposição.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5 a 6 min</a:t>
            </a:r>
          </a:p>
          <a:p>
            <a:endParaRPr/>
          </a:p>
          <a:p>
            <a:r>
              <a:t>Mostre o caminho da aula. Os minutos são uma referência para você controlar o ritmo:</a:t>
            </a:r>
          </a:p>
          <a:p>
            <a:r>
              <a:t>• 0 a 6: situação-problema, objetivos e roteiro</a:t>
            </a:r>
          </a:p>
          <a:p>
            <a:r>
              <a:t>• 6 a 20: Django e MTV</a:t>
            </a:r>
          </a:p>
          <a:p>
            <a:r>
              <a:t>• 20 a 36: do banco à tela. Uma funcionalidade construída na ordem dos TODOs: o modelo de dados, o model, a migration, a consulta, a view que lista, o template que mostra; depois o form e a view que cadastra</a:t>
            </a:r>
          </a:p>
          <a:p>
            <a:r>
              <a:t>• 36 a 42: segurança</a:t>
            </a:r>
          </a:p>
          <a:p>
            <a:r>
              <a:t>• 42 a 50: a entrega e o fechamento</a:t>
            </a:r>
          </a:p>
          <a:p>
            <a:endParaRPr/>
          </a:p>
          <a:p>
            <a:r>
              <a:t>Depois da exposição começa a prática guiada (seção "Prática" no fim destes slides).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6 a 8 min</a:t>
            </a:r>
          </a:p>
          <a:p>
            <a:endParaRPr/>
          </a:p>
          <a:p>
            <a:r>
              <a:t>Retome o que a turma já viu sobre frameworks para RAD: full-stack, microframework e assíncrono. O Django é o exemplo clássico de full-stack; o Flask, de microframework.</a:t>
            </a:r>
          </a:p>
          <a:p>
            <a:endParaRPr/>
          </a:p>
          <a:p>
            <a:r>
              <a:t>"Baterias incluídas" significa que cada item destes cards seria uma biblioteca a escolher, instalar e integrar num microframework. No Django já vem pronto e integrado. Isso é RAD: a ferramenta assume o trabalho mecânico para a equipe gastar atenção no que exige decisão.</a:t>
            </a:r>
          </a:p>
          <a:p>
            <a:endParaRPr/>
          </a:p>
          <a:p>
            <a:r>
              <a:t>Pergunta rápida à turma: na Entrega 1, quanto tempo foi gasto com a parte mecânica de cada um destes itens?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8 a 11 min</a:t>
            </a:r>
          </a:p>
          <a:p>
            <a:endParaRPr/>
          </a:p>
          <a:p>
            <a:r>
              <a:t>Percorra a tabela linha a linha, sempre perguntando "onde isso estava no código de vocês?".</a:t>
            </a:r>
          </a:p>
          <a:p>
            <a:endParaRPr/>
          </a:p>
          <a:p>
            <a:r>
              <a:t>Destaques:</a:t>
            </a:r>
          </a:p>
          <a:p>
            <a:r>
              <a:t>• A conexão deixa de ser aberta e fechada em cada função: vocês só DESCREVEM o banco no settings.py.</a:t>
            </a:r>
          </a:p>
          <a:p>
            <a:r>
              <a:t>• ATOMIC_REQUESTS = True (settings.py) embrulha cada requisição numa transação: se a view termina bem, COMMIT; se estoura uma exceção, ROLLBACK. É impossível esquecer o commit().</a:t>
            </a:r>
          </a:p>
          <a:p>
            <a:r>
              <a:t>• O PRAGMA foreign_keys é ligado pelo próprio Django em toda conexão.</a:t>
            </a:r>
          </a:p>
          <a:p>
            <a:endParaRPr/>
          </a:p>
          <a:p>
            <a:r>
              <a:t>Frase para fixar: a natureza do CRUD não mudou; mudou a camada.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11 a 13 min</a:t>
            </a:r>
          </a:p>
          <a:p>
            <a:endParaRPr/>
          </a:p>
          <a:p>
            <a:r>
              <a:t>O Django organiza o código em Model, Template e View (MTV). Outros frameworks chamam de MVC: a "view" do Django faz o papel do "controller", e o "template" faz o papel da "view".</a:t>
            </a:r>
          </a:p>
          <a:p>
            <a:endParaRPr/>
          </a:p>
          <a:p>
            <a:r>
              <a:t>Regra de ouro (item 5 da rubrica da Entrega 1, agora do outro lado): a view não monta HTML, o template não consulta o banco, e a regra de negócio mora no model.</a:t>
            </a:r>
          </a:p>
          <a:p>
            <a:endParaRPr/>
          </a:p>
          <a:p>
            <a:r>
              <a:t>URLs e forms completam o quadro: as URLs substituem o menu do main.py; os forms substituem os input() e os if de validação.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13 a 17 min (slide central da aula: não corra)</a:t>
            </a:r>
          </a:p>
          <a:p>
            <a:endParaRPr/>
          </a:p>
          <a:p>
            <a:r>
              <a:t>Conte a história do pedido, seguindo os números:</a:t>
            </a:r>
          </a:p>
          <a:p>
            <a:r>
              <a:t>1. O navegador pede a URL.</a:t>
            </a:r>
          </a:p>
          <a:p>
            <a:r>
              <a:t>2. O middleware (lista no settings.py) cuida da sessão, do CSRF e coloca o usuário em request.user.</a:t>
            </a:r>
          </a:p>
          <a:p>
            <a:r>
              <a:t>3. config/urls.py vê o prefixo "contas/" e delega para o app.</a:t>
            </a:r>
          </a:p>
          <a:p>
            <a:r>
              <a:t>4. contas/urls.py casa "usuarios/" com a função views.usuario_lista.</a:t>
            </a:r>
          </a:p>
          <a:p>
            <a:r>
              <a:t>5. Antes de a view rodar, o decorator @somente_coordenacao confere: está logado? É coordenação? Se não, login ou 403.</a:t>
            </a:r>
          </a:p>
          <a:p>
            <a:r>
              <a:t>6. A view lê o parâmetro ?busca= e monta a consulta.</a:t>
            </a:r>
          </a:p>
          <a:p>
            <a:r>
              <a:t>7. O ORM traduz a consulta para SELECT ... WHERE ... no SQLite.</a:t>
            </a:r>
          </a:p>
          <a:p>
            <a:r>
              <a:t>8. O template transforma os dados em HTML, que volta ao navegador.</a:t>
            </a:r>
          </a:p>
          <a:p>
            <a:endParaRPr/>
          </a:p>
          <a:p>
            <a:r>
              <a:t>Na prática, os alunos vão seguir exatamente este fio abrindo os arquivos.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17 a 19 min</a:t>
            </a:r>
          </a:p>
          <a:p>
            <a:endParaRPr/>
          </a:p>
          <a:p>
            <a:r>
              <a:t>Mostre a árvore de pastas. Destaque:</a:t>
            </a:r>
          </a:p>
          <a:p>
            <a:r>
              <a:t>• config/ é o projeto (configuração geral); contas/ e academico/ são apps (pedaços independentes do sistema).</a:t>
            </a:r>
          </a:p>
          <a:p>
            <a:r>
              <a:t>• O app contas já funciona: login, gestão de usuários, controle por perfil. Ele é a implementação de referência.</a:t>
            </a:r>
          </a:p>
          <a:p>
            <a:r>
              <a:t>• O app academico é o que eles implementam: alunos, disciplinas e notas.</a:t>
            </a:r>
          </a:p>
          <a:p>
            <a:r>
              <a:t>• templates/ já vem pronto: ninguém precisa escrever HTML nesta entrega, mas precisa mandar as variáveis com os nomes que o template espera.</a:t>
            </a:r>
          </a:p>
          <a:p>
            <a:r>
              <a:t>• material/ tem 11 textos de apoio; os mais urgentes são o 00, o 01, o 07 e o 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19 a 20 min</a:t>
            </a:r>
          </a:p>
          <a:p>
            <a:endParaRPr/>
          </a:p>
          <a:p>
            <a:r>
              <a:t>Passe rápido: estes comandos reaparecem na prática.</a:t>
            </a:r>
          </a:p>
          <a:p>
            <a:endParaRPr/>
          </a:p>
          <a:p>
            <a:r>
              <a:t>O manage.py inicializa o Django antes de qualquer coisa (lê o settings.py, prepara os apps, abre a conexão). Por isso um script solto que importa um model dá "ImproperlyConfigured", e por isso o seed virou um comando (seed_demo) em vez de um seed.py avulso.</a:t>
            </a:r>
          </a:p>
          <a:p>
            <a:endParaRPr/>
          </a:p>
          <a:p>
            <a:r>
              <a:t>Reforce o aviso: sem o .venv ativo, o erro é "No module named 'django'".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20 a 22 min</a:t>
            </a:r>
          </a:p>
          <a:p>
            <a:endParaRPr/>
          </a:p>
          <a:p>
            <a:r>
              <a:t>Abre o bloco "Do banco à tela": antes de escrever qualquer classe, o desenho das três tabelas que o sistema vai ter.</a:t>
            </a:r>
          </a:p>
          <a:p>
            <a:endParaRPr/>
          </a:p>
          <a:p>
            <a:r>
              <a:t>Esta também é A pergunta da arguição. Faça a pergunta e deixe a turma responder ANTES de clicar: a resposta aparece no clique.</a:t>
            </a:r>
          </a:p>
          <a:p>
            <a:endParaRPr/>
          </a:p>
          <a:p>
            <a:r>
              <a:t>Use o diagrama: aluno e disciplina têm relação N:N, que não cabe em duas tabelas. A tabela inscricao é o encontro entre os dois, e é nela que moram as notas.</a:t>
            </a:r>
          </a:p>
          <a:p>
            <a:endParaRPr/>
          </a:p>
          <a:p>
            <a:r>
              <a:t>Ligue com o TODO 3:</a:t>
            </a:r>
          </a:p>
          <a:p>
            <a:r>
              <a:t>• FKs com on_delete=PROTECT e related_name="inscricoes" (aluno.inscricoes.all() é o JOIN sem escrever JOIN).</a:t>
            </a:r>
          </a:p>
          <a:p>
            <a:r>
              <a:t>• UniqueConstraint(fields=["aluno", "disciplina"]): o mesmo aluno não se inscreve duas vezes na mesma disciplina.</a:t>
            </a:r>
          </a:p>
          <a:p>
            <a:r>
              <a:t>• DecimalField para as notas: float não representa decimal exato (0.1 + 0.2 != 0.3), e em nota um centésimo decide aprovação.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22 a 24 min</a:t>
            </a:r>
          </a:p>
          <a:p>
            <a:endParaRPr/>
          </a:p>
          <a:p>
            <a:r>
              <a:t>Este é exatamente o TODO 1. As docstrings de academico/models.py já trazem estes campos; o importante é entender cada argumento.</a:t>
            </a:r>
          </a:p>
          <a:p>
            <a:endParaRPr/>
          </a:p>
          <a:p>
            <a:r>
              <a:t>• CharField com max_length vira TEXT NOT NULL: obrigatório por padrão.</a:t>
            </a:r>
          </a:p>
          <a:p>
            <a:r>
              <a:t>• unique=True vira UNIQUE. Bônus: o ModelForm transforma a violação numa mensagem de campo, sem traceback.</a:t>
            </a:r>
          </a:p>
          <a:p>
            <a:r>
              <a:t>• A pegadinha número 1: null=True é sobre a COLUNA (aceita NULL); blank=True é sobre o FORMULÁRIO (aceita vazio). Texto usa só blank; data e número usam os dois.</a:t>
            </a:r>
          </a:p>
          <a:p>
            <a:r>
              <a:t>• db_table = "aluno" mantém o nome de tabela da Entrega 1 (sem isso seria academico_aluno). O id é criado sozinho.</a:t>
            </a:r>
          </a:p>
          <a:p>
            <a:r>
              <a:t>• __str__ define como o aluno aparece nos &lt;select&gt;. Sem ele, aparece "Aluno object (1)".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24 a 26 min</a:t>
            </a:r>
          </a:p>
          <a:p>
            <a:endParaRPr/>
          </a:p>
          <a:p>
            <a:r>
              <a:t>O fluxo tem dois comandos:</a:t>
            </a:r>
          </a:p>
          <a:p>
            <a:r>
              <a:t>• makemigrations compara as classes com o estado anterior e gera um arquivo (0001_initial.py): o "diff" do banco.</a:t>
            </a:r>
          </a:p>
          <a:p>
            <a:r>
              <a:t>• migrate aplica esse arquivo no escola.sqlite3.</a:t>
            </a:r>
          </a:p>
          <a:p>
            <a:endParaRPr/>
          </a:p>
          <a:p>
            <a:r>
              <a:t>Regra da entrega: as migrations VÃO no zip (são código: sem elas o projeto não sobe do zero, desconto de 1,0). O escola.sqlite3 NÃO vai (é gerado; desconto de 0,5).</a:t>
            </a:r>
          </a:p>
          <a:p>
            <a:endParaRPr/>
          </a:p>
          <a:p>
            <a:r>
              <a:t>O sqlmigrate é o melhor amigo do aluno que veio do SQL cru: ele mostra o CREATE TABLE que o Django escreveu a partir da classe. Peça que comparem com o CREATE TABLE da Entrega 1.</a:t>
            </a:r>
          </a:p>
          <a:p>
            <a:endParaRPr/>
          </a:p>
          <a:p>
            <a:r>
              <a:t>Dica do roteiro: façam os TODOs 1 a 3 juntos e migrem uma vez 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26 a 28 min</a:t>
            </a:r>
          </a:p>
          <a:p>
            <a:endParaRPr/>
          </a:p>
          <a:p>
            <a:r>
              <a:t>Cada linha da esquerda gera a da direita. O ORM sempre parametriza os valores: é o mesmo cuidado do ? da Entrega 1, só que automático. Por isso não há SQL Injection.</a:t>
            </a:r>
          </a:p>
          <a:p>
            <a:endParaRPr/>
          </a:p>
          <a:p>
            <a:r>
              <a:t>Dois conceitos para destacar:</a:t>
            </a:r>
          </a:p>
          <a:p>
            <a:r>
              <a:t>• QuerySet é preguiçoso: Aluno.objects.all() não vai ao banco. A consulta só roda quando os dados são usados (no {% for %} do template). Dá para encadear filter() sem custo.</a:t>
            </a:r>
          </a:p>
          <a:p>
            <a:r>
              <a:t>• Q() permite OR. Vários filter() encadeados sempre viram AND.</a:t>
            </a:r>
          </a:p>
          <a:p>
            <a:endParaRPr/>
          </a:p>
          <a:p>
            <a:r>
              <a:t>Problema N+1: ao listar inscrições mostrando inscricao.aluno.nome, o Django faria uma consulta por linha. select_related faz o JOIN e traz tudo de uma vez. É critério da rubrica (item 3).</a:t>
            </a:r>
          </a:p>
          <a:p>
            <a:endParaRPr/>
          </a:p>
          <a:p>
            <a:r>
              <a:t>Para ver o SQL de qualquer QuerySet: print(qs.query).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28 a 30 min</a:t>
            </a:r>
          </a:p>
          <a:p>
            <a:endParaRPr/>
          </a:p>
          <a:p>
            <a:r>
              <a:t>Esta é a view do TODO 7, e é ela que renderiza o template do próximo slide. Mostre o caminho em três passos:</a:t>
            </a:r>
          </a:p>
          <a:p>
            <a:r>
              <a:t>1. Aluno.objects.all() monta o QuerySet. Ele ainda não foi ao banco (é preguiçoso).</a:t>
            </a:r>
          </a:p>
          <a:p>
            <a:r>
              <a:t>2. request.GET traz o que veio na URL (/alunos/?busca=maria). Se veio busca, o filter() com Q faz o OR entre nome e matrícula.</a:t>
            </a:r>
          </a:p>
          <a:p>
            <a:r>
              <a:t>3. render() junta o template com o CONTEXTO, o dicionário do fim. Cada chave do dicionário vira uma variável no template: "alunos" vira o {% for aluno in alunos %} do próximo slide, e "busca" vira o {{ busca }} do campo de pesquisa.</a:t>
            </a:r>
          </a:p>
          <a:p>
            <a:endParaRPr/>
          </a:p>
          <a:p>
            <a:r>
              <a:t>O nome precisa ser igual dos dois lados: se a view mandar {"lista": alunos}, o template fica vazio sem dar erro.</a:t>
            </a:r>
          </a:p>
          <a:p>
            <a:endParaRPr/>
          </a:p>
          <a:p>
            <a:r>
              <a:t>Referência pronta: usuario_lista em contas/views.py.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30 a 32 min</a:t>
            </a:r>
          </a:p>
          <a:p>
            <a:endParaRPr/>
          </a:p>
          <a:p>
            <a:r>
              <a:t>Continuação direta do slide anterior: este é o HTML que a view aluno_lista renderiza.</a:t>
            </a:r>
          </a:p>
          <a:p>
            <a:endParaRPr/>
          </a:p>
          <a:p>
            <a:r>
              <a:t>Template (esquerda): o "alunos" do {% for %} é a chave "alunos" do contexto que a view mandou. {% extends %} reaproveita o base.html (menu e mensagens), {% for %} percorre o QuerySet (é aqui que a consulta finalmente vai ao banco) e {% empty %} trata a lista vazia.</a:t>
            </a:r>
          </a:p>
          <a:p>
            <a:endParaRPr/>
          </a:p>
          <a:p>
            <a:r>
              <a:t>URL (direita): fecha o circuito. path(rota, view, name) liga o endereço /academico/alunos/ à função aluno_lista. O &lt;int:pk&gt; captura um número da URL e entrega para a view (pk=7); se vier texto, o Django devolve 404 antes de a view rodar.</a:t>
            </a:r>
          </a:p>
          <a:p>
            <a:endParaRPr/>
          </a:p>
          <a:p>
            <a:r>
              <a:t>O name é o que se usa no template ({% url %}) e na view (redirect). Nunca escrever "/academico/alunos/" na mão: se a rota mudar, o {% url %} acompanha. academico/urls.py já vem pronto: é o contrato com os templates e os testes. Não renomeiem rotas.</a:t>
            </a:r>
          </a:p>
          <a:p>
            <a:endParaRPr/>
          </a:p>
          <a:p>
            <a:r>
              <a:t>A armadilha do card azul é a mais traiçoeira do trabalho: o template ignora variável inexistente sem dar erro.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34 a 36 min</a:t>
            </a:r>
          </a:p>
          <a:p>
            <a:endParaRPr/>
          </a:p>
          <a:p>
            <a:r>
              <a:t>Este desenho se repete em TODA tela de cadastro e edição do sistema. Decorar o desenho vale mais do que decorar um caso:</a:t>
            </a:r>
          </a:p>
          <a:p>
            <a:r>
              <a:t>• POST: o usuário enviou o formulário. Monta o form com os dados; se for válido, salva e redireciona; se não, cai no render com os erros e com o que ele digitou.</a:t>
            </a:r>
          </a:p>
          <a:p>
            <a:r>
              <a:t>• GET: o usuário só abriu a tela. Monta um form vazio.</a:t>
            </a:r>
          </a:p>
          <a:p>
            <a:r>
              <a:t>• O render final serve os dois casos.</a:t>
            </a:r>
          </a:p>
          <a:p>
            <a:endParaRPr/>
          </a:p>
          <a:p>
            <a:r>
              <a:t>POST/Redirect/GET: sem o redirect, um F5 reenvia o POST e cadastra o mesmo aluno duas vezes.</a:t>
            </a:r>
          </a:p>
          <a:p>
            <a:endParaRPr/>
          </a:p>
          <a:p>
            <a:r>
              <a:t>Editar é o mesmo código com get_object_or_404 e instance=aluno nos dois caminhos (POST e GET). Sem instance, o save() faz INSERT e cria um aluno novo.</a:t>
            </a:r>
          </a:p>
          <a:p>
            <a:endParaRPr/>
          </a:p>
          <a:p>
            <a:r>
              <a:t>Referência pronta: usuario_novo e usuario_editar em contas/views.py.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32 a 34 min</a:t>
            </a:r>
          </a:p>
          <a:p>
            <a:endParaRPr/>
          </a:p>
          <a:p>
            <a:r>
              <a:t>O ModelForm lê o model: basta dizer qual model e quais campos. Ele gera o HTML dos campos, valida e converte.</a:t>
            </a:r>
          </a:p>
          <a:p>
            <a:endParaRPr/>
          </a:p>
          <a:p>
            <a:r>
              <a:t>clean_&lt;campo&gt; é chamado automaticamente pelo Django. Ele recebe o valor já convertido e precisa DEVOLVER o valor (possivelmente corrigido) ou levantar ValidationError. Armadilha clássica: esquecer o return. O campo vira None e o aluno é salvo sem matrícula.</a:t>
            </a:r>
          </a:p>
          <a:p>
            <a:endParaRPr/>
          </a:p>
          <a:p>
            <a:r>
              <a:t>Onde validar:</a:t>
            </a:r>
          </a:p>
          <a:p>
            <a:r>
              <a:t>• No MODELO (validators): integridade, vale para form, admin, shell e seed.</a:t>
            </a:r>
          </a:p>
          <a:p>
            <a:r>
              <a:t>• No FORMULÁRIO (clean_): mensagem amigável para quem digita.</a:t>
            </a:r>
          </a:p>
          <a:p>
            <a:endParaRPr/>
          </a:p>
          <a:p>
            <a:r>
              <a:t>Não precisa checar duplicidade na mão: o unique=True do model já vira mensagem no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36 a 38 min</a:t>
            </a:r>
          </a:p>
          <a:p>
            <a:endParaRPr/>
          </a:p>
          <a:p>
            <a:r>
              <a:t>As duas telas são do projeto rodando:</a:t>
            </a:r>
          </a:p>
          <a:p>
            <a:r>
              <a:t>• Esquerda: admin (coordenação) vê "Usuarios" no menu e a gestão completa.</a:t>
            </a:r>
          </a:p>
          <a:p>
            <a:r>
              <a:t>• Direita: professor. O link some do menu e, se ele digitar /contas/usuarios/ na mão, recebe 403.</a:t>
            </a:r>
          </a:p>
          <a:p>
            <a:endParaRPr/>
          </a:p>
          <a:p>
            <a:r>
              <a:t>A mensagem do README: esconder o link é cortesia; a proteção de verdade é o decorator na view.</a:t>
            </a:r>
          </a:p>
          <a:p>
            <a:endParaRPr/>
          </a:p>
          <a:p>
            <a:r>
              <a:t>Por que 403 e não mandar para o login? Porque são problemas diferentes. Login significa "não sei quem você é"; 403 significa "sei quem você é, e você não pode". Mandar para o login quem já está logado cria aquele loop de tela de login que não adianta preencher.</a:t>
            </a:r>
          </a:p>
          <a:p>
            <a:endParaRPr/>
          </a:p>
          <a:p>
            <a:r>
              <a:t>Requisito da entrega: @login_required em TODAS as views do app academico.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38 a 40 min</a:t>
            </a:r>
          </a:p>
          <a:p>
            <a:endParaRPr/>
          </a:p>
          <a:p>
            <a:r>
              <a:t>Quatro requisitos não negociáveis do enunciado, cada um com o porquê:</a:t>
            </a:r>
          </a:p>
          <a:p>
            <a:r>
              <a:t>• {% csrf_token %} em todo formulário POST: sem ele, um site malicioso poderia enviar um formulário em nome do usuário logado. O próprio logout é POST por isso.</a:t>
            </a:r>
          </a:p>
          <a:p>
            <a:r>
              <a:t>• Exclusão só no POST: GET mostra a tela de confirmação. Links que apagam dados são disparados por robôs de busca e pré-carregadores do navegador.</a:t>
            </a:r>
          </a:p>
          <a:p>
            <a:r>
              <a:t>• Nada de SQL com f-string: o ORM parametriza. Quem usar .raw() com f-string tem o item 4 da rubrica zerado (é a mesma brecha de SQL Injection da Entrega 1).</a:t>
            </a:r>
          </a:p>
          <a:p>
            <a:r>
              <a:t>• on_delete=PROTECT nas FKs de inscricao: o banco recusa apagar aluno com notas. Tratar o ProtectedError com uma mensagem amigável.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40 a 42 min</a:t>
            </a:r>
          </a:p>
          <a:p>
            <a:endParaRPr/>
          </a:p>
          <a:p>
            <a:r>
              <a:t>Esta é a mensagem central da disciplina, tirada do README do projeto: cinco dos sete requisitos "não negociáveis" da Entrega 1 passaram a ser responsabilidade do framework.</a:t>
            </a:r>
          </a:p>
          <a:p>
            <a:endParaRPr/>
          </a:p>
          <a:p>
            <a:r>
              <a:t>Os dois que sobraram são justamente os que dependem de julgamento, não de digitação:</a:t>
            </a:r>
          </a:p>
          <a:p>
            <a:r>
              <a:t>1. Separação de responsabilidades.</a:t>
            </a:r>
          </a:p>
          <a:p>
            <a:r>
              <a:t>2. Nunca montar SQL na mão.</a:t>
            </a:r>
          </a:p>
          <a:p>
            <a:endParaRPr/>
          </a:p>
          <a:p>
            <a:r>
              <a:t>Isso é o RAD: a ferramenta assume o trabalho mecânico para a equipe gastar atenção onde ela decide alguma coisa. E é a habilidade que sobrevive à próxima troca de tecnologia.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42 a 45 min</a:t>
            </a:r>
          </a:p>
          <a:p>
            <a:endParaRPr/>
          </a:p>
          <a:p>
            <a:r>
              <a:t>O sistema RODA desde o primeiro minuto, mesmo com tudo por fazer: cada view pendente mostra a tela da esquerda, dizendo onde implementar, onde está o exemplo pronto e como conferir.</a:t>
            </a:r>
          </a:p>
          <a:p>
            <a:endParaRPr/>
          </a:p>
          <a:p>
            <a:r>
              <a:t>Os 13 TODOs estão na tabela. A ordem recomendada (material/08-roteiro-do-trabalho.md):</a:t>
            </a:r>
          </a:p>
          <a:p>
            <a:r>
              <a:t>1. Juntos: TODOs 1 a 3 (o modelo), depois makemigrations + migrate uma vez só.</a:t>
            </a:r>
          </a:p>
          <a:p>
            <a:r>
              <a:t>2. Formulários (4 a 6): rápidos.</a:t>
            </a:r>
          </a:p>
          <a:p>
            <a:r>
              <a:t>3. CRUD de aluno (7 a 9): é o bloco que importa; o resto repete o padrão.</a:t>
            </a:r>
          </a:p>
          <a:p>
            <a:r>
              <a:t>4. Disciplina (10 e 11) e notas (12).</a:t>
            </a:r>
          </a:p>
          <a:p>
            <a:r>
              <a:t>5. python verificar.py até dar 0 FALHA.</a:t>
            </a:r>
          </a:p>
          <a:p>
            <a:endParaRPr/>
          </a:p>
          <a:p>
            <a:r>
              <a:t>Os templates já esperam nomes específicos de variável: cada TODO diz quais.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⏱ 48 a 50 min</a:t>
            </a:r>
          </a:p>
          <a:p>
            <a:endParaRPr/>
          </a:p>
          <a:p>
            <a:r>
              <a:t>Feche com as quatro ideias e anuncie a prática: "agora vamos colocar o projeto de pé e seguir o fio que vimos no slide da requisição".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Início da parte prática, no laboratório. Ela vem depois dos 50 minutos de exposição.</a:t>
            </a:r>
          </a:p>
          <a:p>
            <a:endParaRPr/>
          </a:p>
          <a:p>
            <a:r>
              <a:t>Sugestão de ritmo: prática 1 (15 min), prática 2 (15 min) e prática 3 até o fim do encontro, em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≈ 15 min</a:t>
            </a:r>
          </a:p>
          <a:p>
            <a:endParaRPr/>
          </a:p>
          <a:p>
            <a:r>
              <a:t>Cada aluno (ou cada grupo) segue os passos do README. Circule pelo laboratório: o erro mais comum é esquecer de ativar o .venv.</a:t>
            </a:r>
          </a:p>
          <a:p>
            <a:endParaRPr/>
          </a:p>
          <a:p>
            <a:r>
              <a:t>No Linux/macOS: python3 -m venv .venv e source .venv/bin/activate.</a:t>
            </a:r>
          </a:p>
          <a:p>
            <a:endParaRPr/>
          </a:p>
          <a:p>
            <a:r>
              <a:t>Se o PowerShell disser que a execução de scripts está desabilitada:</a:t>
            </a:r>
          </a:p>
          <a:p>
            <a:r>
              <a:t>Set-ExecutionPolicy -ExecutionPolicy RemoteSigned -Scope CurrentUser</a:t>
            </a:r>
          </a:p>
          <a:p>
            <a:endParaRPr/>
          </a:p>
          <a:p>
            <a:r>
              <a:t>O seed_demo imprime as credenciais na tela. Contas: admin, coordenacao, professor e secretaria, todas com a senha escola2024.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≈ 15 min</a:t>
            </a:r>
          </a:p>
          <a:p>
            <a:endParaRPr/>
          </a:p>
          <a:p>
            <a:r>
              <a:t>1. Entrem como admin e depois como professor. Comparem o menu. Com o professor, digitem /contas/usuarios/ na barra de endereço: 403.</a:t>
            </a:r>
          </a:p>
          <a:p>
            <a:r>
              <a:t>2. Sigam o fio do slide "O caminho de uma requisição", abrindo os três arquivos na ordem.</a:t>
            </a:r>
          </a:p>
          <a:p>
            <a:r>
              <a:t>3. Abram o escola.sqlite3 no DB Browser for SQLite e encontrem a tabela usuario (nome fixado por db_table).</a:t>
            </a:r>
          </a:p>
          <a:p>
            <a:r>
              <a:t>4. Rodem python verificar.py. No começo quase tudo falha: é o mapa dos TODOs, não um problema.</a:t>
            </a:r>
          </a:p>
          <a:p>
            <a:endParaRPr/>
          </a:p>
          <a:p>
            <a:r>
              <a:t>Discuta a pergunta do card azul com a turma antes de passar para a prática 3. Resposta: login significa "não sei quem você é"; 403 significa "sei quem você é, e você não pode". Mandar ao login quem já está logado gera um loop que não adianta preencher (comentário em contas/decorators.py).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Restante do encontro.</a:t>
            </a:r>
          </a:p>
          <a:p>
            <a:endParaRPr/>
          </a:p>
          <a:p>
            <a:r>
              <a:t>Os três models são feitos juntos e migrados uma vez só (assim o makemigrations gera uma migration limpa, sem perguntar default para coluna nova em tabela existente).</a:t>
            </a:r>
          </a:p>
          <a:p>
            <a:endParaRPr/>
          </a:p>
          <a:p>
            <a:r>
              <a:t>Checklist do TODO 3: FKs com on_delete=PROTECT, related_name="inscricoes", UniqueConstraint(fields=["aluno", "disciplina"]) dentro do Meta, e a propriedade media comparando com None (if not self.nota1 está errado: nota 0 é falsa em Python).</a:t>
            </a:r>
          </a:p>
          <a:p>
            <a:endParaRPr/>
          </a:p>
          <a:p>
            <a:r>
              <a:t>Peça que cada grupo compare a saída do sqlmigrate com o CREATE TABLE da Entrega 1.</a:t>
            </a:r>
          </a:p>
          <a:p>
            <a:endParaRPr/>
          </a:p>
          <a:p>
            <a:r>
              <a:t>Atenção: os comentários de academico/models.py ainda citam PostgreSQL e pgAdmin em alguns pontos; o banco do projeto é SQLite (veja o settings.py).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Deixe este slide projetado durante a prática: resolve a maioria das dúvidas de ambiente.</a:t>
            </a:r>
          </a:p>
          <a:p>
            <a:endParaRPr/>
          </a:p>
          <a:p>
            <a:r>
              <a:t>Se aparecer algo fora da tabela, consulte material/09-erros-comuns.md. A orientação do README para os alunos: não percam a tarde numa questão de ambiente, chamem 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Combine com a turma o que deve estar pronto no próximo encontro. O CRUD de aluno (TODOs 7 a 9) é o bloco que mais pesa na nota: o resto é repetição do mesmo padrão.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pa_disciplina_enfer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20E8E735-3690-85AF-8F5B-74299B31B8A9}"/>
              </a:ext>
            </a:extLst>
          </p:cNvPr>
          <p:cNvSpPr txBox="1">
            <a:spLocks/>
          </p:cNvSpPr>
          <p:nvPr userDrawn="1"/>
        </p:nvSpPr>
        <p:spPr>
          <a:xfrm>
            <a:off x="695324" y="2790824"/>
            <a:ext cx="5400676" cy="127635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4800">
                <a:solidFill>
                  <a:schemeClr val="bg1"/>
                </a:solidFill>
              </a:rPr>
              <a:t>Título da disciplina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CB326D6-B9F7-7414-2EFF-89C89E1920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2"/>
            <a:ext cx="12191998" cy="6857998"/>
          </a:xfrm>
          <a:prstGeom prst="rect">
            <a:avLst/>
          </a:prstGeom>
        </p:spPr>
      </p:pic>
      <p:grpSp>
        <p:nvGrpSpPr>
          <p:cNvPr id="7" name="Agrupar 6">
            <a:extLst>
              <a:ext uri="{FF2B5EF4-FFF2-40B4-BE49-F238E27FC236}">
                <a16:creationId xmlns:a16="http://schemas.microsoft.com/office/drawing/2014/main" id="{1B07C65E-4FCA-111B-8379-24AD63B1D2FB}"/>
              </a:ext>
            </a:extLst>
          </p:cNvPr>
          <p:cNvGrpSpPr/>
          <p:nvPr userDrawn="1"/>
        </p:nvGrpSpPr>
        <p:grpSpPr>
          <a:xfrm>
            <a:off x="0" y="0"/>
            <a:ext cx="7429500" cy="6858001"/>
            <a:chOff x="0" y="-1"/>
            <a:chExt cx="7429500" cy="6886576"/>
          </a:xfrm>
        </p:grpSpPr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3CB47F11-6F7B-75EE-1082-8FE35CBA9FDD}"/>
                </a:ext>
              </a:extLst>
            </p:cNvPr>
            <p:cNvSpPr/>
            <p:nvPr/>
          </p:nvSpPr>
          <p:spPr>
            <a:xfrm>
              <a:off x="0" y="0"/>
              <a:ext cx="7429500" cy="6886575"/>
            </a:xfrm>
            <a:custGeom>
              <a:avLst/>
              <a:gdLst>
                <a:gd name="connsiteX0" fmla="*/ 0 w 7429500"/>
                <a:gd name="connsiteY0" fmla="*/ 0 h 6886575"/>
                <a:gd name="connsiteX1" fmla="*/ 5162550 w 7429500"/>
                <a:gd name="connsiteY1" fmla="*/ 0 h 6886575"/>
                <a:gd name="connsiteX2" fmla="*/ 7429500 w 7429500"/>
                <a:gd name="connsiteY2" fmla="*/ 3190875 h 6886575"/>
                <a:gd name="connsiteX3" fmla="*/ 6610350 w 7429500"/>
                <a:gd name="connsiteY3" fmla="*/ 6886575 h 6886575"/>
                <a:gd name="connsiteX4" fmla="*/ 9525 w 7429500"/>
                <a:gd name="connsiteY4" fmla="*/ 6886575 h 6886575"/>
                <a:gd name="connsiteX5" fmla="*/ 0 w 7429500"/>
                <a:gd name="connsiteY5" fmla="*/ 0 h 6886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9500" h="6886575">
                  <a:moveTo>
                    <a:pt x="0" y="0"/>
                  </a:moveTo>
                  <a:lnTo>
                    <a:pt x="5162550" y="0"/>
                  </a:lnTo>
                  <a:lnTo>
                    <a:pt x="7429500" y="3190875"/>
                  </a:lnTo>
                  <a:lnTo>
                    <a:pt x="6610350" y="6886575"/>
                  </a:lnTo>
                  <a:lnTo>
                    <a:pt x="9525" y="6886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18B55535-9851-8789-EE59-021E80490A78}"/>
                </a:ext>
              </a:extLst>
            </p:cNvPr>
            <p:cNvSpPr/>
            <p:nvPr/>
          </p:nvSpPr>
          <p:spPr>
            <a:xfrm>
              <a:off x="0" y="-1"/>
              <a:ext cx="6981825" cy="6886576"/>
            </a:xfrm>
            <a:custGeom>
              <a:avLst/>
              <a:gdLst>
                <a:gd name="connsiteX0" fmla="*/ 0 w 6981825"/>
                <a:gd name="connsiteY0" fmla="*/ 0 h 6877050"/>
                <a:gd name="connsiteX1" fmla="*/ 4924425 w 6981825"/>
                <a:gd name="connsiteY1" fmla="*/ 0 h 6877050"/>
                <a:gd name="connsiteX2" fmla="*/ 6981825 w 6981825"/>
                <a:gd name="connsiteY2" fmla="*/ 3286125 h 6877050"/>
                <a:gd name="connsiteX3" fmla="*/ 5724525 w 6981825"/>
                <a:gd name="connsiteY3" fmla="*/ 6877050 h 6877050"/>
                <a:gd name="connsiteX4" fmla="*/ 0 w 6981825"/>
                <a:gd name="connsiteY4" fmla="*/ 6877050 h 6877050"/>
                <a:gd name="connsiteX5" fmla="*/ 0 w 6981825"/>
                <a:gd name="connsiteY5" fmla="*/ 0 h 687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81825" h="6877050">
                  <a:moveTo>
                    <a:pt x="0" y="0"/>
                  </a:moveTo>
                  <a:lnTo>
                    <a:pt x="4924425" y="0"/>
                  </a:lnTo>
                  <a:lnTo>
                    <a:pt x="6981825" y="3286125"/>
                  </a:lnTo>
                  <a:lnTo>
                    <a:pt x="5724525" y="6877050"/>
                  </a:lnTo>
                  <a:lnTo>
                    <a:pt x="0" y="6877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FD6B1108-62E6-B323-6690-074625AE20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4" y="2586830"/>
            <a:ext cx="5400676" cy="168433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Título da disciplina</a:t>
            </a:r>
          </a:p>
        </p:txBody>
      </p:sp>
    </p:spTree>
    <p:extLst>
      <p:ext uri="{BB962C8B-B14F-4D97-AF65-F5344CB8AC3E}">
        <p14:creationId xmlns:p14="http://schemas.microsoft.com/office/powerpoint/2010/main" val="1920649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valiacao_conteu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 descr="Desenho animado para crianças&#10;&#10;Descrição gerada automaticamente com confiança média">
            <a:extLst>
              <a:ext uri="{FF2B5EF4-FFF2-40B4-BE49-F238E27FC236}">
                <a16:creationId xmlns:a16="http://schemas.microsoft.com/office/drawing/2014/main" id="{CEA15802-63D8-ACFC-D19E-821556D0C4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24590" y="1255594"/>
            <a:ext cx="5467410" cy="4052028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A42E329B-5E17-7CE2-A133-7322895694AB}"/>
              </a:ext>
            </a:extLst>
          </p:cNvPr>
          <p:cNvSpPr/>
          <p:nvPr userDrawn="1"/>
        </p:nvSpPr>
        <p:spPr>
          <a:xfrm>
            <a:off x="0" y="6449734"/>
            <a:ext cx="12192000" cy="3959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BDFB18E-2D88-0594-4DA8-EFF874D095B7}"/>
              </a:ext>
            </a:extLst>
          </p:cNvPr>
          <p:cNvSpPr/>
          <p:nvPr userDrawn="1"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1B07C65E-4FCA-111B-8379-24AD63B1D2FB}"/>
              </a:ext>
            </a:extLst>
          </p:cNvPr>
          <p:cNvGrpSpPr/>
          <p:nvPr userDrawn="1"/>
        </p:nvGrpSpPr>
        <p:grpSpPr>
          <a:xfrm>
            <a:off x="0" y="0"/>
            <a:ext cx="7429500" cy="6858001"/>
            <a:chOff x="0" y="-1"/>
            <a:chExt cx="7429500" cy="6886576"/>
          </a:xfrm>
        </p:grpSpPr>
        <p:sp>
          <p:nvSpPr>
            <p:cNvPr id="8" name="Forma Livre: Forma 7">
              <a:extLst>
                <a:ext uri="{FF2B5EF4-FFF2-40B4-BE49-F238E27FC236}">
                  <a16:creationId xmlns:a16="http://schemas.microsoft.com/office/drawing/2014/main" id="{3CB47F11-6F7B-75EE-1082-8FE35CBA9FDD}"/>
                </a:ext>
              </a:extLst>
            </p:cNvPr>
            <p:cNvSpPr/>
            <p:nvPr/>
          </p:nvSpPr>
          <p:spPr>
            <a:xfrm>
              <a:off x="0" y="0"/>
              <a:ext cx="7429500" cy="6886575"/>
            </a:xfrm>
            <a:custGeom>
              <a:avLst/>
              <a:gdLst>
                <a:gd name="connsiteX0" fmla="*/ 0 w 7429500"/>
                <a:gd name="connsiteY0" fmla="*/ 0 h 6886575"/>
                <a:gd name="connsiteX1" fmla="*/ 5162550 w 7429500"/>
                <a:gd name="connsiteY1" fmla="*/ 0 h 6886575"/>
                <a:gd name="connsiteX2" fmla="*/ 7429500 w 7429500"/>
                <a:gd name="connsiteY2" fmla="*/ 3190875 h 6886575"/>
                <a:gd name="connsiteX3" fmla="*/ 6610350 w 7429500"/>
                <a:gd name="connsiteY3" fmla="*/ 6886575 h 6886575"/>
                <a:gd name="connsiteX4" fmla="*/ 9525 w 7429500"/>
                <a:gd name="connsiteY4" fmla="*/ 6886575 h 6886575"/>
                <a:gd name="connsiteX5" fmla="*/ 0 w 7429500"/>
                <a:gd name="connsiteY5" fmla="*/ 0 h 6886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29500" h="6886575">
                  <a:moveTo>
                    <a:pt x="0" y="0"/>
                  </a:moveTo>
                  <a:lnTo>
                    <a:pt x="5162550" y="0"/>
                  </a:lnTo>
                  <a:lnTo>
                    <a:pt x="7429500" y="3190875"/>
                  </a:lnTo>
                  <a:lnTo>
                    <a:pt x="6610350" y="6886575"/>
                  </a:lnTo>
                  <a:lnTo>
                    <a:pt x="9525" y="6886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F1B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Forma Livre: Forma 8">
              <a:extLst>
                <a:ext uri="{FF2B5EF4-FFF2-40B4-BE49-F238E27FC236}">
                  <a16:creationId xmlns:a16="http://schemas.microsoft.com/office/drawing/2014/main" id="{18B55535-9851-8789-EE59-021E80490A78}"/>
                </a:ext>
              </a:extLst>
            </p:cNvPr>
            <p:cNvSpPr/>
            <p:nvPr/>
          </p:nvSpPr>
          <p:spPr>
            <a:xfrm>
              <a:off x="0" y="-1"/>
              <a:ext cx="6981825" cy="6886576"/>
            </a:xfrm>
            <a:custGeom>
              <a:avLst/>
              <a:gdLst>
                <a:gd name="connsiteX0" fmla="*/ 0 w 6981825"/>
                <a:gd name="connsiteY0" fmla="*/ 0 h 6877050"/>
                <a:gd name="connsiteX1" fmla="*/ 4924425 w 6981825"/>
                <a:gd name="connsiteY1" fmla="*/ 0 h 6877050"/>
                <a:gd name="connsiteX2" fmla="*/ 6981825 w 6981825"/>
                <a:gd name="connsiteY2" fmla="*/ 3286125 h 6877050"/>
                <a:gd name="connsiteX3" fmla="*/ 5724525 w 6981825"/>
                <a:gd name="connsiteY3" fmla="*/ 6877050 h 6877050"/>
                <a:gd name="connsiteX4" fmla="*/ 0 w 6981825"/>
                <a:gd name="connsiteY4" fmla="*/ 6877050 h 6877050"/>
                <a:gd name="connsiteX5" fmla="*/ 0 w 6981825"/>
                <a:gd name="connsiteY5" fmla="*/ 0 h 687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981825" h="6877050">
                  <a:moveTo>
                    <a:pt x="0" y="0"/>
                  </a:moveTo>
                  <a:lnTo>
                    <a:pt x="4924425" y="0"/>
                  </a:lnTo>
                  <a:lnTo>
                    <a:pt x="6981825" y="3286125"/>
                  </a:lnTo>
                  <a:lnTo>
                    <a:pt x="5724525" y="6877050"/>
                  </a:lnTo>
                  <a:lnTo>
                    <a:pt x="0" y="6877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6640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20E8E735-3690-85AF-8F5B-74299B31B8A9}"/>
              </a:ext>
            </a:extLst>
          </p:cNvPr>
          <p:cNvSpPr txBox="1">
            <a:spLocks/>
          </p:cNvSpPr>
          <p:nvPr userDrawn="1"/>
        </p:nvSpPr>
        <p:spPr>
          <a:xfrm>
            <a:off x="695324" y="2790824"/>
            <a:ext cx="5400676" cy="1276350"/>
          </a:xfrm>
          <a:prstGeom prst="rect">
            <a:avLst/>
          </a:prstGeom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6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4800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D257C3D-ADAC-14D7-0492-AF5115E8F532}"/>
              </a:ext>
            </a:extLst>
          </p:cNvPr>
          <p:cNvSpPr txBox="1"/>
          <p:nvPr userDrawn="1"/>
        </p:nvSpPr>
        <p:spPr>
          <a:xfrm>
            <a:off x="238124" y="1012367"/>
            <a:ext cx="6384208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7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Olá, Professor!</a:t>
            </a:r>
            <a:br>
              <a:rPr lang="pt-BR" sz="17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</a:br>
            <a:r>
              <a:rPr lang="pt-BR" sz="17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Peço que realize a </a:t>
            </a:r>
            <a:r>
              <a:rPr lang="pt-BR" sz="17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avaliação do conteúdo </a:t>
            </a:r>
            <a:r>
              <a:rPr lang="pt-BR" sz="17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com o </a:t>
            </a:r>
            <a:br>
              <a:rPr lang="pt-BR" sz="17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</a:br>
            <a:r>
              <a:rPr lang="pt-BR" sz="17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intuito de manter o nosso material sempre atualizado.</a:t>
            </a:r>
          </a:p>
        </p:txBody>
      </p:sp>
      <p:pic>
        <p:nvPicPr>
          <p:cNvPr id="4" name="Imagem 3" descr="Código QR&#10;&#10;Descrição gerada automaticamente">
            <a:extLst>
              <a:ext uri="{FF2B5EF4-FFF2-40B4-BE49-F238E27FC236}">
                <a16:creationId xmlns:a16="http://schemas.microsoft.com/office/drawing/2014/main" id="{39810D02-AA32-BFEE-4C12-0A0044B476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6808" y="2916206"/>
            <a:ext cx="1694095" cy="169409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6FF1BC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2DA5DF4C-1D61-7E9A-D60D-B348914E653C}"/>
              </a:ext>
            </a:extLst>
          </p:cNvPr>
          <p:cNvSpPr txBox="1"/>
          <p:nvPr userDrawn="1"/>
        </p:nvSpPr>
        <p:spPr>
          <a:xfrm>
            <a:off x="552225" y="5359874"/>
            <a:ext cx="4435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i="0" u="sng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https://bit.ly/451BDqS </a:t>
            </a:r>
            <a:endParaRPr lang="pt-BR" sz="2400" b="1" u="sng" dirty="0">
              <a:solidFill>
                <a:schemeClr val="bg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B40AAF0-0664-C89F-562A-3E78A265E166}"/>
              </a:ext>
            </a:extLst>
          </p:cNvPr>
          <p:cNvSpPr txBox="1"/>
          <p:nvPr userDrawn="1"/>
        </p:nvSpPr>
        <p:spPr>
          <a:xfrm>
            <a:off x="735555" y="3314265"/>
            <a:ext cx="3018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Avalie este conteúdo! </a:t>
            </a:r>
            <a:r>
              <a:rPr lang="pt-BR" sz="2400" b="0" i="0" dirty="0">
                <a:solidFill>
                  <a:schemeClr val="bg2">
                    <a:lumMod val="10000"/>
                  </a:schemeClr>
                </a:solidFill>
                <a:effectLst/>
                <a:latin typeface="Segoe UI" panose="020B0502040204020203" pitchFamily="34" charset="0"/>
              </a:rPr>
              <a:t>🚀✨ </a:t>
            </a:r>
          </a:p>
        </p:txBody>
      </p:sp>
      <p:pic>
        <p:nvPicPr>
          <p:cNvPr id="25" name="Gráfico 24" descr="Professor com preenchimento sólido">
            <a:extLst>
              <a:ext uri="{FF2B5EF4-FFF2-40B4-BE49-F238E27FC236}">
                <a16:creationId xmlns:a16="http://schemas.microsoft.com/office/drawing/2014/main" id="{358B141F-071E-7180-89CE-7ADCAF36902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474" y="441756"/>
            <a:ext cx="687443" cy="68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04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_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428F379-6ECB-5BB3-6D4F-611178BA1B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0460753-88DE-BBB1-5A34-4115A7DF4745}"/>
              </a:ext>
            </a:extLst>
          </p:cNvPr>
          <p:cNvSpPr/>
          <p:nvPr userDrawn="1"/>
        </p:nvSpPr>
        <p:spPr>
          <a:xfrm>
            <a:off x="0" y="0"/>
            <a:ext cx="1019175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12F41A50-56E3-3B09-295D-C9D3ED9D8F5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148638" y="-1"/>
            <a:ext cx="4043362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no ícone para alterar a imagem</a:t>
            </a:r>
          </a:p>
        </p:txBody>
      </p:sp>
      <p:sp>
        <p:nvSpPr>
          <p:cNvPr id="7" name="Espaço Reservado para Texto 5">
            <a:extLst>
              <a:ext uri="{FF2B5EF4-FFF2-40B4-BE49-F238E27FC236}">
                <a16:creationId xmlns:a16="http://schemas.microsoft.com/office/drawing/2014/main" id="{A692BB38-74DB-6073-8F7B-2CCA251996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25856" y="3023391"/>
            <a:ext cx="6243580" cy="81198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Título do tema</a:t>
            </a:r>
          </a:p>
        </p:txBody>
      </p:sp>
    </p:spTree>
    <p:extLst>
      <p:ext uri="{BB962C8B-B14F-4D97-AF65-F5344CB8AC3E}">
        <p14:creationId xmlns:p14="http://schemas.microsoft.com/office/powerpoint/2010/main" val="3267193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_nc_fundo_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45C0A04-5D07-15B4-BDEA-D81C35D9AB5E}"/>
              </a:ext>
            </a:extLst>
          </p:cNvPr>
          <p:cNvCxnSpPr/>
          <p:nvPr/>
        </p:nvCxnSpPr>
        <p:spPr>
          <a:xfrm>
            <a:off x="298852" y="917190"/>
            <a:ext cx="5064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BE42597-6E97-1421-B321-FD575221CA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584200"/>
            <a:ext cx="10153650" cy="85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Título de Núcleo conceitual</a:t>
            </a:r>
          </a:p>
        </p:txBody>
      </p:sp>
    </p:spTree>
    <p:extLst>
      <p:ext uri="{BB962C8B-B14F-4D97-AF65-F5344CB8AC3E}">
        <p14:creationId xmlns:p14="http://schemas.microsoft.com/office/powerpoint/2010/main" val="2089565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ulo_nc_subtitulo_fundo_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45C0A04-5D07-15B4-BDEA-D81C35D9AB5E}"/>
              </a:ext>
            </a:extLst>
          </p:cNvPr>
          <p:cNvCxnSpPr/>
          <p:nvPr/>
        </p:nvCxnSpPr>
        <p:spPr>
          <a:xfrm>
            <a:off x="298852" y="917190"/>
            <a:ext cx="5064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7646759C-129F-8E13-9526-F5863F0AAC6F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019175" y="584200"/>
            <a:ext cx="10153650" cy="85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Título de Núcleo conceitual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2EECE16-EFA0-70C3-D06A-EA37CFBC5E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9175" y="1455738"/>
            <a:ext cx="10153650" cy="85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1646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o cla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3122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gunta_respos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753871F8-5007-B628-CC9F-1A224D3C4D9F}"/>
              </a:ext>
            </a:extLst>
          </p:cNvPr>
          <p:cNvGrpSpPr/>
          <p:nvPr/>
        </p:nvGrpSpPr>
        <p:grpSpPr>
          <a:xfrm>
            <a:off x="1041187" y="584200"/>
            <a:ext cx="10153650" cy="2461155"/>
            <a:chOff x="1019175" y="179339"/>
            <a:chExt cx="10153650" cy="2461155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5C2696D8-49A3-8AD5-6C46-9A65D637E51C}"/>
                </a:ext>
              </a:extLst>
            </p:cNvPr>
            <p:cNvSpPr/>
            <p:nvPr/>
          </p:nvSpPr>
          <p:spPr>
            <a:xfrm>
              <a:off x="1019175" y="584200"/>
              <a:ext cx="10153650" cy="2056294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5283D80C-0231-33E9-86F1-AE2E848559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783" t="12189" r="5958" b="12853"/>
            <a:stretch/>
          </p:blipFill>
          <p:spPr>
            <a:xfrm>
              <a:off x="1420837" y="179339"/>
              <a:ext cx="815878" cy="809721"/>
            </a:xfrm>
            <a:prstGeom prst="ellipse">
              <a:avLst/>
            </a:prstGeom>
          </p:spPr>
        </p:pic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C956193C-51AA-2928-A135-F23F31229848}"/>
              </a:ext>
            </a:extLst>
          </p:cNvPr>
          <p:cNvGrpSpPr/>
          <p:nvPr userDrawn="1"/>
        </p:nvGrpSpPr>
        <p:grpSpPr>
          <a:xfrm>
            <a:off x="1041187" y="3045355"/>
            <a:ext cx="10153650" cy="2807771"/>
            <a:chOff x="1019175" y="3084018"/>
            <a:chExt cx="10153650" cy="2807771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B5CF9565-5850-0DD6-60C4-D61C5C67B08F}"/>
                </a:ext>
              </a:extLst>
            </p:cNvPr>
            <p:cNvSpPr/>
            <p:nvPr/>
          </p:nvSpPr>
          <p:spPr>
            <a:xfrm>
              <a:off x="1019175" y="3084018"/>
              <a:ext cx="10153650" cy="2807771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93B7B578-333B-E67B-0AB9-FE651089C6BD}"/>
                </a:ext>
              </a:extLst>
            </p:cNvPr>
            <p:cNvSpPr txBox="1"/>
            <p:nvPr/>
          </p:nvSpPr>
          <p:spPr>
            <a:xfrm>
              <a:off x="1420837" y="3549277"/>
              <a:ext cx="2354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/>
                <a:t>Resposta</a:t>
              </a:r>
            </a:p>
          </p:txBody>
        </p:sp>
      </p:grp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B1C5B3B9-78FC-A48F-DA1A-CA12044E5F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42849" y="3978805"/>
            <a:ext cx="9380538" cy="1552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pt-BR"/>
              <a:t>Inserir a resposta</a:t>
            </a:r>
          </a:p>
        </p:txBody>
      </p:sp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BC8CD4D3-1F32-C65E-B449-605C996467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46024" y="1633861"/>
            <a:ext cx="9421813" cy="9739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Inserir a pergunta</a:t>
            </a:r>
          </a:p>
        </p:txBody>
      </p:sp>
    </p:spTree>
    <p:extLst>
      <p:ext uri="{BB962C8B-B14F-4D97-AF65-F5344CB8AC3E}">
        <p14:creationId xmlns:p14="http://schemas.microsoft.com/office/powerpoint/2010/main" val="1288217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ividade - vers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83B497CC-9378-1C00-75F9-34D42461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9173" y="337457"/>
            <a:ext cx="3060700" cy="3335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pt-BR"/>
              <a:t>Questão X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84B660C-03D5-A291-E45A-BC7EBFD273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9173" y="843927"/>
            <a:ext cx="10153650" cy="29855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pt-BR"/>
              <a:t>Inserir enunciado da questão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CBADEE8F-D176-C6BD-C191-56A9B56E84AD}"/>
              </a:ext>
            </a:extLst>
          </p:cNvPr>
          <p:cNvGrpSpPr/>
          <p:nvPr userDrawn="1"/>
        </p:nvGrpSpPr>
        <p:grpSpPr>
          <a:xfrm>
            <a:off x="1019171" y="4111174"/>
            <a:ext cx="10153650" cy="447215"/>
            <a:chOff x="1019173" y="4224856"/>
            <a:chExt cx="10153650" cy="447215"/>
          </a:xfrm>
        </p:grpSpPr>
        <p:sp>
          <p:nvSpPr>
            <p:cNvPr id="47" name="Retângulo de cantos arredondados 13">
              <a:extLst>
                <a:ext uri="{FF2B5EF4-FFF2-40B4-BE49-F238E27FC236}">
                  <a16:creationId xmlns:a16="http://schemas.microsoft.com/office/drawing/2014/main" id="{9E37F690-4F60-E12D-266D-BD55E86F739E}"/>
                </a:ext>
              </a:extLst>
            </p:cNvPr>
            <p:cNvSpPr/>
            <p:nvPr/>
          </p:nvSpPr>
          <p:spPr>
            <a:xfrm>
              <a:off x="1019173" y="4224856"/>
              <a:ext cx="10153650" cy="4420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>
                <a:latin typeface="+mn-lt"/>
              </a:endParaRPr>
            </a:p>
          </p:txBody>
        </p:sp>
        <p:grpSp>
          <p:nvGrpSpPr>
            <p:cNvPr id="48" name="Agrupar 47">
              <a:extLst>
                <a:ext uri="{FF2B5EF4-FFF2-40B4-BE49-F238E27FC236}">
                  <a16:creationId xmlns:a16="http://schemas.microsoft.com/office/drawing/2014/main" id="{DA7E0BE7-D585-5406-4A69-D1647F5969A1}"/>
                </a:ext>
              </a:extLst>
            </p:cNvPr>
            <p:cNvGrpSpPr/>
            <p:nvPr userDrawn="1"/>
          </p:nvGrpSpPr>
          <p:grpSpPr>
            <a:xfrm>
              <a:off x="1019173" y="4230019"/>
              <a:ext cx="474978" cy="442052"/>
              <a:chOff x="1628481" y="2730261"/>
              <a:chExt cx="474978" cy="442052"/>
            </a:xfrm>
          </p:grpSpPr>
          <p:grpSp>
            <p:nvGrpSpPr>
              <p:cNvPr id="49" name="Agrupar 48">
                <a:extLst>
                  <a:ext uri="{FF2B5EF4-FFF2-40B4-BE49-F238E27FC236}">
                    <a16:creationId xmlns:a16="http://schemas.microsoft.com/office/drawing/2014/main" id="{4C2BD092-568C-27FE-9B8D-764D4F49C412}"/>
                  </a:ext>
                </a:extLst>
              </p:cNvPr>
              <p:cNvGrpSpPr/>
              <p:nvPr userDrawn="1"/>
            </p:nvGrpSpPr>
            <p:grpSpPr>
              <a:xfrm>
                <a:off x="1628481" y="2730261"/>
                <a:ext cx="474978" cy="442052"/>
                <a:chOff x="1628481" y="2730261"/>
                <a:chExt cx="474978" cy="442052"/>
              </a:xfrm>
            </p:grpSpPr>
            <p:sp>
              <p:nvSpPr>
                <p:cNvPr id="51" name="Retângulo de cantos arredondados 15">
                  <a:extLst>
                    <a:ext uri="{FF2B5EF4-FFF2-40B4-BE49-F238E27FC236}">
                      <a16:creationId xmlns:a16="http://schemas.microsoft.com/office/drawing/2014/main" id="{DA78C2B1-AA4E-E25C-4C63-921000DFD9AC}"/>
                    </a:ext>
                  </a:extLst>
                </p:cNvPr>
                <p:cNvSpPr/>
                <p:nvPr/>
              </p:nvSpPr>
              <p:spPr>
                <a:xfrm>
                  <a:off x="1628481" y="2730261"/>
                  <a:ext cx="474978" cy="442052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  <p:sp>
              <p:nvSpPr>
                <p:cNvPr id="52" name="Retângulo 51">
                  <a:extLst>
                    <a:ext uri="{FF2B5EF4-FFF2-40B4-BE49-F238E27FC236}">
                      <a16:creationId xmlns:a16="http://schemas.microsoft.com/office/drawing/2014/main" id="{0FA39DCD-DDF5-5EB6-32CE-A5BBF316E965}"/>
                    </a:ext>
                  </a:extLst>
                </p:cNvPr>
                <p:cNvSpPr/>
                <p:nvPr/>
              </p:nvSpPr>
              <p:spPr>
                <a:xfrm>
                  <a:off x="1718962" y="2730261"/>
                  <a:ext cx="384497" cy="44205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</p:grpSp>
          <p:sp>
            <p:nvSpPr>
              <p:cNvPr id="50" name="CaixaDeTexto 49">
                <a:extLst>
                  <a:ext uri="{FF2B5EF4-FFF2-40B4-BE49-F238E27FC236}">
                    <a16:creationId xmlns:a16="http://schemas.microsoft.com/office/drawing/2014/main" id="{823B33A8-A3C3-FE33-88EB-3780FF352BA4}"/>
                  </a:ext>
                </a:extLst>
              </p:cNvPr>
              <p:cNvSpPr txBox="1"/>
              <p:nvPr/>
            </p:nvSpPr>
            <p:spPr>
              <a:xfrm>
                <a:off x="1675960" y="2761458"/>
                <a:ext cx="380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800" b="1">
                    <a:solidFill>
                      <a:schemeClr val="bg1"/>
                    </a:solidFill>
                    <a:latin typeface="+mn-lt"/>
                  </a:rPr>
                  <a:t>A</a:t>
                </a:r>
              </a:p>
            </p:txBody>
          </p:sp>
        </p:grp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EDEB5224-F2B9-6741-95F5-3FE155EEACFD}"/>
              </a:ext>
            </a:extLst>
          </p:cNvPr>
          <p:cNvGrpSpPr/>
          <p:nvPr userDrawn="1"/>
        </p:nvGrpSpPr>
        <p:grpSpPr>
          <a:xfrm>
            <a:off x="1019173" y="4605031"/>
            <a:ext cx="10153650" cy="447215"/>
            <a:chOff x="1628481" y="2725098"/>
            <a:chExt cx="10153650" cy="447215"/>
          </a:xfrm>
        </p:grpSpPr>
        <p:sp>
          <p:nvSpPr>
            <p:cNvPr id="54" name="Retângulo de cantos arredondados 13">
              <a:extLst>
                <a:ext uri="{FF2B5EF4-FFF2-40B4-BE49-F238E27FC236}">
                  <a16:creationId xmlns:a16="http://schemas.microsoft.com/office/drawing/2014/main" id="{CC35F686-2916-0195-EBEE-18DAD8862BC5}"/>
                </a:ext>
              </a:extLst>
            </p:cNvPr>
            <p:cNvSpPr/>
            <p:nvPr/>
          </p:nvSpPr>
          <p:spPr>
            <a:xfrm>
              <a:off x="1628481" y="2725098"/>
              <a:ext cx="10153650" cy="4420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>
                <a:latin typeface="+mn-lt"/>
              </a:endParaRPr>
            </a:p>
          </p:txBody>
        </p:sp>
        <p:grpSp>
          <p:nvGrpSpPr>
            <p:cNvPr id="55" name="Agrupar 54">
              <a:extLst>
                <a:ext uri="{FF2B5EF4-FFF2-40B4-BE49-F238E27FC236}">
                  <a16:creationId xmlns:a16="http://schemas.microsoft.com/office/drawing/2014/main" id="{DF05DF7E-8DC5-6C0E-7D6C-1AE4E3310C29}"/>
                </a:ext>
              </a:extLst>
            </p:cNvPr>
            <p:cNvGrpSpPr/>
            <p:nvPr userDrawn="1"/>
          </p:nvGrpSpPr>
          <p:grpSpPr>
            <a:xfrm>
              <a:off x="1628481" y="2730261"/>
              <a:ext cx="474978" cy="442052"/>
              <a:chOff x="1628481" y="2730261"/>
              <a:chExt cx="474978" cy="442052"/>
            </a:xfrm>
          </p:grpSpPr>
          <p:grpSp>
            <p:nvGrpSpPr>
              <p:cNvPr id="56" name="Agrupar 55">
                <a:extLst>
                  <a:ext uri="{FF2B5EF4-FFF2-40B4-BE49-F238E27FC236}">
                    <a16:creationId xmlns:a16="http://schemas.microsoft.com/office/drawing/2014/main" id="{97727E5B-8DA2-B834-D10F-EB7149CB4731}"/>
                  </a:ext>
                </a:extLst>
              </p:cNvPr>
              <p:cNvGrpSpPr/>
              <p:nvPr userDrawn="1"/>
            </p:nvGrpSpPr>
            <p:grpSpPr>
              <a:xfrm>
                <a:off x="1628481" y="2730261"/>
                <a:ext cx="474978" cy="442052"/>
                <a:chOff x="1628481" y="2730261"/>
                <a:chExt cx="474978" cy="442052"/>
              </a:xfrm>
            </p:grpSpPr>
            <p:sp>
              <p:nvSpPr>
                <p:cNvPr id="58" name="Retângulo de cantos arredondados 15">
                  <a:extLst>
                    <a:ext uri="{FF2B5EF4-FFF2-40B4-BE49-F238E27FC236}">
                      <a16:creationId xmlns:a16="http://schemas.microsoft.com/office/drawing/2014/main" id="{5437BE75-133C-6327-2246-253E17EE887E}"/>
                    </a:ext>
                  </a:extLst>
                </p:cNvPr>
                <p:cNvSpPr/>
                <p:nvPr/>
              </p:nvSpPr>
              <p:spPr>
                <a:xfrm>
                  <a:off x="1628481" y="2730261"/>
                  <a:ext cx="474978" cy="442052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  <p:sp>
              <p:nvSpPr>
                <p:cNvPr id="59" name="Retângulo 58">
                  <a:extLst>
                    <a:ext uri="{FF2B5EF4-FFF2-40B4-BE49-F238E27FC236}">
                      <a16:creationId xmlns:a16="http://schemas.microsoft.com/office/drawing/2014/main" id="{7908B266-0FCB-DBD7-344C-B731C9BAC779}"/>
                    </a:ext>
                  </a:extLst>
                </p:cNvPr>
                <p:cNvSpPr/>
                <p:nvPr/>
              </p:nvSpPr>
              <p:spPr>
                <a:xfrm>
                  <a:off x="1718962" y="2730261"/>
                  <a:ext cx="384497" cy="44205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</p:grpSp>
          <p:sp>
            <p:nvSpPr>
              <p:cNvPr id="57" name="CaixaDeTexto 56">
                <a:extLst>
                  <a:ext uri="{FF2B5EF4-FFF2-40B4-BE49-F238E27FC236}">
                    <a16:creationId xmlns:a16="http://schemas.microsoft.com/office/drawing/2014/main" id="{1DCA0B9B-85D9-0710-F6C7-E51FCAC424A9}"/>
                  </a:ext>
                </a:extLst>
              </p:cNvPr>
              <p:cNvSpPr txBox="1"/>
              <p:nvPr/>
            </p:nvSpPr>
            <p:spPr>
              <a:xfrm>
                <a:off x="1675960" y="2761458"/>
                <a:ext cx="380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800" b="1">
                    <a:solidFill>
                      <a:schemeClr val="bg1"/>
                    </a:solidFill>
                    <a:latin typeface="+mn-lt"/>
                  </a:rPr>
                  <a:t>B</a:t>
                </a:r>
              </a:p>
            </p:txBody>
          </p:sp>
        </p:grp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5ED4CE3C-9145-E8CF-C524-319FA1F6CFD6}"/>
              </a:ext>
            </a:extLst>
          </p:cNvPr>
          <p:cNvGrpSpPr/>
          <p:nvPr userDrawn="1"/>
        </p:nvGrpSpPr>
        <p:grpSpPr>
          <a:xfrm>
            <a:off x="1019173" y="5098888"/>
            <a:ext cx="10153650" cy="447215"/>
            <a:chOff x="1628481" y="2725098"/>
            <a:chExt cx="10153650" cy="447215"/>
          </a:xfrm>
        </p:grpSpPr>
        <p:sp>
          <p:nvSpPr>
            <p:cNvPr id="61" name="Retângulo de cantos arredondados 13">
              <a:extLst>
                <a:ext uri="{FF2B5EF4-FFF2-40B4-BE49-F238E27FC236}">
                  <a16:creationId xmlns:a16="http://schemas.microsoft.com/office/drawing/2014/main" id="{953FD78B-BE8B-A227-E11C-CD764465EEA2}"/>
                </a:ext>
              </a:extLst>
            </p:cNvPr>
            <p:cNvSpPr/>
            <p:nvPr/>
          </p:nvSpPr>
          <p:spPr>
            <a:xfrm>
              <a:off x="1628481" y="2725098"/>
              <a:ext cx="10153650" cy="4420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>
                <a:latin typeface="+mn-lt"/>
              </a:endParaRPr>
            </a:p>
          </p:txBody>
        </p:sp>
        <p:grpSp>
          <p:nvGrpSpPr>
            <p:cNvPr id="62" name="Agrupar 61">
              <a:extLst>
                <a:ext uri="{FF2B5EF4-FFF2-40B4-BE49-F238E27FC236}">
                  <a16:creationId xmlns:a16="http://schemas.microsoft.com/office/drawing/2014/main" id="{55FFA467-3001-C6A1-7786-5BFD11C1E659}"/>
                </a:ext>
              </a:extLst>
            </p:cNvPr>
            <p:cNvGrpSpPr/>
            <p:nvPr userDrawn="1"/>
          </p:nvGrpSpPr>
          <p:grpSpPr>
            <a:xfrm>
              <a:off x="1628481" y="2730261"/>
              <a:ext cx="474978" cy="442052"/>
              <a:chOff x="1628481" y="2730261"/>
              <a:chExt cx="474978" cy="442052"/>
            </a:xfrm>
          </p:grpSpPr>
          <p:grpSp>
            <p:nvGrpSpPr>
              <p:cNvPr id="63" name="Agrupar 62">
                <a:extLst>
                  <a:ext uri="{FF2B5EF4-FFF2-40B4-BE49-F238E27FC236}">
                    <a16:creationId xmlns:a16="http://schemas.microsoft.com/office/drawing/2014/main" id="{4D083777-EFF2-8DBF-B78F-77599AF6F254}"/>
                  </a:ext>
                </a:extLst>
              </p:cNvPr>
              <p:cNvGrpSpPr/>
              <p:nvPr userDrawn="1"/>
            </p:nvGrpSpPr>
            <p:grpSpPr>
              <a:xfrm>
                <a:off x="1628481" y="2730261"/>
                <a:ext cx="474978" cy="442052"/>
                <a:chOff x="1628481" y="2730261"/>
                <a:chExt cx="474978" cy="442052"/>
              </a:xfrm>
            </p:grpSpPr>
            <p:sp>
              <p:nvSpPr>
                <p:cNvPr id="65" name="Retângulo de cantos arredondados 15">
                  <a:extLst>
                    <a:ext uri="{FF2B5EF4-FFF2-40B4-BE49-F238E27FC236}">
                      <a16:creationId xmlns:a16="http://schemas.microsoft.com/office/drawing/2014/main" id="{A342804B-4366-B131-CBA7-E442DD2AA291}"/>
                    </a:ext>
                  </a:extLst>
                </p:cNvPr>
                <p:cNvSpPr/>
                <p:nvPr/>
              </p:nvSpPr>
              <p:spPr>
                <a:xfrm>
                  <a:off x="1628481" y="2730261"/>
                  <a:ext cx="474978" cy="442052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  <p:sp>
              <p:nvSpPr>
                <p:cNvPr id="66" name="Retângulo 65">
                  <a:extLst>
                    <a:ext uri="{FF2B5EF4-FFF2-40B4-BE49-F238E27FC236}">
                      <a16:creationId xmlns:a16="http://schemas.microsoft.com/office/drawing/2014/main" id="{E1B9D27E-5EEE-4389-587B-8AE7AFFA87B6}"/>
                    </a:ext>
                  </a:extLst>
                </p:cNvPr>
                <p:cNvSpPr/>
                <p:nvPr/>
              </p:nvSpPr>
              <p:spPr>
                <a:xfrm>
                  <a:off x="1718962" y="2730261"/>
                  <a:ext cx="384497" cy="44205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</p:grpSp>
          <p:sp>
            <p:nvSpPr>
              <p:cNvPr id="64" name="CaixaDeTexto 63">
                <a:extLst>
                  <a:ext uri="{FF2B5EF4-FFF2-40B4-BE49-F238E27FC236}">
                    <a16:creationId xmlns:a16="http://schemas.microsoft.com/office/drawing/2014/main" id="{BB1D00F3-F8A2-0B06-3348-284CCA2A4FD3}"/>
                  </a:ext>
                </a:extLst>
              </p:cNvPr>
              <p:cNvSpPr txBox="1"/>
              <p:nvPr/>
            </p:nvSpPr>
            <p:spPr>
              <a:xfrm>
                <a:off x="1675960" y="2761458"/>
                <a:ext cx="380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800" b="1">
                    <a:solidFill>
                      <a:schemeClr val="bg1"/>
                    </a:solidFill>
                    <a:latin typeface="+mn-lt"/>
                  </a:rPr>
                  <a:t>C</a:t>
                </a:r>
              </a:p>
            </p:txBody>
          </p:sp>
        </p:grpSp>
      </p:grp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70F058CB-17C3-B0B1-645E-E448CD912DDD}"/>
              </a:ext>
            </a:extLst>
          </p:cNvPr>
          <p:cNvGrpSpPr/>
          <p:nvPr userDrawn="1"/>
        </p:nvGrpSpPr>
        <p:grpSpPr>
          <a:xfrm>
            <a:off x="1019173" y="5592745"/>
            <a:ext cx="10153650" cy="447215"/>
            <a:chOff x="1628481" y="2725098"/>
            <a:chExt cx="10153650" cy="447215"/>
          </a:xfrm>
        </p:grpSpPr>
        <p:sp>
          <p:nvSpPr>
            <p:cNvPr id="68" name="Retângulo de cantos arredondados 13">
              <a:extLst>
                <a:ext uri="{FF2B5EF4-FFF2-40B4-BE49-F238E27FC236}">
                  <a16:creationId xmlns:a16="http://schemas.microsoft.com/office/drawing/2014/main" id="{A4D365FE-671B-6155-BD2F-7576F690EFC8}"/>
                </a:ext>
              </a:extLst>
            </p:cNvPr>
            <p:cNvSpPr/>
            <p:nvPr/>
          </p:nvSpPr>
          <p:spPr>
            <a:xfrm>
              <a:off x="1628481" y="2725098"/>
              <a:ext cx="10153650" cy="4420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>
                <a:latin typeface="+mn-lt"/>
              </a:endParaRPr>
            </a:p>
          </p:txBody>
        </p:sp>
        <p:grpSp>
          <p:nvGrpSpPr>
            <p:cNvPr id="69" name="Agrupar 68">
              <a:extLst>
                <a:ext uri="{FF2B5EF4-FFF2-40B4-BE49-F238E27FC236}">
                  <a16:creationId xmlns:a16="http://schemas.microsoft.com/office/drawing/2014/main" id="{A736213C-39C8-8DCF-7C9A-E03B96565F77}"/>
                </a:ext>
              </a:extLst>
            </p:cNvPr>
            <p:cNvGrpSpPr/>
            <p:nvPr userDrawn="1"/>
          </p:nvGrpSpPr>
          <p:grpSpPr>
            <a:xfrm>
              <a:off x="1628481" y="2730261"/>
              <a:ext cx="474978" cy="442052"/>
              <a:chOff x="1628481" y="2730261"/>
              <a:chExt cx="474978" cy="442052"/>
            </a:xfrm>
          </p:grpSpPr>
          <p:grpSp>
            <p:nvGrpSpPr>
              <p:cNvPr id="70" name="Agrupar 69">
                <a:extLst>
                  <a:ext uri="{FF2B5EF4-FFF2-40B4-BE49-F238E27FC236}">
                    <a16:creationId xmlns:a16="http://schemas.microsoft.com/office/drawing/2014/main" id="{13045E57-F663-81B9-D6BF-5CEDDE384347}"/>
                  </a:ext>
                </a:extLst>
              </p:cNvPr>
              <p:cNvGrpSpPr/>
              <p:nvPr userDrawn="1"/>
            </p:nvGrpSpPr>
            <p:grpSpPr>
              <a:xfrm>
                <a:off x="1628481" y="2730261"/>
                <a:ext cx="474978" cy="442052"/>
                <a:chOff x="1628481" y="2730261"/>
                <a:chExt cx="474978" cy="442052"/>
              </a:xfrm>
            </p:grpSpPr>
            <p:sp>
              <p:nvSpPr>
                <p:cNvPr id="72" name="Retângulo de cantos arredondados 15">
                  <a:extLst>
                    <a:ext uri="{FF2B5EF4-FFF2-40B4-BE49-F238E27FC236}">
                      <a16:creationId xmlns:a16="http://schemas.microsoft.com/office/drawing/2014/main" id="{DA0562E0-78BC-8395-835C-B5C0A8D5D8E8}"/>
                    </a:ext>
                  </a:extLst>
                </p:cNvPr>
                <p:cNvSpPr/>
                <p:nvPr/>
              </p:nvSpPr>
              <p:spPr>
                <a:xfrm>
                  <a:off x="1628481" y="2730261"/>
                  <a:ext cx="474978" cy="442052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  <p:sp>
              <p:nvSpPr>
                <p:cNvPr id="73" name="Retângulo 72">
                  <a:extLst>
                    <a:ext uri="{FF2B5EF4-FFF2-40B4-BE49-F238E27FC236}">
                      <a16:creationId xmlns:a16="http://schemas.microsoft.com/office/drawing/2014/main" id="{27B43141-FDC7-0612-437C-E4D7C18596EE}"/>
                    </a:ext>
                  </a:extLst>
                </p:cNvPr>
                <p:cNvSpPr/>
                <p:nvPr/>
              </p:nvSpPr>
              <p:spPr>
                <a:xfrm>
                  <a:off x="1718962" y="2730261"/>
                  <a:ext cx="384497" cy="44205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</p:grpSp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7E63F918-2AB5-FC72-4426-7AD7B9CCC147}"/>
                  </a:ext>
                </a:extLst>
              </p:cNvPr>
              <p:cNvSpPr txBox="1"/>
              <p:nvPr/>
            </p:nvSpPr>
            <p:spPr>
              <a:xfrm>
                <a:off x="1675960" y="2761458"/>
                <a:ext cx="380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800" b="1">
                    <a:solidFill>
                      <a:schemeClr val="bg1"/>
                    </a:solidFill>
                    <a:latin typeface="+mn-lt"/>
                  </a:rPr>
                  <a:t>D</a:t>
                </a:r>
              </a:p>
            </p:txBody>
          </p:sp>
        </p:grpSp>
      </p:grp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7E14FA5E-45DC-8A36-2F64-F15F01B35DF6}"/>
              </a:ext>
            </a:extLst>
          </p:cNvPr>
          <p:cNvGrpSpPr/>
          <p:nvPr userDrawn="1"/>
        </p:nvGrpSpPr>
        <p:grpSpPr>
          <a:xfrm>
            <a:off x="1019173" y="6086602"/>
            <a:ext cx="10153650" cy="447215"/>
            <a:chOff x="1628481" y="2725098"/>
            <a:chExt cx="10153650" cy="447215"/>
          </a:xfrm>
        </p:grpSpPr>
        <p:sp>
          <p:nvSpPr>
            <p:cNvPr id="75" name="Retângulo de cantos arredondados 13">
              <a:extLst>
                <a:ext uri="{FF2B5EF4-FFF2-40B4-BE49-F238E27FC236}">
                  <a16:creationId xmlns:a16="http://schemas.microsoft.com/office/drawing/2014/main" id="{F21BE6EF-BC46-A69C-7B39-E157229E4A0C}"/>
                </a:ext>
              </a:extLst>
            </p:cNvPr>
            <p:cNvSpPr/>
            <p:nvPr/>
          </p:nvSpPr>
          <p:spPr>
            <a:xfrm>
              <a:off x="1628481" y="2725098"/>
              <a:ext cx="10153650" cy="4420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>
                <a:latin typeface="+mn-lt"/>
              </a:endParaRPr>
            </a:p>
          </p:txBody>
        </p:sp>
        <p:grpSp>
          <p:nvGrpSpPr>
            <p:cNvPr id="76" name="Agrupar 75">
              <a:extLst>
                <a:ext uri="{FF2B5EF4-FFF2-40B4-BE49-F238E27FC236}">
                  <a16:creationId xmlns:a16="http://schemas.microsoft.com/office/drawing/2014/main" id="{DC27ED11-8E36-0007-FE86-97E332AF672D}"/>
                </a:ext>
              </a:extLst>
            </p:cNvPr>
            <p:cNvGrpSpPr/>
            <p:nvPr userDrawn="1"/>
          </p:nvGrpSpPr>
          <p:grpSpPr>
            <a:xfrm>
              <a:off x="1628481" y="2730261"/>
              <a:ext cx="474978" cy="442052"/>
              <a:chOff x="1628481" y="2730261"/>
              <a:chExt cx="474978" cy="442052"/>
            </a:xfrm>
          </p:grpSpPr>
          <p:grpSp>
            <p:nvGrpSpPr>
              <p:cNvPr id="77" name="Agrupar 76">
                <a:extLst>
                  <a:ext uri="{FF2B5EF4-FFF2-40B4-BE49-F238E27FC236}">
                    <a16:creationId xmlns:a16="http://schemas.microsoft.com/office/drawing/2014/main" id="{145BFD78-445F-EE7A-44E1-7C1D81526219}"/>
                  </a:ext>
                </a:extLst>
              </p:cNvPr>
              <p:cNvGrpSpPr/>
              <p:nvPr userDrawn="1"/>
            </p:nvGrpSpPr>
            <p:grpSpPr>
              <a:xfrm>
                <a:off x="1628481" y="2730261"/>
                <a:ext cx="474978" cy="442052"/>
                <a:chOff x="1628481" y="2730261"/>
                <a:chExt cx="474978" cy="442052"/>
              </a:xfrm>
            </p:grpSpPr>
            <p:sp>
              <p:nvSpPr>
                <p:cNvPr id="79" name="Retângulo de cantos arredondados 15">
                  <a:extLst>
                    <a:ext uri="{FF2B5EF4-FFF2-40B4-BE49-F238E27FC236}">
                      <a16:creationId xmlns:a16="http://schemas.microsoft.com/office/drawing/2014/main" id="{070C554F-805F-B025-3E5F-45733FD5DB7C}"/>
                    </a:ext>
                  </a:extLst>
                </p:cNvPr>
                <p:cNvSpPr/>
                <p:nvPr/>
              </p:nvSpPr>
              <p:spPr>
                <a:xfrm>
                  <a:off x="1628481" y="2730261"/>
                  <a:ext cx="474978" cy="442052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  <p:sp>
              <p:nvSpPr>
                <p:cNvPr id="80" name="Retângulo 79">
                  <a:extLst>
                    <a:ext uri="{FF2B5EF4-FFF2-40B4-BE49-F238E27FC236}">
                      <a16:creationId xmlns:a16="http://schemas.microsoft.com/office/drawing/2014/main" id="{BD1D8CE8-C1D7-3661-82C2-705186E53A9E}"/>
                    </a:ext>
                  </a:extLst>
                </p:cNvPr>
                <p:cNvSpPr/>
                <p:nvPr/>
              </p:nvSpPr>
              <p:spPr>
                <a:xfrm>
                  <a:off x="1718962" y="2730261"/>
                  <a:ext cx="384497" cy="44205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</p:grpSp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A483B232-567F-A1B6-B600-BDD867B16596}"/>
                  </a:ext>
                </a:extLst>
              </p:cNvPr>
              <p:cNvSpPr txBox="1"/>
              <p:nvPr/>
            </p:nvSpPr>
            <p:spPr>
              <a:xfrm>
                <a:off x="1675960" y="2761458"/>
                <a:ext cx="380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800" b="1">
                    <a:solidFill>
                      <a:schemeClr val="bg1"/>
                    </a:solidFill>
                    <a:latin typeface="+mn-lt"/>
                  </a:rPr>
                  <a:t>E</a:t>
                </a:r>
              </a:p>
            </p:txBody>
          </p:sp>
        </p:grpSp>
      </p:grpSp>
      <p:sp>
        <p:nvSpPr>
          <p:cNvPr id="86" name="Espaço Reservado para Texto 14">
            <a:extLst>
              <a:ext uri="{FF2B5EF4-FFF2-40B4-BE49-F238E27FC236}">
                <a16:creationId xmlns:a16="http://schemas.microsoft.com/office/drawing/2014/main" id="{519118B2-F10A-9580-6C53-56E8822062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4630" y="4191751"/>
            <a:ext cx="9497718" cy="2889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1800" kern="1200">
                <a:solidFill>
                  <a:srgbClr val="00397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Inserir texto da alternativa</a:t>
            </a:r>
            <a:endParaRPr lang="pt-BR">
              <a:effectLst/>
            </a:endParaRPr>
          </a:p>
        </p:txBody>
      </p:sp>
      <p:sp>
        <p:nvSpPr>
          <p:cNvPr id="87" name="Espaço Reservado para Texto 14">
            <a:extLst>
              <a:ext uri="{FF2B5EF4-FFF2-40B4-BE49-F238E27FC236}">
                <a16:creationId xmlns:a16="http://schemas.microsoft.com/office/drawing/2014/main" id="{359D1B0A-DD7E-E868-EE74-830962D94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4630" y="4690449"/>
            <a:ext cx="9497718" cy="2889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1800" kern="1200">
                <a:solidFill>
                  <a:srgbClr val="00397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Inserir texto da alternativa</a:t>
            </a:r>
            <a:endParaRPr lang="pt-BR">
              <a:effectLst/>
            </a:endParaRPr>
          </a:p>
        </p:txBody>
      </p:sp>
      <p:sp>
        <p:nvSpPr>
          <p:cNvPr id="88" name="Espaço Reservado para Texto 14">
            <a:extLst>
              <a:ext uri="{FF2B5EF4-FFF2-40B4-BE49-F238E27FC236}">
                <a16:creationId xmlns:a16="http://schemas.microsoft.com/office/drawing/2014/main" id="{288EA4B8-ADE9-1C9C-0AA8-6902289873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4630" y="5175461"/>
            <a:ext cx="9497718" cy="2889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1800" kern="1200">
                <a:solidFill>
                  <a:srgbClr val="00397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Inserir texto da alternativa</a:t>
            </a:r>
            <a:endParaRPr lang="pt-BR">
              <a:effectLst/>
            </a:endParaRPr>
          </a:p>
        </p:txBody>
      </p:sp>
      <p:sp>
        <p:nvSpPr>
          <p:cNvPr id="2" name="Espaço Reservado para Texto 14">
            <a:extLst>
              <a:ext uri="{FF2B5EF4-FFF2-40B4-BE49-F238E27FC236}">
                <a16:creationId xmlns:a16="http://schemas.microsoft.com/office/drawing/2014/main" id="{00B12AC7-38E5-A0E5-D759-4949D3B1FB3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84630" y="5678163"/>
            <a:ext cx="9497718" cy="2889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1800" kern="1200">
                <a:solidFill>
                  <a:srgbClr val="00397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Inserir texto da alternativa</a:t>
            </a:r>
            <a:endParaRPr lang="pt-BR">
              <a:effectLst/>
            </a:endParaRPr>
          </a:p>
        </p:txBody>
      </p:sp>
      <p:sp>
        <p:nvSpPr>
          <p:cNvPr id="82" name="Espaço Reservado para Texto 14">
            <a:extLst>
              <a:ext uri="{FF2B5EF4-FFF2-40B4-BE49-F238E27FC236}">
                <a16:creationId xmlns:a16="http://schemas.microsoft.com/office/drawing/2014/main" id="{10088599-B6D5-ABC4-A9A6-02AC18405B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4630" y="6163175"/>
            <a:ext cx="9497718" cy="2889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1800" kern="1200">
                <a:solidFill>
                  <a:srgbClr val="00397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Inserir texto da alternativa</a:t>
            </a:r>
            <a:endParaRPr lang="pt-BR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54445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12">
            <a:extLst>
              <a:ext uri="{FF2B5EF4-FFF2-40B4-BE49-F238E27FC236}">
                <a16:creationId xmlns:a16="http://schemas.microsoft.com/office/drawing/2014/main" id="{CB9D0CF1-939E-E4E7-1BA0-B7DF50655D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9173" y="337457"/>
            <a:ext cx="3060700" cy="3335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pt-BR"/>
              <a:t>Questão X</a:t>
            </a:r>
          </a:p>
        </p:txBody>
      </p:sp>
      <p:sp>
        <p:nvSpPr>
          <p:cNvPr id="4" name="Espaço Reservado para Texto 14">
            <a:extLst>
              <a:ext uri="{FF2B5EF4-FFF2-40B4-BE49-F238E27FC236}">
                <a16:creationId xmlns:a16="http://schemas.microsoft.com/office/drawing/2014/main" id="{5B6EFF45-AA37-0428-4DBE-6391AB722A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9173" y="843928"/>
            <a:ext cx="10153650" cy="15667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pt-BR"/>
              <a:t>Inserir enunciado da questão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2D9A6C46-B701-3A75-50FD-E2CB4D89154F}"/>
              </a:ext>
            </a:extLst>
          </p:cNvPr>
          <p:cNvGrpSpPr/>
          <p:nvPr userDrawn="1"/>
        </p:nvGrpSpPr>
        <p:grpSpPr>
          <a:xfrm>
            <a:off x="1017329" y="2583591"/>
            <a:ext cx="10153650" cy="759991"/>
            <a:chOff x="1019173" y="4224856"/>
            <a:chExt cx="10153650" cy="447215"/>
          </a:xfrm>
        </p:grpSpPr>
        <p:sp>
          <p:nvSpPr>
            <p:cNvPr id="6" name="Retângulo de cantos arredondados 13">
              <a:extLst>
                <a:ext uri="{FF2B5EF4-FFF2-40B4-BE49-F238E27FC236}">
                  <a16:creationId xmlns:a16="http://schemas.microsoft.com/office/drawing/2014/main" id="{A7648317-A452-4321-C4FD-D2D969D4F0B1}"/>
                </a:ext>
              </a:extLst>
            </p:cNvPr>
            <p:cNvSpPr/>
            <p:nvPr/>
          </p:nvSpPr>
          <p:spPr>
            <a:xfrm>
              <a:off x="1019173" y="4224856"/>
              <a:ext cx="10153650" cy="4420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>
                <a:latin typeface="+mn-lt"/>
              </a:endParaRPr>
            </a:p>
          </p:txBody>
        </p: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94C85FF7-E67B-859B-70EE-D7559EBDCDD4}"/>
                </a:ext>
              </a:extLst>
            </p:cNvPr>
            <p:cNvGrpSpPr/>
            <p:nvPr userDrawn="1"/>
          </p:nvGrpSpPr>
          <p:grpSpPr>
            <a:xfrm>
              <a:off x="1019173" y="4230019"/>
              <a:ext cx="474978" cy="442052"/>
              <a:chOff x="1628481" y="2730261"/>
              <a:chExt cx="474978" cy="442052"/>
            </a:xfrm>
          </p:grpSpPr>
          <p:grpSp>
            <p:nvGrpSpPr>
              <p:cNvPr id="8" name="Agrupar 7">
                <a:extLst>
                  <a:ext uri="{FF2B5EF4-FFF2-40B4-BE49-F238E27FC236}">
                    <a16:creationId xmlns:a16="http://schemas.microsoft.com/office/drawing/2014/main" id="{0A88026D-D665-E196-22A5-BA4875FF89FA}"/>
                  </a:ext>
                </a:extLst>
              </p:cNvPr>
              <p:cNvGrpSpPr/>
              <p:nvPr userDrawn="1"/>
            </p:nvGrpSpPr>
            <p:grpSpPr>
              <a:xfrm>
                <a:off x="1628481" y="2730261"/>
                <a:ext cx="474978" cy="442052"/>
                <a:chOff x="1628481" y="2730261"/>
                <a:chExt cx="474978" cy="442052"/>
              </a:xfrm>
            </p:grpSpPr>
            <p:sp>
              <p:nvSpPr>
                <p:cNvPr id="10" name="Retângulo de cantos arredondados 15">
                  <a:extLst>
                    <a:ext uri="{FF2B5EF4-FFF2-40B4-BE49-F238E27FC236}">
                      <a16:creationId xmlns:a16="http://schemas.microsoft.com/office/drawing/2014/main" id="{C7E27372-4417-307F-8649-5DA62BB1C26F}"/>
                    </a:ext>
                  </a:extLst>
                </p:cNvPr>
                <p:cNvSpPr/>
                <p:nvPr/>
              </p:nvSpPr>
              <p:spPr>
                <a:xfrm>
                  <a:off x="1628481" y="2730261"/>
                  <a:ext cx="474978" cy="442052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  <p:sp>
              <p:nvSpPr>
                <p:cNvPr id="11" name="Retângulo 10">
                  <a:extLst>
                    <a:ext uri="{FF2B5EF4-FFF2-40B4-BE49-F238E27FC236}">
                      <a16:creationId xmlns:a16="http://schemas.microsoft.com/office/drawing/2014/main" id="{E5417D42-5F3A-7046-1751-753B590ABEE6}"/>
                    </a:ext>
                  </a:extLst>
                </p:cNvPr>
                <p:cNvSpPr/>
                <p:nvPr/>
              </p:nvSpPr>
              <p:spPr>
                <a:xfrm>
                  <a:off x="1718962" y="2730261"/>
                  <a:ext cx="384497" cy="44205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</p:grp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0D12BCF5-7B70-2379-A990-4486D6CFBB6E}"/>
                  </a:ext>
                </a:extLst>
              </p:cNvPr>
              <p:cNvSpPr txBox="1"/>
              <p:nvPr/>
            </p:nvSpPr>
            <p:spPr>
              <a:xfrm>
                <a:off x="1675960" y="2761458"/>
                <a:ext cx="380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800" b="1">
                    <a:solidFill>
                      <a:schemeClr val="bg1"/>
                    </a:solidFill>
                    <a:latin typeface="+mn-lt"/>
                  </a:rPr>
                  <a:t>A</a:t>
                </a:r>
              </a:p>
            </p:txBody>
          </p:sp>
        </p:grp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786ADC7-4E5B-13E3-DA56-E0AD8EF10979}"/>
              </a:ext>
            </a:extLst>
          </p:cNvPr>
          <p:cNvGrpSpPr/>
          <p:nvPr userDrawn="1"/>
        </p:nvGrpSpPr>
        <p:grpSpPr>
          <a:xfrm>
            <a:off x="1017329" y="3403898"/>
            <a:ext cx="10153650" cy="711110"/>
            <a:chOff x="1628481" y="2725098"/>
            <a:chExt cx="10153650" cy="447215"/>
          </a:xfrm>
        </p:grpSpPr>
        <p:sp>
          <p:nvSpPr>
            <p:cNvPr id="13" name="Retângulo de cantos arredondados 13">
              <a:extLst>
                <a:ext uri="{FF2B5EF4-FFF2-40B4-BE49-F238E27FC236}">
                  <a16:creationId xmlns:a16="http://schemas.microsoft.com/office/drawing/2014/main" id="{B80F30D9-F4FC-AE0E-D672-D88A63A21948}"/>
                </a:ext>
              </a:extLst>
            </p:cNvPr>
            <p:cNvSpPr/>
            <p:nvPr/>
          </p:nvSpPr>
          <p:spPr>
            <a:xfrm>
              <a:off x="1628481" y="2725098"/>
              <a:ext cx="10153650" cy="4420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>
                <a:latin typeface="+mn-lt"/>
              </a:endParaRPr>
            </a:p>
          </p:txBody>
        </p:sp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id="{FB9EAAE2-29BE-49A1-ADB5-DACEF00D732D}"/>
                </a:ext>
              </a:extLst>
            </p:cNvPr>
            <p:cNvGrpSpPr/>
            <p:nvPr userDrawn="1"/>
          </p:nvGrpSpPr>
          <p:grpSpPr>
            <a:xfrm>
              <a:off x="1628481" y="2730261"/>
              <a:ext cx="474978" cy="442052"/>
              <a:chOff x="1628481" y="2730261"/>
              <a:chExt cx="474978" cy="442052"/>
            </a:xfrm>
          </p:grpSpPr>
          <p:grpSp>
            <p:nvGrpSpPr>
              <p:cNvPr id="15" name="Agrupar 14">
                <a:extLst>
                  <a:ext uri="{FF2B5EF4-FFF2-40B4-BE49-F238E27FC236}">
                    <a16:creationId xmlns:a16="http://schemas.microsoft.com/office/drawing/2014/main" id="{EEEE910A-C2B4-8CB0-F9FC-C6EA20DF6324}"/>
                  </a:ext>
                </a:extLst>
              </p:cNvPr>
              <p:cNvGrpSpPr/>
              <p:nvPr userDrawn="1"/>
            </p:nvGrpSpPr>
            <p:grpSpPr>
              <a:xfrm>
                <a:off x="1628481" y="2730261"/>
                <a:ext cx="474978" cy="442052"/>
                <a:chOff x="1628481" y="2730261"/>
                <a:chExt cx="474978" cy="442052"/>
              </a:xfrm>
            </p:grpSpPr>
            <p:sp>
              <p:nvSpPr>
                <p:cNvPr id="17" name="Retângulo de cantos arredondados 15">
                  <a:extLst>
                    <a:ext uri="{FF2B5EF4-FFF2-40B4-BE49-F238E27FC236}">
                      <a16:creationId xmlns:a16="http://schemas.microsoft.com/office/drawing/2014/main" id="{CF299796-8A71-0E80-4868-DD7A17B2A8C5}"/>
                    </a:ext>
                  </a:extLst>
                </p:cNvPr>
                <p:cNvSpPr/>
                <p:nvPr/>
              </p:nvSpPr>
              <p:spPr>
                <a:xfrm>
                  <a:off x="1628481" y="2730261"/>
                  <a:ext cx="474978" cy="442052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  <p:sp>
              <p:nvSpPr>
                <p:cNvPr id="18" name="Retângulo 17">
                  <a:extLst>
                    <a:ext uri="{FF2B5EF4-FFF2-40B4-BE49-F238E27FC236}">
                      <a16:creationId xmlns:a16="http://schemas.microsoft.com/office/drawing/2014/main" id="{7F1D12A6-0216-BC3D-789B-2FB554DF3875}"/>
                    </a:ext>
                  </a:extLst>
                </p:cNvPr>
                <p:cNvSpPr/>
                <p:nvPr/>
              </p:nvSpPr>
              <p:spPr>
                <a:xfrm>
                  <a:off x="1718962" y="2730261"/>
                  <a:ext cx="384497" cy="44205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</p:grp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62723E5F-4DC7-5485-CCF3-775C7BEAE5CD}"/>
                  </a:ext>
                </a:extLst>
              </p:cNvPr>
              <p:cNvSpPr txBox="1"/>
              <p:nvPr/>
            </p:nvSpPr>
            <p:spPr>
              <a:xfrm>
                <a:off x="1675960" y="2761458"/>
                <a:ext cx="380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800" b="1">
                    <a:solidFill>
                      <a:schemeClr val="bg1"/>
                    </a:solidFill>
                    <a:latin typeface="+mn-lt"/>
                  </a:rPr>
                  <a:t>B</a:t>
                </a:r>
              </a:p>
            </p:txBody>
          </p:sp>
        </p:grp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8BFC1031-B38B-B5B7-4352-EC4BD6A7B14A}"/>
              </a:ext>
            </a:extLst>
          </p:cNvPr>
          <p:cNvGrpSpPr/>
          <p:nvPr userDrawn="1"/>
        </p:nvGrpSpPr>
        <p:grpSpPr>
          <a:xfrm>
            <a:off x="1017329" y="4175324"/>
            <a:ext cx="10153650" cy="702900"/>
            <a:chOff x="1628481" y="2725098"/>
            <a:chExt cx="10153650" cy="447215"/>
          </a:xfrm>
        </p:grpSpPr>
        <p:sp>
          <p:nvSpPr>
            <p:cNvPr id="20" name="Retângulo de cantos arredondados 13">
              <a:extLst>
                <a:ext uri="{FF2B5EF4-FFF2-40B4-BE49-F238E27FC236}">
                  <a16:creationId xmlns:a16="http://schemas.microsoft.com/office/drawing/2014/main" id="{018BBDD2-FFC2-17B0-E089-2A7E80C23C5F}"/>
                </a:ext>
              </a:extLst>
            </p:cNvPr>
            <p:cNvSpPr/>
            <p:nvPr/>
          </p:nvSpPr>
          <p:spPr>
            <a:xfrm>
              <a:off x="1628481" y="2725098"/>
              <a:ext cx="10153650" cy="4420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>
                <a:latin typeface="+mn-lt"/>
              </a:endParaRPr>
            </a:p>
          </p:txBody>
        </p:sp>
        <p:grpSp>
          <p:nvGrpSpPr>
            <p:cNvPr id="21" name="Agrupar 20">
              <a:extLst>
                <a:ext uri="{FF2B5EF4-FFF2-40B4-BE49-F238E27FC236}">
                  <a16:creationId xmlns:a16="http://schemas.microsoft.com/office/drawing/2014/main" id="{FF3AA71B-CC14-4CB0-E196-3AAE42E7577B}"/>
                </a:ext>
              </a:extLst>
            </p:cNvPr>
            <p:cNvGrpSpPr/>
            <p:nvPr userDrawn="1"/>
          </p:nvGrpSpPr>
          <p:grpSpPr>
            <a:xfrm>
              <a:off x="1628481" y="2730261"/>
              <a:ext cx="474978" cy="442052"/>
              <a:chOff x="1628481" y="2730261"/>
              <a:chExt cx="474978" cy="442052"/>
            </a:xfrm>
          </p:grpSpPr>
          <p:grpSp>
            <p:nvGrpSpPr>
              <p:cNvPr id="22" name="Agrupar 21">
                <a:extLst>
                  <a:ext uri="{FF2B5EF4-FFF2-40B4-BE49-F238E27FC236}">
                    <a16:creationId xmlns:a16="http://schemas.microsoft.com/office/drawing/2014/main" id="{AD4D1465-9CC8-6815-5743-515FE87C28FA}"/>
                  </a:ext>
                </a:extLst>
              </p:cNvPr>
              <p:cNvGrpSpPr/>
              <p:nvPr userDrawn="1"/>
            </p:nvGrpSpPr>
            <p:grpSpPr>
              <a:xfrm>
                <a:off x="1628481" y="2730261"/>
                <a:ext cx="474978" cy="442052"/>
                <a:chOff x="1628481" y="2730261"/>
                <a:chExt cx="474978" cy="442052"/>
              </a:xfrm>
            </p:grpSpPr>
            <p:sp>
              <p:nvSpPr>
                <p:cNvPr id="24" name="Retângulo de cantos arredondados 15">
                  <a:extLst>
                    <a:ext uri="{FF2B5EF4-FFF2-40B4-BE49-F238E27FC236}">
                      <a16:creationId xmlns:a16="http://schemas.microsoft.com/office/drawing/2014/main" id="{FE2EA8F3-16BF-331B-FC93-2FF94815FB9A}"/>
                    </a:ext>
                  </a:extLst>
                </p:cNvPr>
                <p:cNvSpPr/>
                <p:nvPr/>
              </p:nvSpPr>
              <p:spPr>
                <a:xfrm>
                  <a:off x="1628481" y="2730261"/>
                  <a:ext cx="474978" cy="442052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  <p:sp>
              <p:nvSpPr>
                <p:cNvPr id="25" name="Retângulo 24">
                  <a:extLst>
                    <a:ext uri="{FF2B5EF4-FFF2-40B4-BE49-F238E27FC236}">
                      <a16:creationId xmlns:a16="http://schemas.microsoft.com/office/drawing/2014/main" id="{9C5AA948-103A-B618-1BAC-278241285BAE}"/>
                    </a:ext>
                  </a:extLst>
                </p:cNvPr>
                <p:cNvSpPr/>
                <p:nvPr/>
              </p:nvSpPr>
              <p:spPr>
                <a:xfrm>
                  <a:off x="1718962" y="2730261"/>
                  <a:ext cx="384497" cy="44205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</p:grpSp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83906479-2C50-06E3-0237-F1784A2CC872}"/>
                  </a:ext>
                </a:extLst>
              </p:cNvPr>
              <p:cNvSpPr txBox="1"/>
              <p:nvPr/>
            </p:nvSpPr>
            <p:spPr>
              <a:xfrm>
                <a:off x="1675960" y="2761458"/>
                <a:ext cx="380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800" b="1">
                    <a:solidFill>
                      <a:schemeClr val="bg1"/>
                    </a:solidFill>
                    <a:latin typeface="+mn-lt"/>
                  </a:rPr>
                  <a:t>C</a:t>
                </a:r>
              </a:p>
            </p:txBody>
          </p:sp>
        </p:grp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A083BEC5-3D7D-D4DC-750F-480790CF4327}"/>
              </a:ext>
            </a:extLst>
          </p:cNvPr>
          <p:cNvGrpSpPr/>
          <p:nvPr userDrawn="1"/>
        </p:nvGrpSpPr>
        <p:grpSpPr>
          <a:xfrm>
            <a:off x="1017329" y="4938540"/>
            <a:ext cx="10153650" cy="725259"/>
            <a:chOff x="1628481" y="2725098"/>
            <a:chExt cx="10153650" cy="447215"/>
          </a:xfrm>
        </p:grpSpPr>
        <p:sp>
          <p:nvSpPr>
            <p:cNvPr id="27" name="Retângulo de cantos arredondados 13">
              <a:extLst>
                <a:ext uri="{FF2B5EF4-FFF2-40B4-BE49-F238E27FC236}">
                  <a16:creationId xmlns:a16="http://schemas.microsoft.com/office/drawing/2014/main" id="{4835CEC4-10DA-A6DE-3112-A21EB771AFA5}"/>
                </a:ext>
              </a:extLst>
            </p:cNvPr>
            <p:cNvSpPr/>
            <p:nvPr/>
          </p:nvSpPr>
          <p:spPr>
            <a:xfrm>
              <a:off x="1628481" y="2725098"/>
              <a:ext cx="10153650" cy="4420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>
                <a:latin typeface="+mn-lt"/>
              </a:endParaRPr>
            </a:p>
          </p:txBody>
        </p:sp>
        <p:grpSp>
          <p:nvGrpSpPr>
            <p:cNvPr id="28" name="Agrupar 27">
              <a:extLst>
                <a:ext uri="{FF2B5EF4-FFF2-40B4-BE49-F238E27FC236}">
                  <a16:creationId xmlns:a16="http://schemas.microsoft.com/office/drawing/2014/main" id="{8D0EBADD-7636-D463-E589-538961271526}"/>
                </a:ext>
              </a:extLst>
            </p:cNvPr>
            <p:cNvGrpSpPr/>
            <p:nvPr userDrawn="1"/>
          </p:nvGrpSpPr>
          <p:grpSpPr>
            <a:xfrm>
              <a:off x="1628481" y="2730261"/>
              <a:ext cx="474978" cy="442052"/>
              <a:chOff x="1628481" y="2730261"/>
              <a:chExt cx="474978" cy="442052"/>
            </a:xfrm>
          </p:grpSpPr>
          <p:grpSp>
            <p:nvGrpSpPr>
              <p:cNvPr id="29" name="Agrupar 28">
                <a:extLst>
                  <a:ext uri="{FF2B5EF4-FFF2-40B4-BE49-F238E27FC236}">
                    <a16:creationId xmlns:a16="http://schemas.microsoft.com/office/drawing/2014/main" id="{7CCB71ED-E317-6AC5-2014-1892587EFF11}"/>
                  </a:ext>
                </a:extLst>
              </p:cNvPr>
              <p:cNvGrpSpPr/>
              <p:nvPr userDrawn="1"/>
            </p:nvGrpSpPr>
            <p:grpSpPr>
              <a:xfrm>
                <a:off x="1628481" y="2730261"/>
                <a:ext cx="474978" cy="442052"/>
                <a:chOff x="1628481" y="2730261"/>
                <a:chExt cx="474978" cy="442052"/>
              </a:xfrm>
            </p:grpSpPr>
            <p:sp>
              <p:nvSpPr>
                <p:cNvPr id="31" name="Retângulo de cantos arredondados 15">
                  <a:extLst>
                    <a:ext uri="{FF2B5EF4-FFF2-40B4-BE49-F238E27FC236}">
                      <a16:creationId xmlns:a16="http://schemas.microsoft.com/office/drawing/2014/main" id="{8FE2102D-F084-8098-EDA6-A65E2F23FC8F}"/>
                    </a:ext>
                  </a:extLst>
                </p:cNvPr>
                <p:cNvSpPr/>
                <p:nvPr/>
              </p:nvSpPr>
              <p:spPr>
                <a:xfrm>
                  <a:off x="1628481" y="2730261"/>
                  <a:ext cx="474978" cy="442052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  <p:sp>
              <p:nvSpPr>
                <p:cNvPr id="32" name="Retângulo 31">
                  <a:extLst>
                    <a:ext uri="{FF2B5EF4-FFF2-40B4-BE49-F238E27FC236}">
                      <a16:creationId xmlns:a16="http://schemas.microsoft.com/office/drawing/2014/main" id="{F90E6265-99FF-D769-BB79-C20FBF09E78B}"/>
                    </a:ext>
                  </a:extLst>
                </p:cNvPr>
                <p:cNvSpPr/>
                <p:nvPr/>
              </p:nvSpPr>
              <p:spPr>
                <a:xfrm>
                  <a:off x="1718962" y="2730261"/>
                  <a:ext cx="384497" cy="44205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</p:grpSp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8B867103-30FF-911E-D894-2CA519EA6287}"/>
                  </a:ext>
                </a:extLst>
              </p:cNvPr>
              <p:cNvSpPr txBox="1"/>
              <p:nvPr/>
            </p:nvSpPr>
            <p:spPr>
              <a:xfrm>
                <a:off x="1675960" y="2761458"/>
                <a:ext cx="380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800" b="1">
                    <a:solidFill>
                      <a:schemeClr val="bg1"/>
                    </a:solidFill>
                    <a:latin typeface="+mn-lt"/>
                  </a:rPr>
                  <a:t>D</a:t>
                </a:r>
              </a:p>
            </p:txBody>
          </p:sp>
        </p:grp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7B49F3AD-40C2-547B-FEE4-2198CEAF27CB}"/>
              </a:ext>
            </a:extLst>
          </p:cNvPr>
          <p:cNvGrpSpPr/>
          <p:nvPr userDrawn="1"/>
        </p:nvGrpSpPr>
        <p:grpSpPr>
          <a:xfrm>
            <a:off x="1017329" y="5724113"/>
            <a:ext cx="10153650" cy="693958"/>
            <a:chOff x="1628481" y="2725098"/>
            <a:chExt cx="10153650" cy="447215"/>
          </a:xfrm>
        </p:grpSpPr>
        <p:sp>
          <p:nvSpPr>
            <p:cNvPr id="34" name="Retângulo de cantos arredondados 13">
              <a:extLst>
                <a:ext uri="{FF2B5EF4-FFF2-40B4-BE49-F238E27FC236}">
                  <a16:creationId xmlns:a16="http://schemas.microsoft.com/office/drawing/2014/main" id="{4490BE2E-42D0-3480-3092-F595BC378453}"/>
                </a:ext>
              </a:extLst>
            </p:cNvPr>
            <p:cNvSpPr/>
            <p:nvPr/>
          </p:nvSpPr>
          <p:spPr>
            <a:xfrm>
              <a:off x="1628481" y="2725098"/>
              <a:ext cx="10153650" cy="4420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800">
                <a:latin typeface="+mn-lt"/>
              </a:endParaRPr>
            </a:p>
          </p:txBody>
        </p:sp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DA456ADD-65BF-6705-54F0-88F9E3D074DF}"/>
                </a:ext>
              </a:extLst>
            </p:cNvPr>
            <p:cNvGrpSpPr/>
            <p:nvPr userDrawn="1"/>
          </p:nvGrpSpPr>
          <p:grpSpPr>
            <a:xfrm>
              <a:off x="1628481" y="2730261"/>
              <a:ext cx="474978" cy="442052"/>
              <a:chOff x="1628481" y="2730261"/>
              <a:chExt cx="474978" cy="442052"/>
            </a:xfrm>
          </p:grpSpPr>
          <p:grpSp>
            <p:nvGrpSpPr>
              <p:cNvPr id="36" name="Agrupar 35">
                <a:extLst>
                  <a:ext uri="{FF2B5EF4-FFF2-40B4-BE49-F238E27FC236}">
                    <a16:creationId xmlns:a16="http://schemas.microsoft.com/office/drawing/2014/main" id="{959E214E-9E2B-7805-F059-D42EBDBBE86F}"/>
                  </a:ext>
                </a:extLst>
              </p:cNvPr>
              <p:cNvGrpSpPr/>
              <p:nvPr userDrawn="1"/>
            </p:nvGrpSpPr>
            <p:grpSpPr>
              <a:xfrm>
                <a:off x="1628481" y="2730261"/>
                <a:ext cx="474978" cy="442052"/>
                <a:chOff x="1628481" y="2730261"/>
                <a:chExt cx="474978" cy="442052"/>
              </a:xfrm>
            </p:grpSpPr>
            <p:sp>
              <p:nvSpPr>
                <p:cNvPr id="38" name="Retângulo de cantos arredondados 15">
                  <a:extLst>
                    <a:ext uri="{FF2B5EF4-FFF2-40B4-BE49-F238E27FC236}">
                      <a16:creationId xmlns:a16="http://schemas.microsoft.com/office/drawing/2014/main" id="{A087EC61-1769-5252-42BA-3BFE47EC5FDF}"/>
                    </a:ext>
                  </a:extLst>
                </p:cNvPr>
                <p:cNvSpPr/>
                <p:nvPr/>
              </p:nvSpPr>
              <p:spPr>
                <a:xfrm>
                  <a:off x="1628481" y="2730261"/>
                  <a:ext cx="474978" cy="442052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  <p:sp>
              <p:nvSpPr>
                <p:cNvPr id="39" name="Retângulo 38">
                  <a:extLst>
                    <a:ext uri="{FF2B5EF4-FFF2-40B4-BE49-F238E27FC236}">
                      <a16:creationId xmlns:a16="http://schemas.microsoft.com/office/drawing/2014/main" id="{7273725E-B0D2-62CF-2B91-A0EF5C099551}"/>
                    </a:ext>
                  </a:extLst>
                </p:cNvPr>
                <p:cNvSpPr/>
                <p:nvPr/>
              </p:nvSpPr>
              <p:spPr>
                <a:xfrm>
                  <a:off x="1718962" y="2730261"/>
                  <a:ext cx="384497" cy="44205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 sz="1800">
                    <a:latin typeface="+mn-lt"/>
                  </a:endParaRPr>
                </a:p>
              </p:txBody>
            </p:sp>
          </p:grpSp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BB8D845D-864A-4B6A-6C35-5500C3BAC53C}"/>
                  </a:ext>
                </a:extLst>
              </p:cNvPr>
              <p:cNvSpPr txBox="1"/>
              <p:nvPr/>
            </p:nvSpPr>
            <p:spPr>
              <a:xfrm>
                <a:off x="1675960" y="2761458"/>
                <a:ext cx="3800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800" b="1">
                    <a:solidFill>
                      <a:schemeClr val="bg1"/>
                    </a:solidFill>
                    <a:latin typeface="+mn-lt"/>
                  </a:rPr>
                  <a:t>E</a:t>
                </a:r>
              </a:p>
            </p:txBody>
          </p:sp>
        </p:grpSp>
      </p:grpSp>
      <p:sp>
        <p:nvSpPr>
          <p:cNvPr id="40" name="Espaço Reservado para Texto 14">
            <a:extLst>
              <a:ext uri="{FF2B5EF4-FFF2-40B4-BE49-F238E27FC236}">
                <a16:creationId xmlns:a16="http://schemas.microsoft.com/office/drawing/2014/main" id="{E249BA33-0847-3A49-6C3E-C3E2C19469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4634" y="2664167"/>
            <a:ext cx="9497718" cy="6083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1800" kern="1200">
                <a:solidFill>
                  <a:srgbClr val="00397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Inserir texto da alternativa</a:t>
            </a:r>
            <a:endParaRPr lang="pt-BR">
              <a:effectLst/>
            </a:endParaRPr>
          </a:p>
        </p:txBody>
      </p:sp>
      <p:sp>
        <p:nvSpPr>
          <p:cNvPr id="41" name="Espaço Reservado para Texto 14">
            <a:extLst>
              <a:ext uri="{FF2B5EF4-FFF2-40B4-BE49-F238E27FC236}">
                <a16:creationId xmlns:a16="http://schemas.microsoft.com/office/drawing/2014/main" id="{819E2D9F-1E12-3E2E-6BAA-5A6D22D274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4482" y="3473754"/>
            <a:ext cx="9497718" cy="5692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1800" kern="1200">
                <a:solidFill>
                  <a:srgbClr val="00397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Inserir texto da alternativa</a:t>
            </a:r>
            <a:endParaRPr lang="pt-BR">
              <a:effectLst/>
            </a:endParaRPr>
          </a:p>
        </p:txBody>
      </p:sp>
      <p:sp>
        <p:nvSpPr>
          <p:cNvPr id="42" name="Espaço Reservado para Texto 14">
            <a:extLst>
              <a:ext uri="{FF2B5EF4-FFF2-40B4-BE49-F238E27FC236}">
                <a16:creationId xmlns:a16="http://schemas.microsoft.com/office/drawing/2014/main" id="{E846084A-3AB4-9FEA-4DC5-004F97453B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2786" y="4245591"/>
            <a:ext cx="9497718" cy="562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1800" kern="1200">
                <a:solidFill>
                  <a:srgbClr val="00397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Inserir texto da alternativa</a:t>
            </a:r>
            <a:endParaRPr lang="pt-BR">
              <a:effectLst/>
            </a:endParaRPr>
          </a:p>
        </p:txBody>
      </p:sp>
      <p:sp>
        <p:nvSpPr>
          <p:cNvPr id="45" name="Espaço Reservado para Texto 14">
            <a:extLst>
              <a:ext uri="{FF2B5EF4-FFF2-40B4-BE49-F238E27FC236}">
                <a16:creationId xmlns:a16="http://schemas.microsoft.com/office/drawing/2014/main" id="{A19C725B-6B62-09A7-F021-6491BDF777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82786" y="5017677"/>
            <a:ext cx="9497718" cy="5692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1800" kern="1200">
                <a:solidFill>
                  <a:srgbClr val="00397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Inserir texto da alternativa</a:t>
            </a:r>
            <a:endParaRPr lang="pt-BR">
              <a:effectLst/>
            </a:endParaRPr>
          </a:p>
        </p:txBody>
      </p:sp>
      <p:sp>
        <p:nvSpPr>
          <p:cNvPr id="46" name="Espaço Reservado para Texto 14">
            <a:extLst>
              <a:ext uri="{FF2B5EF4-FFF2-40B4-BE49-F238E27FC236}">
                <a16:creationId xmlns:a16="http://schemas.microsoft.com/office/drawing/2014/main" id="{B1508FCC-B1EA-7B2E-3B18-5AD3EFDEB70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82784" y="5784379"/>
            <a:ext cx="9497718" cy="5692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pt-BR" sz="1800" kern="1200">
                <a:solidFill>
                  <a:srgbClr val="00397B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Inserir texto da alternativa</a:t>
            </a:r>
            <a:endParaRPr lang="pt-BR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5648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9D169BB-ECAE-0211-35CA-171B90F5E62B}"/>
              </a:ext>
            </a:extLst>
          </p:cNvPr>
          <p:cNvSpPr/>
          <p:nvPr userDrawn="1"/>
        </p:nvSpPr>
        <p:spPr>
          <a:xfrm>
            <a:off x="11815763" y="6534150"/>
            <a:ext cx="376237" cy="3238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33490D2-3DE7-6998-B88F-8446625D9D7E}"/>
              </a:ext>
            </a:extLst>
          </p:cNvPr>
          <p:cNvSpPr/>
          <p:nvPr userDrawn="1"/>
        </p:nvSpPr>
        <p:spPr>
          <a:xfrm>
            <a:off x="0" y="6534150"/>
            <a:ext cx="9991725" cy="3238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809DE12-9053-1118-218C-7CC6A99D4E57}"/>
              </a:ext>
            </a:extLst>
          </p:cNvPr>
          <p:cNvSpPr/>
          <p:nvPr userDrawn="1"/>
        </p:nvSpPr>
        <p:spPr>
          <a:xfrm>
            <a:off x="9991725" y="6534150"/>
            <a:ext cx="2116455" cy="323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6F9201F-774D-412F-8C62-BD8DFDF10B8B}"/>
              </a:ext>
            </a:extLst>
          </p:cNvPr>
          <p:cNvSpPr/>
          <p:nvPr userDrawn="1"/>
        </p:nvSpPr>
        <p:spPr>
          <a:xfrm>
            <a:off x="0" y="0"/>
            <a:ext cx="12192000" cy="2514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267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1" r:id="rId2"/>
    <p:sldLayoutId id="2147483680" r:id="rId3"/>
    <p:sldLayoutId id="2147483676" r:id="rId4"/>
    <p:sldLayoutId id="2147483678" r:id="rId5"/>
    <p:sldLayoutId id="2147483662" r:id="rId6"/>
    <p:sldLayoutId id="2147483675" r:id="rId7"/>
    <p:sldLayoutId id="2147483669" r:id="rId8"/>
    <p:sldLayoutId id="2147483674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9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6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400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600" kern="1200">
          <a:solidFill>
            <a:schemeClr val="tx2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tx2"/>
          </a:solidFill>
          <a:latin typeface="+mn-lt"/>
          <a:ea typeface="+mn-ea"/>
          <a:cs typeface="+mn-cs"/>
        </a:defRPr>
      </a:lvl5pPr>
      <a:lvl6pPr marL="2286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800" kern="1200">
          <a:solidFill>
            <a:schemeClr val="tx2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2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0">
          <p15:clr>
            <a:srgbClr val="F26B43"/>
          </p15:clr>
        </p15:guide>
        <p15:guide id="2" orient="horz" pos="1457">
          <p15:clr>
            <a:srgbClr val="F26B43"/>
          </p15:clr>
        </p15:guide>
        <p15:guide id="3" pos="5133">
          <p15:clr>
            <a:srgbClr val="F26B43"/>
          </p15:clr>
        </p15:guide>
        <p15:guide id="4" orient="horz" pos="2886">
          <p15:clr>
            <a:srgbClr val="F26B43"/>
          </p15:clr>
        </p15:guide>
        <p15:guide id="5" pos="642">
          <p15:clr>
            <a:srgbClr val="9FCC3B"/>
          </p15:clr>
        </p15:guide>
        <p15:guide id="6" orient="horz" pos="368">
          <p15:clr>
            <a:srgbClr val="9FCC3B"/>
          </p15:clr>
        </p15:guide>
        <p15:guide id="7" pos="7038">
          <p15:clr>
            <a:srgbClr val="9FCC3B"/>
          </p15:clr>
        </p15:guide>
        <p15:guide id="8" orient="horz" pos="395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22.png"/></Relationships>
</file>

<file path=ppt/slides/_rels/slide30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capa_aula.pn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21" b="121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Django: RAD na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Situação-problema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78308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97864" y="19385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99032" y="19385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00200" y="19385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83664" y="1874519"/>
            <a:ext cx="4343400" cy="27432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100" b="0" i="0">
                <a:solidFill>
                  <a:srgbClr val="9AA5B1"/>
                </a:solidFill>
                <a:latin typeface="Courier New" pitchFamily="49" charset="0"/>
              </a:rPr>
              <a:t>entrega1/crud_aluno.py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240280"/>
            <a:ext cx="5029200" cy="310896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7FD3F0"/>
                </a:solidFill>
                <a:latin typeface="Courier New" pitchFamily="49" charset="0"/>
              </a:rPr>
              <a:t>import</a:t>
            </a:r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sqlite3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conexao = sqlite3.connect(</a:t>
            </a:r>
            <a:r>
              <a:rPr sz="1500" b="0" i="0">
                <a:solidFill>
                  <a:srgbClr val="F2C078"/>
                </a:solidFill>
                <a:latin typeface="Courier New" pitchFamily="49" charset="0"/>
              </a:rPr>
              <a:t>"escola.db"</a:t>
            </a:r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conexao.execute(</a:t>
            </a:r>
            <a:r>
              <a:rPr sz="1500" b="0" i="0">
                <a:solidFill>
                  <a:srgbClr val="F2C078"/>
                </a:solidFill>
                <a:latin typeface="Courier New" pitchFamily="49" charset="0"/>
              </a:rPr>
              <a:t>"PRAGMA foreign_keys = ON"</a:t>
            </a:r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cursor = conexao.cursor()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cursor.execute(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500" b="0" i="0">
                <a:solidFill>
                  <a:srgbClr val="F2C078"/>
                </a:solidFill>
                <a:latin typeface="Courier New" pitchFamily="49" charset="0"/>
              </a:rPr>
              <a:t>"INSERT INTO aluno (matricula, nome) "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500" b="0" i="0">
                <a:solidFill>
                  <a:srgbClr val="F2C078"/>
                </a:solidFill>
                <a:latin typeface="Courier New" pitchFamily="49" charset="0"/>
              </a:rPr>
              <a:t>"VALUES (?, ?)"</a:t>
            </a:r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,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   (matricula, nome),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conexao.commit()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conexao.close()</a:t>
            </a:r>
          </a:p>
        </p:txBody>
      </p:sp>
      <p:sp>
        <p:nvSpPr>
          <p:cNvPr id="9" name="Rectangle 8"/>
          <p:cNvSpPr/>
          <p:nvPr/>
        </p:nvSpPr>
        <p:spPr>
          <a:xfrm>
            <a:off x="6720840" y="2057400"/>
            <a:ext cx="4443984" cy="1965960"/>
          </a:xfrm>
          <a:prstGeom prst="rect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995160" y="17830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question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92024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95160" y="2377440"/>
            <a:ext cx="3931920" cy="15544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Quanto deste código era decisão de vocês, e quanto era só repetição?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4206240"/>
            <a:ext cx="4443984" cy="12344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4297680"/>
            <a:ext cx="4023360" cy="10515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600" b="0" i="0">
                <a:solidFill>
                  <a:srgbClr val="3A3A3A"/>
                </a:solidFill>
              </a:rPr>
              <a:t>Hoje: o mesmo sistema de notas, uma camada acima. O banco continua SQLite; muda quem escreve o 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Objetivos da aula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828800"/>
            <a:ext cx="3200400" cy="31089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89304" y="21488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out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474" y="2366010"/>
            <a:ext cx="434340" cy="4343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9304" y="3200400"/>
            <a:ext cx="269748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Explicar o ciclo da requisição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" y="3931920"/>
            <a:ext cx="2697480" cy="13716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Do endereço digitado no navegador até o HTML que volta: URL, view, model e template.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9704" y="1828800"/>
            <a:ext cx="3200400" cy="31089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764024" y="21488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xchange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194" y="2366010"/>
            <a:ext cx="434340" cy="4343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4024" y="3200400"/>
            <a:ext cx="269748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Traduzir a Entrega 1 para Django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3931920"/>
            <a:ext cx="2697480" cy="13716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Reconhecer o CREATE TABLE, o INSERT e o SELECT nas classes e métodos do framework.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4423" y="1828800"/>
            <a:ext cx="3200400" cy="31089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38744" y="21488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laptop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914" y="2366010"/>
            <a:ext cx="434340" cy="4343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38744" y="3200400"/>
            <a:ext cx="269748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Rodar e ler o projeto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3931920"/>
            <a:ext cx="2697480" cy="13716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Instalar, navegar pelo app de referência e começar o TODO 1 na prática.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Roteiro da aula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289304" y="2258568"/>
            <a:ext cx="9601199" cy="0"/>
          </a:xfrm>
          <a:prstGeom prst="line">
            <a:avLst/>
          </a:prstGeom>
          <a:ln w="25400">
            <a:solidFill>
              <a:srgbClr val="C9D3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014984" y="2011680"/>
            <a:ext cx="502920" cy="50292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" y="2697480"/>
            <a:ext cx="182880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1" i="0">
                <a:solidFill>
                  <a:srgbClr val="1185AA"/>
                </a:solidFill>
              </a:rPr>
              <a:t>0 a 6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4984" y="3017520"/>
            <a:ext cx="1828800" cy="5943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700" b="1" i="0">
                <a:solidFill>
                  <a:srgbClr val="00397B"/>
                </a:solidFill>
              </a:rPr>
              <a:t>Situação-problema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3611880"/>
            <a:ext cx="1828800" cy="11887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Por que trocar o sqlite3 cru por um framework.</a:t>
            </a:r>
          </a:p>
        </p:txBody>
      </p:sp>
      <p:sp>
        <p:nvSpPr>
          <p:cNvPr id="8" name="Oval 7"/>
          <p:cNvSpPr/>
          <p:nvPr/>
        </p:nvSpPr>
        <p:spPr>
          <a:xfrm>
            <a:off x="3095244" y="2011680"/>
            <a:ext cx="502920" cy="50292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5244" y="2697480"/>
            <a:ext cx="182880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1" i="0">
                <a:solidFill>
                  <a:srgbClr val="1185AA"/>
                </a:solidFill>
              </a:rPr>
              <a:t>6 a 20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5244" y="3017520"/>
            <a:ext cx="1828800" cy="5943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700" b="1" i="0">
                <a:solidFill>
                  <a:srgbClr val="00397B"/>
                </a:solidFill>
              </a:rPr>
              <a:t>Django e MTV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5244" y="3611880"/>
            <a:ext cx="1828800" cy="11887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Baterias incluídas, a tradução da Entrega 1 e o caminho da requisição.</a:t>
            </a:r>
          </a:p>
        </p:txBody>
      </p:sp>
      <p:sp>
        <p:nvSpPr>
          <p:cNvPr id="12" name="Oval 11"/>
          <p:cNvSpPr/>
          <p:nvPr/>
        </p:nvSpPr>
        <p:spPr>
          <a:xfrm>
            <a:off x="5175504" y="2011680"/>
            <a:ext cx="502920" cy="50292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2697480"/>
            <a:ext cx="182880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1" i="0">
                <a:solidFill>
                  <a:srgbClr val="1185AA"/>
                </a:solidFill>
              </a:rPr>
              <a:t>20 a 36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3017520"/>
            <a:ext cx="1828800" cy="5943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700" b="1" i="0">
                <a:solidFill>
                  <a:srgbClr val="00397B"/>
                </a:solidFill>
              </a:rPr>
              <a:t>Do banco à tela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3611880"/>
            <a:ext cx="1828800" cy="11887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Listar alunos: model, ORM, view e template. Depois, o cadastro com forms.</a:t>
            </a:r>
          </a:p>
        </p:txBody>
      </p:sp>
      <p:sp>
        <p:nvSpPr>
          <p:cNvPr id="16" name="Oval 15"/>
          <p:cNvSpPr/>
          <p:nvPr/>
        </p:nvSpPr>
        <p:spPr>
          <a:xfrm>
            <a:off x="7255764" y="2011680"/>
            <a:ext cx="502920" cy="50292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5764" y="2697480"/>
            <a:ext cx="182880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1" i="0">
                <a:solidFill>
                  <a:srgbClr val="1185AA"/>
                </a:solidFill>
              </a:rPr>
              <a:t>36 a 42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5764" y="3017520"/>
            <a:ext cx="1828800" cy="5943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700" b="1" i="0">
                <a:solidFill>
                  <a:srgbClr val="00397B"/>
                </a:solidFill>
              </a:rPr>
              <a:t>Segurança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5764" y="3611880"/>
            <a:ext cx="1828800" cy="11887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Login, perfis, CSRF e o que o framework assume por vocês.</a:t>
            </a:r>
          </a:p>
        </p:txBody>
      </p:sp>
      <p:sp>
        <p:nvSpPr>
          <p:cNvPr id="20" name="Oval 19"/>
          <p:cNvSpPr/>
          <p:nvPr/>
        </p:nvSpPr>
        <p:spPr>
          <a:xfrm>
            <a:off x="9336024" y="2011680"/>
            <a:ext cx="502920" cy="50292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697480"/>
            <a:ext cx="1828800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1" i="0">
                <a:solidFill>
                  <a:srgbClr val="1185AA"/>
                </a:solidFill>
              </a:rPr>
              <a:t>42 a 50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3017520"/>
            <a:ext cx="1828800" cy="5943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700" b="1" i="0">
                <a:solidFill>
                  <a:srgbClr val="00397B"/>
                </a:solidFill>
              </a:rPr>
              <a:t>A entrega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611880"/>
            <a:ext cx="1828800" cy="11887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Projeto base, TODOs e avaliação.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" y="5029200"/>
            <a:ext cx="10149840" cy="86868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43584" y="5166360"/>
            <a:ext cx="594360" cy="5943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wrench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174" y="5314950"/>
            <a:ext cx="297180" cy="2971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020824" y="5074920"/>
            <a:ext cx="8961119" cy="7772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600" b="1" i="0">
                <a:solidFill>
                  <a:srgbClr val="00397B"/>
                </a:solidFill>
              </a:rPr>
              <a:t>Depois da exposição: </a:t>
            </a:r>
            <a:r>
              <a:rPr sz="1600" b="0" i="0">
                <a:solidFill>
                  <a:srgbClr val="3A3A3A"/>
                </a:solidFill>
              </a:rPr>
              <a:t>prática guiada no laboratório. Instalar, explorar e implementar os TODOs 1 a 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Por que o Django é RAD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Um framework full-stack: o trabalho mecânico já vem pronto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" y="2331720"/>
            <a:ext cx="3200400" cy="16916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43584" y="25603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atabas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04" y="2720339"/>
            <a:ext cx="320040" cy="320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20824" y="2606039"/>
            <a:ext cx="201168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3291839"/>
            <a:ext cx="278892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Classes Python no lugar do SQL escrito à mão.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9704" y="2331720"/>
            <a:ext cx="3200400" cy="16916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18304" y="25603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layers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324" y="2720339"/>
            <a:ext cx="320040" cy="32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95544" y="2606039"/>
            <a:ext cx="201168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Migrations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3291839"/>
            <a:ext cx="278892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O banco é gerado e versionado a partir do código.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64423" y="2331720"/>
            <a:ext cx="3200400" cy="16916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93023" y="25603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userShield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044" y="2720339"/>
            <a:ext cx="320040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70263" y="2606039"/>
            <a:ext cx="201168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3" y="3291839"/>
            <a:ext cx="278892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Painel pronto para inspecionar os dados, como o DB Browser.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" y="4251960"/>
            <a:ext cx="3200400" cy="16916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43584" y="44805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lock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3604" y="4640580"/>
            <a:ext cx="320040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20824" y="4526280"/>
            <a:ext cx="201168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Autenticação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5212080"/>
            <a:ext cx="278892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Login, sessão e senha com hash, sem reinventar nada.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9704" y="4251960"/>
            <a:ext cx="3200400" cy="16916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718304" y="44805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edit-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8324" y="4640580"/>
            <a:ext cx="320040" cy="320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95544" y="4526280"/>
            <a:ext cx="201168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Formulários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5212080"/>
            <a:ext cx="278892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Geram o HTML, validam a entrada e convertem os tipos.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64423" y="4251960"/>
            <a:ext cx="3200400" cy="16916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193023" y="44805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desktop-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044" y="4640580"/>
            <a:ext cx="320040" cy="320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70263" y="4526280"/>
            <a:ext cx="201168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Templates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3023" y="5212080"/>
            <a:ext cx="278892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HTML com herança: o menu é escrito uma vez só.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Da Entrega 1 para o Django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14984" y="1783080"/>
          <a:ext cx="1014984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Entrega 1 (sqlite3 cru)</a:t>
                      </a:r>
                    </a:p>
                  </a:txBody>
                  <a:tcPr marL="128016" marR="128016" marT="36576" marB="36576" anchor="ctr"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Django</a:t>
                      </a:r>
                    </a:p>
                  </a:txBody>
                  <a:tcPr marL="128016" marR="128016" marT="36576" marB="36576" anchor="ctr">
                    <a:solidFill>
                      <a:srgbClr val="003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sqlite3.connect()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 e </a:t>
                      </a:r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close()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 em toda função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DATABASES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 descrito uma vez no </a:t>
                      </a:r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settings.py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CREATE TABLE aluno (...)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class Aluno(models.Model)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 + </a:t>
                      </a:r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migrate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INSERT ... VALUES (?, ?)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 + </a:t>
                      </a:r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commit()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form.save()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, dentro de uma transação automática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SELECT ... WHERE nome LIKE ?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Aluno.objects.filter(nome__icontains=...)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PRAGMA foreign_keys = ON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ligado pelo Django em toda conexão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menu </a:t>
                      </a:r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while True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 / </a:t>
                      </a:r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if opcao == "1"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urls.py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: o endereço escolhe a função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print()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 e </a:t>
                      </a:r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input()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templates e forms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14984" y="5623560"/>
            <a:ext cx="1014984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600" b="0" i="1">
                <a:solidFill>
                  <a:srgbClr val="1185AA"/>
                </a:solidFill>
              </a:rPr>
              <a:t>A natureza do CRUD não mudou. Mudou a camada em que vocês trabalham.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MTV: quem faz o quê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783080"/>
            <a:ext cx="3200400" cy="269748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43584" y="201168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atabas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034" y="2183130"/>
            <a:ext cx="342900" cy="342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66543" y="2011680"/>
            <a:ext cx="2011680" cy="38404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2200" b="1" i="0">
                <a:solidFill>
                  <a:srgbClr val="00397B"/>
                </a:solidFill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6543" y="2395728"/>
            <a:ext cx="2011680" cy="32004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1185AA"/>
                </a:solidFill>
                <a:latin typeface="Courier New" pitchFamily="49" charset="0"/>
              </a:rPr>
              <a:t>models.py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926080"/>
            <a:ext cx="2743200" cy="8686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Descreve as tabelas e guarda as regras de negócio.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3886200"/>
            <a:ext cx="27432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1">
                <a:solidFill>
                  <a:srgbClr val="5F6B7A"/>
                </a:solidFill>
              </a:rPr>
              <a:t>Era: CREATE TABLE + funções do CRUD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9704" y="1783080"/>
            <a:ext cx="3200400" cy="269748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18304" y="201168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ode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754" y="2183130"/>
            <a:ext cx="3429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41264" y="2011680"/>
            <a:ext cx="2011680" cy="38404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2200" b="1" i="0">
                <a:solidFill>
                  <a:srgbClr val="00397B"/>
                </a:solidFill>
              </a:rPr>
              <a:t>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1264" y="2395728"/>
            <a:ext cx="2011680" cy="32004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1185AA"/>
                </a:solidFill>
                <a:latin typeface="Courier New" pitchFamily="49" charset="0"/>
              </a:rPr>
              <a:t>views.py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926080"/>
            <a:ext cx="2743200" cy="8686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Recebe o pedido, consulta o model e decide a resposta.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3886200"/>
            <a:ext cx="27432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1">
                <a:solidFill>
                  <a:srgbClr val="5F6B7A"/>
                </a:solidFill>
              </a:rPr>
              <a:t>Era: a lógica do main.py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4423" y="1783080"/>
            <a:ext cx="3200400" cy="269748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93023" y="201168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desktop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4473" y="2183130"/>
            <a:ext cx="342900" cy="3429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15984" y="2011680"/>
            <a:ext cx="2011680" cy="38404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2200" b="1" i="0">
                <a:solidFill>
                  <a:srgbClr val="00397B"/>
                </a:solidFill>
              </a:rPr>
              <a:t>Template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395728"/>
            <a:ext cx="2011680" cy="32004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1185AA"/>
                </a:solidFill>
                <a:latin typeface="Courier New" pitchFamily="49" charset="0"/>
              </a:rPr>
              <a:t>templates/*.html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3" y="2926080"/>
            <a:ext cx="2743200" cy="8686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Só monta o HTML com os dados que recebe.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3" y="3886200"/>
            <a:ext cx="274320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1">
                <a:solidFill>
                  <a:srgbClr val="5F6B7A"/>
                </a:solidFill>
              </a:rPr>
              <a:t>Era: os print() da tela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" y="4709160"/>
            <a:ext cx="4937760" cy="12344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243584" y="498348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route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5034" y="5154930"/>
            <a:ext cx="342900" cy="3429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12264" y="4800600"/>
            <a:ext cx="36576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700" b="1" i="0">
                <a:solidFill>
                  <a:srgbClr val="00397B"/>
                </a:solidFill>
              </a:rPr>
              <a:t>URLs  </a:t>
            </a:r>
            <a:r>
              <a:rPr sz="1150" b="0" i="0">
                <a:solidFill>
                  <a:srgbClr val="1185AA"/>
                </a:solidFill>
                <a:latin typeface="Courier New" pitchFamily="49" charset="0"/>
              </a:rPr>
              <a:t>urls.py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12264" y="5193792"/>
            <a:ext cx="36576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Ligam cada endereço a uma view. Eram o menu do main.py.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4709160"/>
            <a:ext cx="4937760" cy="12344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55664" y="4983480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edit-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7114" y="5154930"/>
            <a:ext cx="342900" cy="3429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324344" y="4800600"/>
            <a:ext cx="36576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700" b="1" i="0">
                <a:solidFill>
                  <a:srgbClr val="00397B"/>
                </a:solidFill>
              </a:rPr>
              <a:t>Forms  </a:t>
            </a:r>
            <a:r>
              <a:rPr sz="1150" b="0" i="0">
                <a:solidFill>
                  <a:srgbClr val="1185AA"/>
                </a:solidFill>
                <a:latin typeface="Courier New" pitchFamily="49" charset="0"/>
              </a:rPr>
              <a:t>forms.py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24344" y="5193792"/>
            <a:ext cx="3657600" cy="685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Desenham os campos, validam e convertem. Eram o input() e os 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 caminho de uma requisição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Exemplo: GET /contas/usuarios/?busca=maria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" y="2423160"/>
            <a:ext cx="2194560" cy="141732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52144" y="2560320"/>
            <a:ext cx="384048" cy="384048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9344" y="2551176"/>
            <a:ext cx="15087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500" b="1" i="0">
                <a:solidFill>
                  <a:srgbClr val="00397B"/>
                </a:solidFill>
              </a:rPr>
              <a:t>Navegador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9576" y="3044952"/>
            <a:ext cx="1892807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Pede a URL ao servidor.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66744" y="2423160"/>
            <a:ext cx="2194560" cy="141732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803904" y="2560320"/>
            <a:ext cx="384048" cy="384048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1104" y="2551176"/>
            <a:ext cx="15087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500" b="1" i="0">
                <a:solidFill>
                  <a:srgbClr val="00397B"/>
                </a:solidFill>
              </a:rPr>
              <a:t>Middleware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1335" y="3044952"/>
            <a:ext cx="1892807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Sessão, CSRF e request.user.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2423160"/>
            <a:ext cx="2194560" cy="141732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55664" y="2560320"/>
            <a:ext cx="384048" cy="384048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864" y="2551176"/>
            <a:ext cx="15087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500" b="1" i="0">
                <a:solidFill>
                  <a:srgbClr val="00397B"/>
                </a:solidFill>
              </a:rPr>
              <a:t>config/urls.py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3044952"/>
            <a:ext cx="1892807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O prefixo contas/ vai para o app.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263" y="2423160"/>
            <a:ext cx="2194560" cy="141732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07424" y="2560320"/>
            <a:ext cx="384048" cy="384048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64624" y="2551176"/>
            <a:ext cx="15087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500" b="1" i="0">
                <a:solidFill>
                  <a:srgbClr val="00397B"/>
                </a:solidFill>
              </a:rPr>
              <a:t>contas/urls.py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5" y="3044952"/>
            <a:ext cx="1892807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usuarios/ chama usuario_lista.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4480560"/>
            <a:ext cx="2194560" cy="1417320"/>
          </a:xfrm>
          <a:prstGeom prst="roundRect">
            <a:avLst>
              <a:gd name="adj" fmla="val 3500"/>
            </a:avLst>
          </a:prstGeom>
          <a:solidFill>
            <a:srgbClr val="F6F8F9"/>
          </a:solidFill>
          <a:ln w="12700">
            <a:solidFill>
              <a:srgbClr val="118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07424" y="4617720"/>
            <a:ext cx="384048" cy="384048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4" y="4608576"/>
            <a:ext cx="15087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500" b="1" i="0">
                <a:solidFill>
                  <a:srgbClr val="00397B"/>
                </a:solidFill>
              </a:rPr>
              <a:t>Decorator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5" y="5102352"/>
            <a:ext cx="1892807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@somente_coordenacao: logado? perfil certo?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8504" y="4480560"/>
            <a:ext cx="2194560" cy="1417320"/>
          </a:xfrm>
          <a:prstGeom prst="roundRect">
            <a:avLst>
              <a:gd name="adj" fmla="val 3500"/>
            </a:avLst>
          </a:prstGeom>
          <a:solidFill>
            <a:srgbClr val="F6F8F9"/>
          </a:solidFill>
          <a:ln w="12700">
            <a:solidFill>
              <a:srgbClr val="118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455664" y="4617720"/>
            <a:ext cx="384048" cy="384048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2864" y="4608576"/>
            <a:ext cx="15087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500" b="1" i="0">
                <a:solidFill>
                  <a:srgbClr val="00397B"/>
                </a:solidFill>
              </a:rPr>
              <a:t>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3096" y="5102352"/>
            <a:ext cx="1892807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Lê a busca e consulta o model.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66744" y="4480560"/>
            <a:ext cx="2194560" cy="141732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803904" y="4617720"/>
            <a:ext cx="384048" cy="384048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1104" y="4608576"/>
            <a:ext cx="15087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500" b="1" i="0">
                <a:solidFill>
                  <a:srgbClr val="00397B"/>
                </a:solidFill>
              </a:rPr>
              <a:t>Model + 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31335" y="5102352"/>
            <a:ext cx="1892807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Gera o SELECT no SQLite.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" y="4480560"/>
            <a:ext cx="2194560" cy="141732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52144" y="4617720"/>
            <a:ext cx="384048" cy="384048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9344" y="4608576"/>
            <a:ext cx="1508760" cy="4114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500" b="1" i="0">
                <a:solidFill>
                  <a:srgbClr val="00397B"/>
                </a:solidFill>
              </a:rPr>
              <a:t>Template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9576" y="5102352"/>
            <a:ext cx="1892807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Monta o HTML da resposta.</a:t>
            </a:r>
          </a:p>
        </p:txBody>
      </p:sp>
      <p:sp>
        <p:nvSpPr>
          <p:cNvPr id="36" name="Oval 35"/>
          <p:cNvSpPr/>
          <p:nvPr/>
        </p:nvSpPr>
        <p:spPr>
          <a:xfrm>
            <a:off x="3273551" y="2967227"/>
            <a:ext cx="329184" cy="329184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arrow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7" y="3049523"/>
            <a:ext cx="164592" cy="164592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3273551" y="5024628"/>
            <a:ext cx="329184" cy="329184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arrow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355847" y="5106924"/>
            <a:ext cx="164592" cy="164592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5925312" y="2967227"/>
            <a:ext cx="329184" cy="329184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arrow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3049523"/>
            <a:ext cx="164592" cy="164592"/>
          </a:xfrm>
          <a:prstGeom prst="rect">
            <a:avLst/>
          </a:prstGeom>
        </p:spPr>
      </p:pic>
      <p:sp>
        <p:nvSpPr>
          <p:cNvPr id="42" name="Oval 41"/>
          <p:cNvSpPr/>
          <p:nvPr/>
        </p:nvSpPr>
        <p:spPr>
          <a:xfrm>
            <a:off x="5925312" y="5024628"/>
            <a:ext cx="329184" cy="329184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arrow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007608" y="5106924"/>
            <a:ext cx="164592" cy="164592"/>
          </a:xfrm>
          <a:prstGeom prst="rect">
            <a:avLst/>
          </a:prstGeom>
        </p:spPr>
      </p:pic>
      <p:sp>
        <p:nvSpPr>
          <p:cNvPr id="44" name="Oval 43"/>
          <p:cNvSpPr/>
          <p:nvPr/>
        </p:nvSpPr>
        <p:spPr>
          <a:xfrm>
            <a:off x="8577072" y="2967227"/>
            <a:ext cx="329184" cy="329184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arrow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3049523"/>
            <a:ext cx="164592" cy="164592"/>
          </a:xfrm>
          <a:prstGeom prst="rect">
            <a:avLst/>
          </a:prstGeom>
        </p:spPr>
      </p:pic>
      <p:sp>
        <p:nvSpPr>
          <p:cNvPr id="46" name="Oval 45"/>
          <p:cNvSpPr/>
          <p:nvPr/>
        </p:nvSpPr>
        <p:spPr>
          <a:xfrm>
            <a:off x="8577072" y="5024628"/>
            <a:ext cx="329184" cy="329184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arrowRight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8659368" y="5106924"/>
            <a:ext cx="164592" cy="164592"/>
          </a:xfrm>
          <a:prstGeom prst="rect">
            <a:avLst/>
          </a:prstGeom>
        </p:spPr>
      </p:pic>
      <p:sp>
        <p:nvSpPr>
          <p:cNvPr id="48" name="Oval 47"/>
          <p:cNvSpPr/>
          <p:nvPr/>
        </p:nvSpPr>
        <p:spPr>
          <a:xfrm>
            <a:off x="9902951" y="3995928"/>
            <a:ext cx="329184" cy="329184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arrowDown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247" y="4078224"/>
            <a:ext cx="164592" cy="1645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A estrutura do projeto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783080"/>
            <a:ext cx="5120640" cy="420624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97864" y="19385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99032" y="19385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00200" y="19385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83664" y="1874519"/>
            <a:ext cx="4069079" cy="27432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100" b="0" i="0">
                <a:solidFill>
                  <a:srgbClr val="9AA5B1"/>
                </a:solidFill>
                <a:latin typeface="Courier New" pitchFamily="49" charset="0"/>
              </a:rPr>
              <a:t>projetoPython/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240280"/>
            <a:ext cx="4754879" cy="3657599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urier New" pitchFamily="49" charset="0"/>
              </a:rPr>
              <a:t>manage.py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       </a:t>
            </a:r>
            <a:r>
              <a:rPr sz="1600" b="0" i="0">
                <a:solidFill>
                  <a:srgbClr val="8B98A5"/>
                </a:solidFill>
                <a:latin typeface="Courier New" pitchFamily="49" charset="0"/>
              </a:rPr>
              <a:t>comandos do Django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ourier New" pitchFamily="49" charset="0"/>
              </a:rPr>
              <a:t>verificar.py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    </a:t>
            </a:r>
            <a:r>
              <a:rPr sz="1600" b="0" i="0">
                <a:solidFill>
                  <a:srgbClr val="8B98A5"/>
                </a:solidFill>
                <a:latin typeface="Courier New" pitchFamily="49" charset="0"/>
              </a:rPr>
              <a:t>placar dos TODOs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ourier New" pitchFamily="49" charset="0"/>
              </a:rPr>
              <a:t>config/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         </a:t>
            </a:r>
            <a:r>
              <a:rPr sz="1600" b="0" i="0">
                <a:solidFill>
                  <a:srgbClr val="8B98A5"/>
                </a:solidFill>
                <a:latin typeface="Courier New" pitchFamily="49" charset="0"/>
              </a:rPr>
              <a:t>configuração geral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ourier New" pitchFamily="49" charset="0"/>
              </a:rPr>
              <a:t>  settings.py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600" b="0" i="0">
                <a:solidFill>
                  <a:srgbClr val="8B98A5"/>
                </a:solidFill>
                <a:latin typeface="Courier New" pitchFamily="49" charset="0"/>
              </a:rPr>
              <a:t>apps, banco, login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ourier New" pitchFamily="49" charset="0"/>
              </a:rPr>
              <a:t>  urls.py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       </a:t>
            </a:r>
            <a:r>
              <a:rPr sz="1600" b="0" i="0">
                <a:solidFill>
                  <a:srgbClr val="8B98A5"/>
                </a:solidFill>
                <a:latin typeface="Courier New" pitchFamily="49" charset="0"/>
              </a:rPr>
              <a:t>entrada de toda URL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ourier New" pitchFamily="49" charset="0"/>
              </a:rPr>
              <a:t>contas/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         </a:t>
            </a:r>
            <a:r>
              <a:rPr sz="1600" b="0" i="0">
                <a:solidFill>
                  <a:srgbClr val="8B98A5"/>
                </a:solidFill>
                <a:latin typeface="Courier New" pitchFamily="49" charset="0"/>
              </a:rPr>
              <a:t>PRONTO: a referência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ourier New" pitchFamily="49" charset="0"/>
              </a:rPr>
              <a:t>academico/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      </a:t>
            </a:r>
            <a:r>
              <a:rPr sz="1600" b="0" i="0">
                <a:solidFill>
                  <a:srgbClr val="8B98A5"/>
                </a:solidFill>
                <a:latin typeface="Courier New" pitchFamily="49" charset="0"/>
              </a:rPr>
              <a:t>vocês implementam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ourier New" pitchFamily="49" charset="0"/>
              </a:rPr>
              <a:t>templates/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      </a:t>
            </a:r>
            <a:r>
              <a:rPr sz="1600" b="0" i="0">
                <a:solidFill>
                  <a:srgbClr val="8B98A5"/>
                </a:solidFill>
                <a:latin typeface="Courier New" pitchFamily="49" charset="0"/>
              </a:rPr>
              <a:t>HTML, já pronto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ourier New" pitchFamily="49" charset="0"/>
              </a:rPr>
              <a:t>static/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         </a:t>
            </a:r>
            <a:r>
              <a:rPr sz="1600" b="0" i="0">
                <a:solidFill>
                  <a:srgbClr val="8B98A5"/>
                </a:solidFill>
                <a:latin typeface="Courier New" pitchFamily="49" charset="0"/>
              </a:rPr>
              <a:t>Bootstrap local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ourier New" pitchFamily="49" charset="0"/>
              </a:rPr>
              <a:t>material/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       </a:t>
            </a:r>
            <a:r>
              <a:rPr sz="1600" b="0" i="0">
                <a:solidFill>
                  <a:srgbClr val="8B98A5"/>
                </a:solidFill>
                <a:latin typeface="Courier New" pitchFamily="49" charset="0"/>
              </a:rPr>
              <a:t>11 textos de estudo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83080"/>
            <a:ext cx="4764024" cy="19659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29400" y="20116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heck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420" y="2171700"/>
            <a:ext cx="320040" cy="32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2011680"/>
            <a:ext cx="3566160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650" b="1" i="0">
                <a:solidFill>
                  <a:srgbClr val="00397B"/>
                </a:solidFill>
                <a:latin typeface="Courier New" pitchFamily="49" charset="0"/>
              </a:rPr>
              <a:t>contas/</a:t>
            </a:r>
            <a:r>
              <a:rPr sz="1800" b="1" i="0">
                <a:solidFill>
                  <a:srgbClr val="00397B"/>
                </a:solidFill>
              </a:rPr>
              <a:t>: pronto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743200"/>
            <a:ext cx="4343400" cy="9601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Login e gestão de usuários, com CRUD completo e comentado linha a linha. É o gabarito.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23360"/>
            <a:ext cx="4764024" cy="19659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629400" y="425196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tasks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420" y="4411980"/>
            <a:ext cx="320040" cy="320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06640" y="4251960"/>
            <a:ext cx="3566160" cy="64008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650" b="1" i="0">
                <a:solidFill>
                  <a:srgbClr val="00397B"/>
                </a:solidFill>
                <a:latin typeface="Courier New" pitchFamily="49" charset="0"/>
              </a:rPr>
              <a:t>academico/</a:t>
            </a:r>
            <a:r>
              <a:rPr sz="1800" b="1" i="0">
                <a:solidFill>
                  <a:srgbClr val="00397B"/>
                </a:solidFill>
              </a:rPr>
              <a:t>: vocês fazem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983480"/>
            <a:ext cx="4343400" cy="9601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Alunos, disciplinas e notas: 13 TODOs numerados, cada um com exemplo e armadilha.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manage.py: o controle remoto do projeto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783080"/>
            <a:ext cx="6126480" cy="420624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97864" y="19385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99032" y="19385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00200" y="19385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83664" y="1874519"/>
            <a:ext cx="5074920" cy="27432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100" b="0" i="0">
                <a:solidFill>
                  <a:srgbClr val="9AA5B1"/>
                </a:solidFill>
                <a:latin typeface="Courier New" pitchFamily="49" charset="0"/>
              </a:rPr>
              <a:t>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240280"/>
            <a:ext cx="5760720" cy="3657599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600" b="0" i="1">
                <a:solidFill>
                  <a:srgbClr val="8B98A5"/>
                </a:solidFill>
                <a:latin typeface="Courier New" pitchFamily="49" charset="0"/>
              </a:rPr>
              <a:t># sobe o servidor em http://127.0.0.1:8000</a:t>
            </a:r>
          </a:p>
          <a:p>
            <a:pPr algn="l"/>
            <a:r>
              <a:rPr sz="160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manage.py runserver</a:t>
            </a:r>
          </a:p>
          <a:p>
            <a:pPr algn="l"/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sz="1600" b="0" i="1">
                <a:solidFill>
                  <a:srgbClr val="8B98A5"/>
                </a:solidFill>
                <a:latin typeface="Courier New" pitchFamily="49" charset="0"/>
              </a:rPr>
              <a:t># o models.py mudou? gere e aplique a migration</a:t>
            </a:r>
          </a:p>
          <a:p>
            <a:pPr algn="l"/>
            <a:r>
              <a:rPr sz="160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manage.py makemigrations academico</a:t>
            </a:r>
          </a:p>
          <a:p>
            <a:pPr algn="l"/>
            <a:r>
              <a:rPr sz="160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manage.py migrate</a:t>
            </a:r>
          </a:p>
          <a:p>
            <a:pPr algn="l"/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sz="1600" b="0" i="1">
                <a:solidFill>
                  <a:srgbClr val="8B98A5"/>
                </a:solidFill>
                <a:latin typeface="Courier New" pitchFamily="49" charset="0"/>
              </a:rPr>
              <a:t># veja o SQL que o Django escreveu</a:t>
            </a:r>
          </a:p>
          <a:p>
            <a:pPr algn="l"/>
            <a:r>
              <a:rPr sz="160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manage.py sqlmigrate academico 0001</a:t>
            </a:r>
          </a:p>
          <a:p>
            <a:pPr algn="l"/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sz="1600" b="0" i="1">
                <a:solidFill>
                  <a:srgbClr val="8B98A5"/>
                </a:solidFill>
                <a:latin typeface="Courier New" pitchFamily="49" charset="0"/>
              </a:rPr>
              <a:t># usuários de exemplo (admin / escola2024)</a:t>
            </a:r>
          </a:p>
          <a:p>
            <a:pPr algn="l"/>
            <a:r>
              <a:rPr sz="160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manage.py seed_demo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2057400"/>
            <a:ext cx="3758184" cy="2011680"/>
          </a:xfrm>
          <a:prstGeom prst="rect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80960" y="17830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warning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92024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0" y="2386584"/>
            <a:ext cx="3209544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Ambiente virtual 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715768"/>
            <a:ext cx="3209544" cy="1243584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Esqueceu de ativar o .venv? O sintoma é </a:t>
            </a:r>
            <a:r>
              <a:rPr sz="1250" b="0" i="0">
                <a:solidFill>
                  <a:srgbClr val="FFFFFF"/>
                </a:solidFill>
                <a:latin typeface="Courier New" pitchFamily="49" charset="0"/>
              </a:rPr>
              <a:t>No module named 'django'</a:t>
            </a:r>
            <a:r>
              <a:rPr sz="1400" b="0" i="0">
                <a:solidFill>
                  <a:srgbClr val="FFFFFF"/>
                </a:solidFill>
              </a:rPr>
              <a:t>, o erro mais comum da disciplina.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4343400"/>
            <a:ext cx="3758184" cy="164592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4480560"/>
            <a:ext cx="3337560" cy="14173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O servidor recarrega sozinho quando um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.py</a:t>
            </a:r>
            <a:r>
              <a:rPr sz="1400" b="0" i="0">
                <a:solidFill>
                  <a:srgbClr val="3A3A3A"/>
                </a:solidFill>
              </a:rPr>
              <a:t> é salvo. Não é preciso reiniciar a cada alteração.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14984" y="777240"/>
            <a:ext cx="10149840" cy="1325880"/>
          </a:xfrm>
          <a:prstGeom prst="rect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499616" y="475488"/>
            <a:ext cx="612648" cy="6126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question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778" y="628650"/>
            <a:ext cx="306324" cy="3063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1143000"/>
            <a:ext cx="9052560" cy="8229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Por que </a:t>
            </a:r>
            <a:r>
              <a:rPr sz="2000" b="1" i="0">
                <a:solidFill>
                  <a:srgbClr val="FFFFFF"/>
                </a:solidFill>
                <a:latin typeface="Courier New" pitchFamily="49" charset="0"/>
              </a:rPr>
              <a:t>nota1</a:t>
            </a:r>
            <a:r>
              <a:rPr sz="2200" b="1" i="0">
                <a:solidFill>
                  <a:srgbClr val="FFFFFF"/>
                </a:solidFill>
              </a:rPr>
              <a:t> fica em </a:t>
            </a:r>
            <a:r>
              <a:rPr sz="2000" b="1" i="0">
                <a:solidFill>
                  <a:srgbClr val="FFFFFF"/>
                </a:solidFill>
                <a:latin typeface="Courier New" pitchFamily="49" charset="0"/>
              </a:rPr>
              <a:t>inscricao</a:t>
            </a:r>
            <a:r>
              <a:rPr sz="2200" b="1" i="0">
                <a:solidFill>
                  <a:srgbClr val="FFFFFF"/>
                </a:solidFill>
              </a:rPr>
              <a:t>, e não em </a:t>
            </a:r>
            <a:r>
              <a:rPr sz="2000" b="1" i="0">
                <a:solidFill>
                  <a:srgbClr val="FFFFFF"/>
                </a:solidFill>
                <a:latin typeface="Courier New" pitchFamily="49" charset="0"/>
              </a:rPr>
              <a:t>aluno</a:t>
            </a:r>
            <a:r>
              <a:rPr sz="2200" b="1" i="0">
                <a:solidFill>
                  <a:srgbClr val="FFFFFF"/>
                </a:solidFill>
              </a:rPr>
              <a:t> nem em </a:t>
            </a:r>
            <a:r>
              <a:rPr sz="2000" b="1" i="0">
                <a:solidFill>
                  <a:srgbClr val="FFFFFF"/>
                </a:solidFill>
                <a:latin typeface="Courier New" pitchFamily="49" charset="0"/>
              </a:rPr>
              <a:t>disciplina</a:t>
            </a:r>
            <a:r>
              <a:rPr sz="22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80744" y="2514600"/>
            <a:ext cx="2560320" cy="15087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63624" y="2578608"/>
            <a:ext cx="2194560" cy="36576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600" b="1" i="0">
                <a:solidFill>
                  <a:srgbClr val="00397B"/>
                </a:solidFill>
                <a:latin typeface="Courier New" pitchFamily="49" charset="0"/>
              </a:rPr>
              <a:t>aluno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3624" y="2944368"/>
            <a:ext cx="2194560" cy="105156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ourier New" pitchFamily="49" charset="0"/>
              </a:rPr>
              <a:t>matricula</a:t>
            </a:r>
          </a:p>
          <a:p>
            <a:pPr algn="l"/>
            <a:r>
              <a:rPr sz="1200" b="0" i="0">
                <a:solidFill>
                  <a:srgbClr val="3A3A3A"/>
                </a:solidFill>
                <a:latin typeface="Courier New" pitchFamily="49" charset="0"/>
              </a:rPr>
              <a:t>nome</a:t>
            </a:r>
          </a:p>
          <a:p>
            <a:pPr algn="l"/>
            <a:r>
              <a:rPr sz="1200" b="0" i="0">
                <a:solidFill>
                  <a:srgbClr val="3A3A3A"/>
                </a:solidFill>
                <a:latin typeface="Courier New" pitchFamily="49" charset="0"/>
              </a:rPr>
              <a:t>email</a:t>
            </a:r>
          </a:p>
          <a:p>
            <a:pPr algn="l"/>
            <a:r>
              <a:rPr sz="1200" b="0" i="0">
                <a:solidFill>
                  <a:srgbClr val="3A3A3A"/>
                </a:solidFill>
                <a:latin typeface="Courier New" pitchFamily="49" charset="0"/>
              </a:rPr>
              <a:t>ativo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9744" y="2514600"/>
            <a:ext cx="2560320" cy="1508760"/>
          </a:xfrm>
          <a:prstGeom prst="roundRect">
            <a:avLst>
              <a:gd name="adj" fmla="val 3500"/>
            </a:avLst>
          </a:prstGeom>
          <a:solidFill>
            <a:srgbClr val="003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92624" y="2578608"/>
            <a:ext cx="2194560" cy="36576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urier New" pitchFamily="49" charset="0"/>
              </a:rPr>
              <a:t>inscricao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2944368"/>
            <a:ext cx="2194560" cy="105156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 pitchFamily="49" charset="0"/>
              </a:rPr>
              <a:t>aluno_id (FK)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 pitchFamily="49" charset="0"/>
              </a:rPr>
              <a:t>disciplina_id (FK)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Courier New" pitchFamily="49" charset="0"/>
              </a:rPr>
              <a:t>nota1, nota2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38743" y="2514600"/>
            <a:ext cx="2560320" cy="15087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21623" y="2578608"/>
            <a:ext cx="2194560" cy="36576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600" b="1" i="0">
                <a:solidFill>
                  <a:srgbClr val="00397B"/>
                </a:solidFill>
                <a:latin typeface="Courier New" pitchFamily="49" charset="0"/>
              </a:rPr>
              <a:t>disciplina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1623" y="2944368"/>
            <a:ext cx="2194560" cy="105156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200" b="0" i="0">
                <a:solidFill>
                  <a:srgbClr val="3A3A3A"/>
                </a:solidFill>
                <a:latin typeface="Courier New" pitchFamily="49" charset="0"/>
              </a:rPr>
              <a:t>codigo</a:t>
            </a:r>
          </a:p>
          <a:p>
            <a:pPr algn="l"/>
            <a:r>
              <a:rPr sz="1200" b="0" i="0">
                <a:solidFill>
                  <a:srgbClr val="3A3A3A"/>
                </a:solidFill>
                <a:latin typeface="Courier New" pitchFamily="49" charset="0"/>
              </a:rPr>
              <a:t>nome</a:t>
            </a:r>
          </a:p>
          <a:p>
            <a:pPr algn="l"/>
            <a:r>
              <a:rPr sz="1200" b="0" i="0">
                <a:solidFill>
                  <a:srgbClr val="3A3A3A"/>
                </a:solidFill>
                <a:latin typeface="Courier New" pitchFamily="49" charset="0"/>
              </a:rPr>
              <a:t>carga_horaria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41064" y="3273552"/>
            <a:ext cx="868680" cy="0"/>
          </a:xfrm>
          <a:prstGeom prst="line">
            <a:avLst/>
          </a:prstGeom>
          <a:ln w="25400">
            <a:solidFill>
              <a:srgbClr val="118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41064" y="2926080"/>
            <a:ext cx="868679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/>
            <a:r>
              <a:rPr sz="1300" b="1" i="0">
                <a:solidFill>
                  <a:srgbClr val="1185AA"/>
                </a:solidFill>
              </a:rPr>
              <a:t>1 : N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370063" y="3273552"/>
            <a:ext cx="868680" cy="0"/>
          </a:xfrm>
          <a:prstGeom prst="line">
            <a:avLst/>
          </a:prstGeom>
          <a:ln w="25400">
            <a:solidFill>
              <a:srgbClr val="118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70063" y="2926080"/>
            <a:ext cx="868679" cy="29260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/>
            <a:r>
              <a:rPr sz="1300" b="1" i="0">
                <a:solidFill>
                  <a:srgbClr val="1185AA"/>
                </a:solidFill>
              </a:rPr>
              <a:t>1 : N</a:t>
            </a:r>
          </a:p>
        </p:txBody>
      </p:sp>
      <p:grpSp>
        <p:nvGrpSpPr>
          <p:cNvPr id="19" name="Resposta"/>
          <p:cNvGrpSpPr/>
          <p:nvPr/>
        </p:nvGrpSpPr>
        <p:grpSpPr>
          <a:xfrm>
            <a:off x="1014984" y="4297680"/>
            <a:ext cx="10149840" cy="1691640"/>
            <a:chOff x="1014984" y="4297680"/>
            <a:chExt cx="10149840" cy="1691640"/>
          </a:xfrm>
        </p:grpSpPr>
        <p:sp>
          <p:nvSpPr>
            <p:cNvPr id="20" name="Rectangle 19"/>
            <p:cNvSpPr/>
            <p:nvPr/>
          </p:nvSpPr>
          <p:spPr>
            <a:xfrm>
              <a:off x="1014984" y="4297680"/>
              <a:ext cx="10149840" cy="1691640"/>
            </a:xfrm>
            <a:prstGeom prst="rect">
              <a:avLst/>
            </a:prstGeom>
            <a:solidFill>
              <a:srgbClr val="E3EF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645920" y="4434840"/>
              <a:ext cx="9052560" cy="365760"/>
            </a:xfrm>
            <a:prstGeom prst="rect">
              <a:avLst/>
            </a:prstGeom>
            <a:noFill/>
          </p:spPr>
          <p:txBody>
            <a:bodyPr wrap="square" lIns="0" tIns="18288" rIns="0" bIns="18288" anchor="t">
              <a:noAutofit/>
            </a:bodyPr>
            <a:lstStyle/>
            <a:p>
              <a:pPr algn="l"/>
              <a:r>
                <a:rPr sz="1600" b="1" i="0">
                  <a:solidFill>
                    <a:srgbClr val="1185AA"/>
                  </a:solidFill>
                </a:rPr>
                <a:t>Resposta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645920" y="4800600"/>
              <a:ext cx="9052560" cy="1097280"/>
            </a:xfrm>
            <a:prstGeom prst="rect">
              <a:avLst/>
            </a:prstGeom>
            <a:noFill/>
          </p:spPr>
          <p:txBody>
            <a:bodyPr wrap="square" lIns="0" tIns="18288" rIns="0" bIns="18288" anchor="t">
              <a:noAutofit/>
            </a:bodyPr>
            <a:lstStyle/>
            <a:p>
              <a:pPr algn="l"/>
              <a:r>
                <a:rPr sz="1600" b="0" i="0">
                  <a:solidFill>
                    <a:srgbClr val="3A3A3A"/>
                  </a:solidFill>
                </a:rPr>
                <a:t>A nota não é atributo do aluno (ele tem uma nota por disciplina) nem da disciplina (ela tem uma nota por aluno). É atributo do encontro entre os dois, e o encontro é justamente a tabela inscricao.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Model: a tabela vira classe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783080"/>
            <a:ext cx="5943600" cy="420624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97864" y="19385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99032" y="19385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00200" y="19385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83664" y="1874519"/>
            <a:ext cx="4892040" cy="27432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100" b="0" i="0">
                <a:solidFill>
                  <a:srgbClr val="9AA5B1"/>
                </a:solidFill>
                <a:latin typeface="Courier New" pitchFamily="49" charset="0"/>
              </a:rPr>
              <a:t>academico/models.py · TODO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240280"/>
            <a:ext cx="5577840" cy="3657599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class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Aluno(models.Model):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 matricula = models.CharField(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     </a:t>
            </a:r>
            <a:r>
              <a:rPr sz="1350" b="0" i="0">
                <a:solidFill>
                  <a:srgbClr val="F2C078"/>
                </a:solidFill>
                <a:latin typeface="Courier New" pitchFamily="49" charset="0"/>
              </a:rPr>
              <a:t>"matricula"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, max_length=20, unique=</a:t>
            </a:r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True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 nome = models.CharField(</a:t>
            </a:r>
            <a:r>
              <a:rPr sz="1350" b="0" i="0">
                <a:solidFill>
                  <a:srgbClr val="F2C078"/>
                </a:solidFill>
                <a:latin typeface="Courier New" pitchFamily="49" charset="0"/>
              </a:rPr>
              <a:t>"nome"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, max_length=120)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 email = models.EmailField(</a:t>
            </a:r>
            <a:r>
              <a:rPr sz="1350" b="0" i="0">
                <a:solidFill>
                  <a:srgbClr val="F2C078"/>
                </a:solidFill>
                <a:latin typeface="Courier New" pitchFamily="49" charset="0"/>
              </a:rPr>
              <a:t>"e-mail"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, blank=</a:t>
            </a:r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True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 data_nascimento = models.DateField(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     </a:t>
            </a:r>
            <a:r>
              <a:rPr sz="1350" b="0" i="0">
                <a:solidFill>
                  <a:srgbClr val="F2C078"/>
                </a:solidFill>
                <a:latin typeface="Courier New" pitchFamily="49" charset="0"/>
              </a:rPr>
              <a:t>"data de nascimento"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, null=</a:t>
            </a:r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True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, blank=</a:t>
            </a:r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True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 ativo = models.BooleanField(</a:t>
            </a:r>
            <a:r>
              <a:rPr sz="1350" b="0" i="0">
                <a:solidFill>
                  <a:srgbClr val="F2C078"/>
                </a:solidFill>
                <a:latin typeface="Courier New" pitchFamily="49" charset="0"/>
              </a:rPr>
              <a:t>"ativo"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, default=</a:t>
            </a:r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True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class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Meta: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     db_table = </a:t>
            </a:r>
            <a:r>
              <a:rPr sz="1350" b="0" i="0">
                <a:solidFill>
                  <a:srgbClr val="F2C078"/>
                </a:solidFill>
                <a:latin typeface="Courier New" pitchFamily="49" charset="0"/>
              </a:rPr>
              <a:t>"aluno"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     ordering = [</a:t>
            </a:r>
            <a:r>
              <a:rPr sz="1350" b="0" i="0">
                <a:solidFill>
                  <a:srgbClr val="F2C078"/>
                </a:solidFill>
                <a:latin typeface="Courier New" pitchFamily="49" charset="0"/>
              </a:rPr>
              <a:t>"nome"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]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def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__str__(self):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     </a:t>
            </a:r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return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</a:t>
            </a:r>
            <a:r>
              <a:rPr sz="1350" b="0" i="0">
                <a:solidFill>
                  <a:srgbClr val="F2C078"/>
                </a:solidFill>
                <a:latin typeface="Courier New" pitchFamily="49" charset="0"/>
              </a:rPr>
              <a:t>f"{self.matricula} - {self.nome}"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1783080"/>
            <a:ext cx="3941063" cy="932688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0" y="1874519"/>
            <a:ext cx="3611880" cy="310896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400" b="1" i="0">
                <a:solidFill>
                  <a:srgbClr val="1185AA"/>
                </a:solidFill>
                <a:latin typeface="Courier New" pitchFamily="49" charset="0"/>
              </a:rPr>
              <a:t>CharField(max_length=...)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203704"/>
            <a:ext cx="3611880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Vira TEXT NOT NULL: obrigatório por padrão.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862072"/>
            <a:ext cx="3941063" cy="932688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2953512"/>
            <a:ext cx="3611880" cy="310896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400" b="1" i="0">
                <a:solidFill>
                  <a:srgbClr val="1185AA"/>
                </a:solidFill>
                <a:latin typeface="Courier New" pitchFamily="49" charset="0"/>
              </a:rPr>
              <a:t>unique=True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282696"/>
            <a:ext cx="3611880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Vira UNIQUE. A duplicidade vira mensagem no formulário.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941063"/>
            <a:ext cx="3941063" cy="932688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06640" y="4032503"/>
            <a:ext cx="3611880" cy="310896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400" b="1" i="0">
                <a:solidFill>
                  <a:srgbClr val="1185AA"/>
                </a:solidFill>
                <a:latin typeface="Courier New" pitchFamily="49" charset="0"/>
              </a:rPr>
              <a:t>blank × null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361688"/>
            <a:ext cx="3611880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blank: o form aceita vazio. null: a coluna aceita NULL.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5020056"/>
            <a:ext cx="3941063" cy="932688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5111496"/>
            <a:ext cx="3611880" cy="310896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400" b="1" i="0">
                <a:solidFill>
                  <a:srgbClr val="1185AA"/>
                </a:solidFill>
                <a:latin typeface="Courier New" pitchFamily="49" charset="0"/>
              </a:rPr>
              <a:t>db_table = "aluno"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5440680"/>
            <a:ext cx="3611880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Mantém o nome da Entrega 1. O id é criado sozinho.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Migrations: do código ao banco</a:t>
            </a:r>
          </a:p>
        </p:txBody>
      </p:sp>
      <p:sp>
        <p:nvSpPr>
          <p:cNvPr id="3" name="Oval 2"/>
          <p:cNvSpPr/>
          <p:nvPr/>
        </p:nvSpPr>
        <p:spPr>
          <a:xfrm>
            <a:off x="1563624" y="1783080"/>
            <a:ext cx="1097280" cy="1097280"/>
          </a:xfrm>
          <a:prstGeom prst="ellipse">
            <a:avLst/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file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943" y="2057400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" y="2971800"/>
            <a:ext cx="2926080" cy="36576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ctr"/>
            <a:r>
              <a:rPr sz="1600" b="1" i="0">
                <a:solidFill>
                  <a:srgbClr val="00397B"/>
                </a:solidFill>
                <a:latin typeface="Courier New" pitchFamily="49" charset="0"/>
              </a:rPr>
              <a:t>models.py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3337560"/>
            <a:ext cx="292608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/>
            <a:r>
              <a:rPr sz="1400" b="0" i="0">
                <a:solidFill>
                  <a:srgbClr val="3A3A3A"/>
                </a:solidFill>
              </a:rPr>
              <a:t>As classes que vocês escrevem.</a:t>
            </a:r>
          </a:p>
        </p:txBody>
      </p:sp>
      <p:sp>
        <p:nvSpPr>
          <p:cNvPr id="7" name="Oval 6"/>
          <p:cNvSpPr/>
          <p:nvPr/>
        </p:nvSpPr>
        <p:spPr>
          <a:xfrm>
            <a:off x="5541264" y="1783080"/>
            <a:ext cx="1097280" cy="1097280"/>
          </a:xfrm>
          <a:prstGeom prst="ellipse">
            <a:avLst/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ayers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2057400"/>
            <a:ext cx="548640" cy="548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26864" y="2971800"/>
            <a:ext cx="2926080" cy="36576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ctr"/>
            <a:r>
              <a:rPr sz="1600" b="1" i="0">
                <a:solidFill>
                  <a:srgbClr val="00397B"/>
                </a:solidFill>
                <a:latin typeface="Courier New" pitchFamily="49" charset="0"/>
              </a:rPr>
              <a:t>0001_initial.py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3337560"/>
            <a:ext cx="292608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/>
            <a:r>
              <a:rPr sz="1400" b="0" i="0">
                <a:solidFill>
                  <a:srgbClr val="3A3A3A"/>
                </a:solidFill>
              </a:rPr>
              <a:t>Gerado. Vai no zip da entrega.</a:t>
            </a:r>
          </a:p>
        </p:txBody>
      </p:sp>
      <p:sp>
        <p:nvSpPr>
          <p:cNvPr id="11" name="Oval 10"/>
          <p:cNvSpPr/>
          <p:nvPr/>
        </p:nvSpPr>
        <p:spPr>
          <a:xfrm>
            <a:off x="9518904" y="1783080"/>
            <a:ext cx="1097280" cy="1097280"/>
          </a:xfrm>
          <a:prstGeom prst="ellipse">
            <a:avLst/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database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4" y="2057400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04504" y="2971800"/>
            <a:ext cx="2926080" cy="36576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ctr"/>
            <a:r>
              <a:rPr sz="1600" b="1" i="0">
                <a:solidFill>
                  <a:srgbClr val="00397B"/>
                </a:solidFill>
                <a:latin typeface="Courier New" pitchFamily="49" charset="0"/>
              </a:rPr>
              <a:t>escola.sqlite3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337560"/>
            <a:ext cx="2926080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ctr"/>
            <a:r>
              <a:rPr sz="1400" b="0" i="0">
                <a:solidFill>
                  <a:srgbClr val="3A3A3A"/>
                </a:solidFill>
              </a:rPr>
              <a:t>Gerado pelo migrate. Não vai no zip.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98064" y="2331720"/>
            <a:ext cx="2606040" cy="0"/>
          </a:xfrm>
          <a:prstGeom prst="line">
            <a:avLst/>
          </a:prstGeom>
          <a:ln w="25400">
            <a:solidFill>
              <a:srgbClr val="118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98064" y="1920240"/>
            <a:ext cx="2606040" cy="32004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ctr"/>
            <a:r>
              <a:rPr sz="1400" b="1" i="0">
                <a:solidFill>
                  <a:srgbClr val="1185AA"/>
                </a:solidFill>
                <a:latin typeface="Courier New" pitchFamily="49" charset="0"/>
              </a:rPr>
              <a:t>makemigrations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75704" y="2331720"/>
            <a:ext cx="2606040" cy="0"/>
          </a:xfrm>
          <a:prstGeom prst="line">
            <a:avLst/>
          </a:prstGeom>
          <a:ln w="25400">
            <a:solidFill>
              <a:srgbClr val="1185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75704" y="1920240"/>
            <a:ext cx="2606039" cy="32004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ctr"/>
            <a:r>
              <a:rPr sz="1400" b="1" i="0">
                <a:solidFill>
                  <a:srgbClr val="1185AA"/>
                </a:solidFill>
                <a:latin typeface="Courier New" pitchFamily="49" charset="0"/>
              </a:rPr>
              <a:t>migrate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4984" y="4206240"/>
            <a:ext cx="10149840" cy="178308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97864" y="4361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399032" y="4361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600200" y="4361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83664" y="4297679"/>
            <a:ext cx="9098280" cy="27432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100" b="0" i="0">
                <a:solidFill>
                  <a:srgbClr val="9AA5B1"/>
                </a:solidFill>
                <a:latin typeface="Courier New" pitchFamily="49" charset="0"/>
              </a:rPr>
              <a:t>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4663440"/>
            <a:ext cx="9784080" cy="123444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60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manage.py sqlmigrate academico 0001</a:t>
            </a:r>
          </a:p>
          <a:p>
            <a:pPr algn="l"/>
            <a:r>
              <a:rPr sz="1600" b="0" i="1">
                <a:solidFill>
                  <a:srgbClr val="8B98A5"/>
                </a:solidFill>
                <a:latin typeface="Courier New" pitchFamily="49" charset="0"/>
              </a:rPr>
              <a:t>-- saída (resumida): o SQL que a classe Aluno gerou</a:t>
            </a:r>
          </a:p>
          <a:p>
            <a:pPr algn="l"/>
            <a:r>
              <a:rPr sz="1600" b="0" i="0">
                <a:solidFill>
                  <a:srgbClr val="A9DC76"/>
                </a:solidFill>
                <a:latin typeface="Courier New" pitchFamily="49" charset="0"/>
              </a:rPr>
              <a:t>CREATE TABLE "aluno" ("id" integer NOT NULL PRIMARY KEY AUTOINCREMENT,</a:t>
            </a:r>
          </a:p>
          <a:p>
            <a:pPr algn="l"/>
            <a:r>
              <a:rPr sz="1600" b="0" i="0">
                <a:solidFill>
                  <a:srgbClr val="A9DC76"/>
                </a:solidFill>
                <a:latin typeface="Courier New" pitchFamily="49" charset="0"/>
              </a:rPr>
              <a:t>  "matricula" varchar(20) NOT NULL UNIQUE, "nome" varchar(120) NOT NULL, ...);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ORM: consultas sem escrever SQL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14984" y="1783080"/>
          <a:ext cx="1014984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ORM (Python)</a:t>
                      </a:r>
                    </a:p>
                  </a:txBody>
                  <a:tcPr marL="128016" marR="128016" marT="36576" marB="36576" anchor="ctr"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SQL gerado</a:t>
                      </a:r>
                    </a:p>
                  </a:txBody>
                  <a:tcPr marL="128016" marR="128016" marT="36576" marB="36576" anchor="ctr">
                    <a:solidFill>
                      <a:srgbClr val="003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Aluno.objects.all()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SELECT * FROM aluno ORDER BY nome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alunos.filter(Q(nome__icontains=b) | Q(matricula__icontains=b))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WHERE nome LIKE %b% OR matricula LIKE %b%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get_object_or_404(Aluno, pk=7)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WHERE id = 7  (ou a página 404)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AlunoForm(request.POST, instance=aluno).save()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UPDATE aluno SET ... WHERE id = 7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Inscricao.objects.select_related("aluno", "disciplina")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SELECT ... JOIN aluno ... JOIN disciplina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View: listar alunos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783080"/>
            <a:ext cx="6035040" cy="420624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97864" y="19385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99032" y="19385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00200" y="19385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83664" y="1874519"/>
            <a:ext cx="4983479" cy="27432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100" b="0" i="0">
                <a:solidFill>
                  <a:srgbClr val="9AA5B1"/>
                </a:solidFill>
                <a:latin typeface="Courier New" pitchFamily="49" charset="0"/>
              </a:rPr>
              <a:t>academico/views.py · TODO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240280"/>
            <a:ext cx="5669279" cy="3657599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C792EA"/>
                </a:solidFill>
                <a:latin typeface="Courier New" pitchFamily="49" charset="0"/>
              </a:rPr>
              <a:t>@login_required</a:t>
            </a:r>
          </a:p>
          <a:p>
            <a:pPr algn="l"/>
            <a:r>
              <a:rPr sz="1500" b="0" i="0">
                <a:solidFill>
                  <a:srgbClr val="7FD3F0"/>
                </a:solidFill>
                <a:latin typeface="Courier New" pitchFamily="49" charset="0"/>
              </a:rPr>
              <a:t>def</a:t>
            </a:r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aluno_lista(request):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   alunos = Aluno.objects.all()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   busca = request.GET.get(</a:t>
            </a:r>
            <a:r>
              <a:rPr sz="1500" b="0" i="0">
                <a:solidFill>
                  <a:srgbClr val="F2C078"/>
                </a:solidFill>
                <a:latin typeface="Courier New" pitchFamily="49" charset="0"/>
              </a:rPr>
              <a:t>"busca"</a:t>
            </a:r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, </a:t>
            </a:r>
            <a:r>
              <a:rPr sz="1500" b="0" i="0">
                <a:solidFill>
                  <a:srgbClr val="F2C078"/>
                </a:solidFill>
                <a:latin typeface="Courier New" pitchFamily="49" charset="0"/>
              </a:rPr>
              <a:t>""</a:t>
            </a:r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).strip()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500" b="0" i="0">
                <a:solidFill>
                  <a:srgbClr val="7FD3F0"/>
                </a:solidFill>
                <a:latin typeface="Courier New" pitchFamily="49" charset="0"/>
              </a:rPr>
              <a:t>if</a:t>
            </a:r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busca: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       alunos = alunos.filter(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           Q(nome__icontains=busca)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           | Q(matricula__icontains=busca))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500" b="0" i="0">
                <a:solidFill>
                  <a:srgbClr val="7FD3F0"/>
                </a:solidFill>
                <a:latin typeface="Courier New" pitchFamily="49" charset="0"/>
              </a:rPr>
              <a:t>return</a:t>
            </a:r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render(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       request,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       </a:t>
            </a:r>
            <a:r>
              <a:rPr sz="1500" b="0" i="0">
                <a:solidFill>
                  <a:srgbClr val="F2C078"/>
                </a:solidFill>
                <a:latin typeface="Courier New" pitchFamily="49" charset="0"/>
              </a:rPr>
              <a:t>"academico/aluno_lista.html"</a:t>
            </a:r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,</a:t>
            </a:r>
          </a:p>
          <a:p>
            <a:pPr algn="l"/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        {</a:t>
            </a:r>
            <a:r>
              <a:rPr sz="1500" b="0" i="0">
                <a:solidFill>
                  <a:srgbClr val="F2C078"/>
                </a:solidFill>
                <a:latin typeface="Courier New" pitchFamily="49" charset="0"/>
              </a:rPr>
              <a:t>"alunos"</a:t>
            </a:r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: alunos, </a:t>
            </a:r>
            <a:r>
              <a:rPr sz="1500" b="0" i="0">
                <a:solidFill>
                  <a:srgbClr val="F2C078"/>
                </a:solidFill>
                <a:latin typeface="Courier New" pitchFamily="49" charset="0"/>
              </a:rPr>
              <a:t>"busca"</a:t>
            </a:r>
            <a:r>
              <a:rPr sz="1500" b="0" i="0">
                <a:solidFill>
                  <a:srgbClr val="E6EDF3"/>
                </a:solidFill>
                <a:latin typeface="Courier New" pitchFamily="49" charset="0"/>
              </a:rPr>
              <a:t>: busca})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783080"/>
            <a:ext cx="3849624" cy="12801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79" y="1965960"/>
            <a:ext cx="457200" cy="45720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965960"/>
            <a:ext cx="292608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Consulta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96312"/>
            <a:ext cx="352044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Aluno.objects.all()</a:t>
            </a:r>
            <a:r>
              <a:rPr sz="1400" b="0" i="0">
                <a:solidFill>
                  <a:srgbClr val="3A3A3A"/>
                </a:solidFill>
              </a:rPr>
              <a:t> monta a consulta. Ainda não foi ao banco.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246120"/>
            <a:ext cx="3849624" cy="12801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79" y="3429000"/>
            <a:ext cx="457200" cy="45720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429000"/>
            <a:ext cx="292608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Filtra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959352"/>
            <a:ext cx="352044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Lê o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?busca=</a:t>
            </a:r>
            <a:r>
              <a:rPr sz="1400" b="0" i="0">
                <a:solidFill>
                  <a:srgbClr val="3A3A3A"/>
                </a:solidFill>
              </a:rPr>
              <a:t> da URL e filtra com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Q</a:t>
            </a:r>
            <a:r>
              <a:rPr sz="1400" b="0" i="0">
                <a:solidFill>
                  <a:srgbClr val="3A3A3A"/>
                </a:solidFill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3849624" cy="12801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79" y="4892040"/>
            <a:ext cx="457200" cy="45720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892040"/>
            <a:ext cx="292608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Entrega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5422392"/>
            <a:ext cx="352044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render()</a:t>
            </a:r>
            <a:r>
              <a:rPr sz="1400" b="0" i="0">
                <a:solidFill>
                  <a:srgbClr val="3A3A3A"/>
                </a:solidFill>
              </a:rPr>
              <a:t> junta template e contexto: a chave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"alunos"</a:t>
            </a:r>
            <a:r>
              <a:rPr sz="1400" b="0" i="0">
                <a:solidFill>
                  <a:srgbClr val="3A3A3A"/>
                </a:solidFill>
              </a:rPr>
              <a:t> vira variável no HTML.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Template e URL: a lista na tela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783080"/>
            <a:ext cx="5669280" cy="283464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97864" y="19385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99032" y="19385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00200" y="19385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83664" y="1874519"/>
            <a:ext cx="4617720" cy="27432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100" b="0" i="0">
                <a:solidFill>
                  <a:srgbClr val="9AA5B1"/>
                </a:solidFill>
                <a:latin typeface="Courier New" pitchFamily="49" charset="0"/>
              </a:rPr>
              <a:t>aluno_lista.html (resumido)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240280"/>
            <a:ext cx="5303520" cy="228600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450" b="0" i="0">
                <a:solidFill>
                  <a:srgbClr val="C792EA"/>
                </a:solidFill>
                <a:latin typeface="Courier New" pitchFamily="49" charset="0"/>
              </a:rPr>
              <a:t>{% extends "base.html" %}</a:t>
            </a:r>
          </a:p>
          <a:p>
            <a:pPr algn="l"/>
            <a:r>
              <a:rPr sz="1450" b="0" i="0">
                <a:solidFill>
                  <a:srgbClr val="C792EA"/>
                </a:solidFill>
                <a:latin typeface="Courier New" pitchFamily="49" charset="0"/>
              </a:rPr>
              <a:t>{% block conteudo %}</a:t>
            </a:r>
          </a:p>
          <a:p>
            <a:pPr algn="l"/>
            <a:r>
              <a:rPr sz="1450" b="0" i="0">
                <a:solidFill>
                  <a:srgbClr val="E6EDF3"/>
                </a:solidFill>
                <a:latin typeface="Courier New" pitchFamily="49" charset="0"/>
              </a:rPr>
              <a:t>  </a:t>
            </a:r>
            <a:r>
              <a:rPr sz="1450" b="0" i="0">
                <a:solidFill>
                  <a:srgbClr val="C792EA"/>
                </a:solidFill>
                <a:latin typeface="Courier New" pitchFamily="49" charset="0"/>
              </a:rPr>
              <a:t>{% for aluno in alunos %}</a:t>
            </a:r>
          </a:p>
          <a:p>
            <a:pPr algn="l"/>
            <a:r>
              <a:rPr sz="1450" b="0" i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450" b="0" i="0">
                <a:solidFill>
                  <a:srgbClr val="C792EA"/>
                </a:solidFill>
                <a:latin typeface="Courier New" pitchFamily="49" charset="0"/>
              </a:rPr>
              <a:t>{{ aluno.nome }}</a:t>
            </a:r>
          </a:p>
          <a:p>
            <a:pPr algn="l"/>
            <a:r>
              <a:rPr sz="1450" b="0" i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450" b="0" i="0">
                <a:solidFill>
                  <a:srgbClr val="C792EA"/>
                </a:solidFill>
                <a:latin typeface="Courier New" pitchFamily="49" charset="0"/>
              </a:rPr>
              <a:t>{% url 'academico:aluno_editar' aluno.pk %}</a:t>
            </a:r>
          </a:p>
          <a:p>
            <a:pPr algn="l"/>
            <a:r>
              <a:rPr sz="1450" b="0" i="0">
                <a:solidFill>
                  <a:srgbClr val="E6EDF3"/>
                </a:solidFill>
                <a:latin typeface="Courier New" pitchFamily="49" charset="0"/>
              </a:rPr>
              <a:t>  </a:t>
            </a:r>
            <a:r>
              <a:rPr sz="1450" b="0" i="0">
                <a:solidFill>
                  <a:srgbClr val="C792EA"/>
                </a:solidFill>
                <a:latin typeface="Courier New" pitchFamily="49" charset="0"/>
              </a:rPr>
              <a:t>{% empty %}</a:t>
            </a:r>
          </a:p>
          <a:p>
            <a:pPr algn="l"/>
            <a:r>
              <a:rPr sz="1450" b="0" i="0">
                <a:solidFill>
                  <a:srgbClr val="E6EDF3"/>
                </a:solidFill>
                <a:latin typeface="Courier New" pitchFamily="49" charset="0"/>
              </a:rPr>
              <a:t>    Nenhum aluno cadastrado ainda.</a:t>
            </a:r>
          </a:p>
          <a:p>
            <a:pPr algn="l"/>
            <a:r>
              <a:rPr sz="1450" b="0" i="0">
                <a:solidFill>
                  <a:srgbClr val="E6EDF3"/>
                </a:solidFill>
                <a:latin typeface="Courier New" pitchFamily="49" charset="0"/>
              </a:rPr>
              <a:t>  </a:t>
            </a:r>
            <a:r>
              <a:rPr sz="1450" b="0" i="0">
                <a:solidFill>
                  <a:srgbClr val="C792EA"/>
                </a:solidFill>
                <a:latin typeface="Courier New" pitchFamily="49" charset="0"/>
              </a:rPr>
              <a:t>{% endfor %}</a:t>
            </a:r>
          </a:p>
          <a:p>
            <a:pPr algn="l"/>
            <a:r>
              <a:rPr sz="1450" b="0" i="0">
                <a:solidFill>
                  <a:srgbClr val="C792EA"/>
                </a:solidFill>
                <a:latin typeface="Courier New" pitchFamily="49" charset="0"/>
              </a:rPr>
              <a:t>{% endblock %}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58584" y="1783080"/>
            <a:ext cx="4206240" cy="283464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41464" y="19385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42632" y="19385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543800" y="19385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27264" y="1874519"/>
            <a:ext cx="3154679" cy="27432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100" b="0" i="0">
                <a:solidFill>
                  <a:srgbClr val="9AA5B1"/>
                </a:solidFill>
                <a:latin typeface="Courier New" pitchFamily="49" charset="0"/>
              </a:rPr>
              <a:t>academico/urls.py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7184" y="2240280"/>
            <a:ext cx="3840479" cy="228600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E6EDF3"/>
                </a:solidFill>
                <a:latin typeface="Courier New" pitchFamily="49" charset="0"/>
              </a:rPr>
              <a:t>app_name = </a:t>
            </a:r>
            <a:r>
              <a:rPr sz="1300" b="0" i="0">
                <a:solidFill>
                  <a:srgbClr val="F2C078"/>
                </a:solidFill>
                <a:latin typeface="Courier New" pitchFamily="49" charset="0"/>
              </a:rPr>
              <a:t>"academico"</a:t>
            </a:r>
          </a:p>
          <a:p>
            <a:pPr algn="l"/>
            <a:r>
              <a:rPr sz="1300" b="0" i="0">
                <a:solidFill>
                  <a:srgbClr val="E6EDF3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sz="1300" b="0" i="0">
                <a:solidFill>
                  <a:srgbClr val="E6EDF3"/>
                </a:solidFill>
                <a:latin typeface="Courier New" pitchFamily="49" charset="0"/>
              </a:rPr>
              <a:t>urlpatterns = [</a:t>
            </a:r>
          </a:p>
          <a:p>
            <a:pPr algn="l"/>
            <a:r>
              <a:rPr sz="1300" b="0" i="0">
                <a:solidFill>
                  <a:srgbClr val="E6EDF3"/>
                </a:solidFill>
                <a:latin typeface="Courier New" pitchFamily="49" charset="0"/>
              </a:rPr>
              <a:t>    path(</a:t>
            </a:r>
            <a:r>
              <a:rPr sz="1300" b="0" i="0">
                <a:solidFill>
                  <a:srgbClr val="F2C078"/>
                </a:solidFill>
                <a:latin typeface="Courier New" pitchFamily="49" charset="0"/>
              </a:rPr>
              <a:t>"alunos/"</a:t>
            </a:r>
            <a:r>
              <a:rPr sz="1300" b="0" i="0">
                <a:solidFill>
                  <a:srgbClr val="E6EDF3"/>
                </a:solidFill>
                <a:latin typeface="Courier New" pitchFamily="49" charset="0"/>
              </a:rPr>
              <a:t>, views.aluno_lista,</a:t>
            </a:r>
          </a:p>
          <a:p>
            <a:pPr algn="l"/>
            <a:r>
              <a:rPr sz="1300" b="0" i="0">
                <a:solidFill>
                  <a:srgbClr val="E6EDF3"/>
                </a:solidFill>
                <a:latin typeface="Courier New" pitchFamily="49" charset="0"/>
              </a:rPr>
              <a:t>         name=</a:t>
            </a:r>
            <a:r>
              <a:rPr sz="1300" b="0" i="0">
                <a:solidFill>
                  <a:srgbClr val="F2C078"/>
                </a:solidFill>
                <a:latin typeface="Courier New" pitchFamily="49" charset="0"/>
              </a:rPr>
              <a:t>"aluno_lista"</a:t>
            </a:r>
            <a:r>
              <a:rPr sz="1300" b="0" i="0">
                <a:solidFill>
                  <a:srgbClr val="E6EDF3"/>
                </a:solidFill>
                <a:latin typeface="Courier New" pitchFamily="49" charset="0"/>
              </a:rPr>
              <a:t>),</a:t>
            </a:r>
          </a:p>
          <a:p>
            <a:pPr algn="l"/>
            <a:r>
              <a:rPr sz="1300" b="0" i="0">
                <a:solidFill>
                  <a:srgbClr val="E6EDF3"/>
                </a:solidFill>
                <a:latin typeface="Courier New" pitchFamily="49" charset="0"/>
              </a:rPr>
              <a:t>    path(</a:t>
            </a:r>
            <a:r>
              <a:rPr sz="1300" b="0" i="0">
                <a:solidFill>
                  <a:srgbClr val="F2C078"/>
                </a:solidFill>
                <a:latin typeface="Courier New" pitchFamily="49" charset="0"/>
              </a:rPr>
              <a:t>"alunos/&lt;int:pk&gt;/editar/"</a:t>
            </a:r>
            <a:r>
              <a:rPr sz="1300" b="0" i="0">
                <a:solidFill>
                  <a:srgbClr val="E6EDF3"/>
                </a:solidFill>
                <a:latin typeface="Courier New" pitchFamily="49" charset="0"/>
              </a:rPr>
              <a:t>,</a:t>
            </a:r>
          </a:p>
          <a:p>
            <a:pPr algn="l"/>
            <a:r>
              <a:rPr sz="1300" b="0" i="0">
                <a:solidFill>
                  <a:srgbClr val="E6EDF3"/>
                </a:solidFill>
                <a:latin typeface="Courier New" pitchFamily="49" charset="0"/>
              </a:rPr>
              <a:t>         views.aluno_editar,</a:t>
            </a:r>
          </a:p>
          <a:p>
            <a:pPr algn="l"/>
            <a:r>
              <a:rPr sz="1300" b="0" i="0">
                <a:solidFill>
                  <a:srgbClr val="E6EDF3"/>
                </a:solidFill>
                <a:latin typeface="Courier New" pitchFamily="49" charset="0"/>
              </a:rPr>
              <a:t>         name=</a:t>
            </a:r>
            <a:r>
              <a:rPr sz="1300" b="0" i="0">
                <a:solidFill>
                  <a:srgbClr val="F2C078"/>
                </a:solidFill>
                <a:latin typeface="Courier New" pitchFamily="49" charset="0"/>
              </a:rPr>
              <a:t>"aluno_editar"</a:t>
            </a:r>
            <a:r>
              <a:rPr sz="1300" b="0" i="0">
                <a:solidFill>
                  <a:srgbClr val="E6EDF3"/>
                </a:solidFill>
                <a:latin typeface="Courier New" pitchFamily="49" charset="0"/>
              </a:rPr>
              <a:t>),</a:t>
            </a:r>
          </a:p>
          <a:p>
            <a:pPr algn="l"/>
            <a:r>
              <a:rPr sz="1300" b="0" i="0">
                <a:solidFill>
                  <a:srgbClr val="E6EDF3"/>
                </a:solidFill>
                <a:latin typeface="Courier New" pitchFamily="49" charset="0"/>
              </a:rPr>
              <a:t>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" y="4846320"/>
            <a:ext cx="10149840" cy="1188720"/>
          </a:xfrm>
          <a:prstGeom prst="rect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89304" y="4572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warning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4709160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89304" y="5175504"/>
            <a:ext cx="960120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 template não reclama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9304" y="5504688"/>
            <a:ext cx="9601200" cy="420624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Mandou </a:t>
            </a:r>
            <a:r>
              <a:rPr sz="1350" b="0" i="0">
                <a:solidFill>
                  <a:srgbClr val="FFFFFF"/>
                </a:solidFill>
                <a:latin typeface="Courier New" pitchFamily="49" charset="0"/>
              </a:rPr>
              <a:t>aluno</a:t>
            </a:r>
            <a:r>
              <a:rPr sz="1500" b="0" i="0">
                <a:solidFill>
                  <a:srgbClr val="FFFFFF"/>
                </a:solidFill>
              </a:rPr>
              <a:t> no contexto e o template espera </a:t>
            </a:r>
            <a:r>
              <a:rPr sz="1350" b="0" i="0">
                <a:solidFill>
                  <a:srgbClr val="FFFFFF"/>
                </a:solidFill>
                <a:latin typeface="Courier New" pitchFamily="49" charset="0"/>
              </a:rPr>
              <a:t>alunos</a:t>
            </a:r>
            <a:r>
              <a:rPr sz="1500" b="0" i="0">
                <a:solidFill>
                  <a:srgbClr val="FFFFFF"/>
                </a:solidFill>
              </a:rPr>
              <a:t>? A tela aparece vazia, sem erro nenhum.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View: cadastrar aluno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783080"/>
            <a:ext cx="6400800" cy="420624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97864" y="19385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99032" y="19385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00200" y="19385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83664" y="1874519"/>
            <a:ext cx="5349240" cy="27432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100" b="0" i="0">
                <a:solidFill>
                  <a:srgbClr val="9AA5B1"/>
                </a:solidFill>
                <a:latin typeface="Courier New" pitchFamily="49" charset="0"/>
              </a:rPr>
              <a:t>academico/views.py · TODO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240280"/>
            <a:ext cx="6035040" cy="3657599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350" b="0" i="0" dirty="0">
                <a:solidFill>
                  <a:srgbClr val="C792EA"/>
                </a:solidFill>
                <a:latin typeface="Courier New" pitchFamily="49" charset="0"/>
              </a:rPr>
              <a:t>@login_required</a:t>
            </a:r>
          </a:p>
          <a:p>
            <a:pPr algn="l"/>
            <a:r>
              <a:rPr sz="1350" b="0" i="0" dirty="0">
                <a:solidFill>
                  <a:srgbClr val="7FD3F0"/>
                </a:solidFill>
                <a:latin typeface="Courier New" pitchFamily="49" charset="0"/>
              </a:rPr>
              <a:t>def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</a:t>
            </a:r>
            <a:r>
              <a:rPr sz="1350" b="0" i="0" dirty="0" err="1">
                <a:solidFill>
                  <a:srgbClr val="E6EDF3"/>
                </a:solidFill>
                <a:latin typeface="Courier New" pitchFamily="49" charset="0"/>
              </a:rPr>
              <a:t>aluno_novo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(request):</a:t>
            </a:r>
          </a:p>
          <a:p>
            <a:pPr algn="l"/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350" b="0" i="0" dirty="0">
                <a:solidFill>
                  <a:srgbClr val="7FD3F0"/>
                </a:solidFill>
                <a:latin typeface="Courier New" pitchFamily="49" charset="0"/>
              </a:rPr>
              <a:t>if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</a:t>
            </a:r>
            <a:r>
              <a:rPr sz="1350" b="0" i="0" dirty="0" err="1">
                <a:solidFill>
                  <a:srgbClr val="E6EDF3"/>
                </a:solidFill>
                <a:latin typeface="Courier New" pitchFamily="49" charset="0"/>
              </a:rPr>
              <a:t>request.method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== </a:t>
            </a:r>
            <a:r>
              <a:rPr sz="1350" b="0" i="0" dirty="0">
                <a:solidFill>
                  <a:srgbClr val="F2C078"/>
                </a:solidFill>
                <a:latin typeface="Courier New" pitchFamily="49" charset="0"/>
              </a:rPr>
              <a:t>"POST"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:   </a:t>
            </a:r>
            <a:r>
              <a:rPr sz="1350" b="0" i="1" dirty="0">
                <a:solidFill>
                  <a:srgbClr val="8B98A5"/>
                </a:solidFill>
                <a:latin typeface="Courier New" pitchFamily="49" charset="0"/>
              </a:rPr>
              <a:t># </a:t>
            </a:r>
            <a:r>
              <a:rPr sz="1350" b="0" i="1" dirty="0" err="1">
                <a:solidFill>
                  <a:srgbClr val="8B98A5"/>
                </a:solidFill>
                <a:latin typeface="Courier New" pitchFamily="49" charset="0"/>
              </a:rPr>
              <a:t>enviou</a:t>
            </a:r>
            <a:r>
              <a:rPr sz="1350" b="0" i="1" dirty="0">
                <a:solidFill>
                  <a:srgbClr val="8B98A5"/>
                </a:solidFill>
                <a:latin typeface="Courier New" pitchFamily="49" charset="0"/>
              </a:rPr>
              <a:t> o form</a:t>
            </a:r>
          </a:p>
          <a:p>
            <a:pPr algn="l"/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       form = </a:t>
            </a:r>
            <a:r>
              <a:rPr sz="1350" b="0" i="0" dirty="0" err="1">
                <a:solidFill>
                  <a:srgbClr val="FF0000"/>
                </a:solidFill>
                <a:latin typeface="Courier New" pitchFamily="49" charset="0"/>
              </a:rPr>
              <a:t>AlunoForm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(</a:t>
            </a:r>
            <a:r>
              <a:rPr sz="1350" b="0" i="0" dirty="0" err="1">
                <a:solidFill>
                  <a:srgbClr val="E6EDF3"/>
                </a:solidFill>
                <a:latin typeface="Courier New" pitchFamily="49" charset="0"/>
              </a:rPr>
              <a:t>request.POST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       </a:t>
            </a:r>
            <a:r>
              <a:rPr sz="1350" b="0" i="0" dirty="0">
                <a:solidFill>
                  <a:srgbClr val="7FD3F0"/>
                </a:solidFill>
                <a:latin typeface="Courier New" pitchFamily="49" charset="0"/>
              </a:rPr>
              <a:t>if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</a:t>
            </a:r>
            <a:r>
              <a:rPr sz="1350" b="0" i="0" dirty="0" err="1">
                <a:solidFill>
                  <a:srgbClr val="E6EDF3"/>
                </a:solidFill>
                <a:latin typeface="Courier New" pitchFamily="49" charset="0"/>
              </a:rPr>
              <a:t>form.is_valid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():</a:t>
            </a:r>
          </a:p>
          <a:p>
            <a:pPr algn="l"/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           </a:t>
            </a:r>
            <a:r>
              <a:rPr sz="1350" b="0" i="0" dirty="0" err="1">
                <a:solidFill>
                  <a:srgbClr val="E6EDF3"/>
                </a:solidFill>
                <a:latin typeface="Courier New" pitchFamily="49" charset="0"/>
              </a:rPr>
              <a:t>aluno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= </a:t>
            </a:r>
            <a:r>
              <a:rPr sz="1350" b="0" i="0" dirty="0" err="1">
                <a:solidFill>
                  <a:srgbClr val="E6EDF3"/>
                </a:solidFill>
                <a:latin typeface="Courier New" pitchFamily="49" charset="0"/>
              </a:rPr>
              <a:t>form.save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()    </a:t>
            </a:r>
            <a:r>
              <a:rPr sz="1350" b="0" i="1" dirty="0">
                <a:solidFill>
                  <a:srgbClr val="8B98A5"/>
                </a:solidFill>
                <a:latin typeface="Courier New" pitchFamily="49" charset="0"/>
              </a:rPr>
              <a:t># INSERT</a:t>
            </a:r>
          </a:p>
          <a:p>
            <a:pPr algn="l"/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           </a:t>
            </a:r>
            <a:r>
              <a:rPr sz="1350" b="0" i="0" dirty="0" err="1">
                <a:solidFill>
                  <a:srgbClr val="E6EDF3"/>
                </a:solidFill>
                <a:latin typeface="Courier New" pitchFamily="49" charset="0"/>
              </a:rPr>
              <a:t>messages.success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(request, </a:t>
            </a:r>
            <a:r>
              <a:rPr sz="1350" b="0" i="0" dirty="0">
                <a:solidFill>
                  <a:srgbClr val="F2C078"/>
                </a:solidFill>
                <a:latin typeface="Courier New" pitchFamily="49" charset="0"/>
              </a:rPr>
              <a:t>"</a:t>
            </a:r>
            <a:r>
              <a:rPr sz="1350" b="0" i="0" dirty="0" err="1">
                <a:solidFill>
                  <a:srgbClr val="F2C078"/>
                </a:solidFill>
                <a:latin typeface="Courier New" pitchFamily="49" charset="0"/>
              </a:rPr>
              <a:t>Aluno</a:t>
            </a:r>
            <a:r>
              <a:rPr sz="1350" b="0" i="0" dirty="0">
                <a:solidFill>
                  <a:srgbClr val="F2C078"/>
                </a:solidFill>
                <a:latin typeface="Courier New" pitchFamily="49" charset="0"/>
              </a:rPr>
              <a:t> </a:t>
            </a:r>
            <a:r>
              <a:rPr sz="1350" b="0" i="0" dirty="0" err="1">
                <a:solidFill>
                  <a:srgbClr val="F2C078"/>
                </a:solidFill>
                <a:latin typeface="Courier New" pitchFamily="49" charset="0"/>
              </a:rPr>
              <a:t>cadastrado</a:t>
            </a:r>
            <a:r>
              <a:rPr sz="1350" b="0" i="0" dirty="0">
                <a:solidFill>
                  <a:srgbClr val="F2C078"/>
                </a:solidFill>
                <a:latin typeface="Courier New" pitchFamily="49" charset="0"/>
              </a:rPr>
              <a:t>."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           </a:t>
            </a:r>
            <a:r>
              <a:rPr sz="1350" b="0" i="0" dirty="0">
                <a:solidFill>
                  <a:srgbClr val="7FD3F0"/>
                </a:solidFill>
                <a:latin typeface="Courier New" pitchFamily="49" charset="0"/>
              </a:rPr>
              <a:t>return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redirect(</a:t>
            </a:r>
            <a:r>
              <a:rPr sz="1350" b="0" i="0" dirty="0">
                <a:solidFill>
                  <a:srgbClr val="F2C078"/>
                </a:solidFill>
                <a:latin typeface="Courier New" pitchFamily="49" charset="0"/>
              </a:rPr>
              <a:t>"</a:t>
            </a:r>
            <a:r>
              <a:rPr sz="1350" b="0" i="0" dirty="0" err="1">
                <a:solidFill>
                  <a:srgbClr val="F2C078"/>
                </a:solidFill>
                <a:latin typeface="Courier New" pitchFamily="49" charset="0"/>
              </a:rPr>
              <a:t>academico:aluno_lista</a:t>
            </a:r>
            <a:r>
              <a:rPr sz="1350" b="0" i="0" dirty="0">
                <a:solidFill>
                  <a:srgbClr val="F2C078"/>
                </a:solidFill>
                <a:latin typeface="Courier New" pitchFamily="49" charset="0"/>
              </a:rPr>
              <a:t>"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350" b="0" i="0" dirty="0">
                <a:solidFill>
                  <a:srgbClr val="7FD3F0"/>
                </a:solidFill>
                <a:latin typeface="Courier New" pitchFamily="49" charset="0"/>
              </a:rPr>
              <a:t>else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:                          </a:t>
            </a:r>
            <a:r>
              <a:rPr sz="1350" b="0" i="1" dirty="0">
                <a:solidFill>
                  <a:srgbClr val="8B98A5"/>
                </a:solidFill>
                <a:latin typeface="Courier New" pitchFamily="49" charset="0"/>
              </a:rPr>
              <a:t># </a:t>
            </a:r>
            <a:r>
              <a:rPr sz="1350" b="0" i="1" dirty="0" err="1">
                <a:solidFill>
                  <a:srgbClr val="8B98A5"/>
                </a:solidFill>
                <a:latin typeface="Courier New" pitchFamily="49" charset="0"/>
              </a:rPr>
              <a:t>só</a:t>
            </a:r>
            <a:r>
              <a:rPr sz="1350" b="0" i="1" dirty="0">
                <a:solidFill>
                  <a:srgbClr val="8B98A5"/>
                </a:solidFill>
                <a:latin typeface="Courier New" pitchFamily="49" charset="0"/>
              </a:rPr>
              <a:t> </a:t>
            </a:r>
            <a:r>
              <a:rPr sz="1350" b="0" i="1" dirty="0" err="1">
                <a:solidFill>
                  <a:srgbClr val="8B98A5"/>
                </a:solidFill>
                <a:latin typeface="Courier New" pitchFamily="49" charset="0"/>
              </a:rPr>
              <a:t>abriu</a:t>
            </a:r>
            <a:r>
              <a:rPr sz="1350" b="0" i="1" dirty="0">
                <a:solidFill>
                  <a:srgbClr val="8B98A5"/>
                </a:solidFill>
                <a:latin typeface="Courier New" pitchFamily="49" charset="0"/>
              </a:rPr>
              <a:t> a </a:t>
            </a:r>
            <a:r>
              <a:rPr sz="1350" b="0" i="1" dirty="0" err="1">
                <a:solidFill>
                  <a:srgbClr val="8B98A5"/>
                </a:solidFill>
                <a:latin typeface="Courier New" pitchFamily="49" charset="0"/>
              </a:rPr>
              <a:t>tela</a:t>
            </a:r>
            <a:endParaRPr sz="1350" b="0" i="1" dirty="0">
              <a:solidFill>
                <a:srgbClr val="8B98A5"/>
              </a:solidFill>
              <a:latin typeface="Courier New" pitchFamily="49" charset="0"/>
            </a:endParaRPr>
          </a:p>
          <a:p>
            <a:pPr algn="l"/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       form = </a:t>
            </a:r>
            <a:r>
              <a:rPr sz="1350" b="0" i="0" dirty="0" err="1">
                <a:solidFill>
                  <a:srgbClr val="E6EDF3"/>
                </a:solidFill>
                <a:latin typeface="Courier New" pitchFamily="49" charset="0"/>
              </a:rPr>
              <a:t>AlunoForm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()</a:t>
            </a:r>
          </a:p>
          <a:p>
            <a:pPr algn="l"/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350" b="0" i="0" dirty="0">
                <a:solidFill>
                  <a:srgbClr val="7FD3F0"/>
                </a:solidFill>
                <a:latin typeface="Courier New" pitchFamily="49" charset="0"/>
              </a:rPr>
              <a:t>return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render(request, </a:t>
            </a:r>
            <a:r>
              <a:rPr sz="1350" b="0" i="0" dirty="0">
                <a:solidFill>
                  <a:srgbClr val="F2C078"/>
                </a:solidFill>
                <a:latin typeface="Courier New" pitchFamily="49" charset="0"/>
              </a:rPr>
              <a:t>"</a:t>
            </a:r>
            <a:r>
              <a:rPr sz="1350" b="0" i="0" dirty="0" err="1">
                <a:solidFill>
                  <a:srgbClr val="F2C078"/>
                </a:solidFill>
                <a:latin typeface="Courier New" pitchFamily="49" charset="0"/>
              </a:rPr>
              <a:t>academico</a:t>
            </a:r>
            <a:r>
              <a:rPr sz="1350" b="0" i="0" dirty="0">
                <a:solidFill>
                  <a:srgbClr val="F2C078"/>
                </a:solidFill>
                <a:latin typeface="Courier New" pitchFamily="49" charset="0"/>
              </a:rPr>
              <a:t>/aluno_form.html"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,</a:t>
            </a:r>
          </a:p>
          <a:p>
            <a:pPr algn="l"/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                  {</a:t>
            </a:r>
            <a:r>
              <a:rPr sz="1350" b="0" i="0" dirty="0">
                <a:solidFill>
                  <a:srgbClr val="F2C078"/>
                </a:solidFill>
                <a:latin typeface="Courier New" pitchFamily="49" charset="0"/>
              </a:rPr>
              <a:t>"form"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: form, </a:t>
            </a:r>
            <a:r>
              <a:rPr sz="1350" b="0" i="0" dirty="0">
                <a:solidFill>
                  <a:srgbClr val="F2C078"/>
                </a:solidFill>
                <a:latin typeface="Courier New" pitchFamily="49" charset="0"/>
              </a:rPr>
              <a:t>"</a:t>
            </a:r>
            <a:r>
              <a:rPr sz="1350" b="0" i="0" dirty="0" err="1">
                <a:solidFill>
                  <a:srgbClr val="F2C078"/>
                </a:solidFill>
                <a:latin typeface="Courier New" pitchFamily="49" charset="0"/>
              </a:rPr>
              <a:t>titulo</a:t>
            </a:r>
            <a:r>
              <a:rPr sz="1350" b="0" i="0" dirty="0">
                <a:solidFill>
                  <a:srgbClr val="F2C078"/>
                </a:solidFill>
                <a:latin typeface="Courier New" pitchFamily="49" charset="0"/>
              </a:rPr>
              <a:t>"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: </a:t>
            </a:r>
            <a:r>
              <a:rPr sz="1350" b="0" i="0" dirty="0">
                <a:solidFill>
                  <a:srgbClr val="F2C078"/>
                </a:solidFill>
                <a:latin typeface="Courier New" pitchFamily="49" charset="0"/>
              </a:rPr>
              <a:t>"Novo </a:t>
            </a:r>
            <a:r>
              <a:rPr sz="1350" b="0" i="0" dirty="0" err="1">
                <a:solidFill>
                  <a:srgbClr val="F2C078"/>
                </a:solidFill>
                <a:latin typeface="Courier New" pitchFamily="49" charset="0"/>
              </a:rPr>
              <a:t>aluno</a:t>
            </a:r>
            <a:r>
              <a:rPr sz="1350" b="0" i="0" dirty="0">
                <a:solidFill>
                  <a:srgbClr val="F2C078"/>
                </a:solidFill>
                <a:latin typeface="Courier New" pitchFamily="49" charset="0"/>
              </a:rPr>
              <a:t>"</a:t>
            </a:r>
            <a:r>
              <a:rPr sz="1350" b="0" i="0" dirty="0">
                <a:solidFill>
                  <a:srgbClr val="E6EDF3"/>
                </a:solidFill>
                <a:latin typeface="Courier New" pitchFamily="49" charset="0"/>
              </a:rPr>
              <a:t>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783080"/>
            <a:ext cx="3483864" cy="201168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965960"/>
            <a:ext cx="315468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700" b="1" i="0">
                <a:solidFill>
                  <a:srgbClr val="00397B"/>
                </a:solidFill>
              </a:rPr>
              <a:t>POST, Redirect, 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441448"/>
            <a:ext cx="3154680" cy="12801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Depois de salvar, redirecione. Sem isso, o F5 reenvia o POST e cadastra duas vezes.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3977639"/>
            <a:ext cx="3483864" cy="201168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4160520"/>
            <a:ext cx="3154680" cy="4114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700" b="1" i="0">
                <a:solidFill>
                  <a:srgbClr val="00397B"/>
                </a:solidFill>
              </a:rPr>
              <a:t>Editar = criar + instance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636007"/>
            <a:ext cx="3154680" cy="12801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AlunoForm(request.POST, instance=aluno)</a:t>
            </a:r>
            <a:r>
              <a:rPr sz="1400" b="0" i="0">
                <a:solidFill>
                  <a:srgbClr val="3A3A3A"/>
                </a:solidFill>
              </a:rPr>
              <a:t> faz o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save()</a:t>
            </a:r>
            <a:r>
              <a:rPr sz="1400" b="0" i="0">
                <a:solidFill>
                  <a:srgbClr val="3A3A3A"/>
                </a:solidFill>
              </a:rPr>
              <a:t> virar UPDATE ... WHERE id.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Forms: desenhar, validar e converter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783080"/>
            <a:ext cx="6035040" cy="420624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97864" y="19385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99032" y="19385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00200" y="19385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83664" y="1874519"/>
            <a:ext cx="4983479" cy="27432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100" b="0" i="0">
                <a:solidFill>
                  <a:srgbClr val="9AA5B1"/>
                </a:solidFill>
                <a:latin typeface="Courier New" pitchFamily="49" charset="0"/>
              </a:rPr>
              <a:t>academico/forms.py · TODO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240280"/>
            <a:ext cx="5669279" cy="3657599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450" b="0" i="0" dirty="0">
                <a:solidFill>
                  <a:srgbClr val="7FD3F0"/>
                </a:solidFill>
                <a:latin typeface="Courier New" pitchFamily="49" charset="0"/>
              </a:rPr>
              <a:t>class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</a:t>
            </a:r>
            <a:r>
              <a:rPr sz="1450" b="0" i="0" dirty="0" err="1">
                <a:solidFill>
                  <a:srgbClr val="FF0000"/>
                </a:solidFill>
                <a:latin typeface="Courier New" pitchFamily="49" charset="0"/>
              </a:rPr>
              <a:t>AlunoForm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(</a:t>
            </a:r>
            <a:r>
              <a:rPr sz="1450" b="0" i="0" dirty="0" err="1">
                <a:solidFill>
                  <a:srgbClr val="E6EDF3"/>
                </a:solidFill>
                <a:latin typeface="Courier New" pitchFamily="49" charset="0"/>
              </a:rPr>
              <a:t>BootstrapMixin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, </a:t>
            </a:r>
            <a:r>
              <a:rPr sz="1450" b="0" i="0" dirty="0" err="1">
                <a:solidFill>
                  <a:srgbClr val="E6EDF3"/>
                </a:solidFill>
                <a:latin typeface="Courier New" pitchFamily="49" charset="0"/>
              </a:rPr>
              <a:t>forms.ModelForm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):</a:t>
            </a:r>
          </a:p>
          <a:p>
            <a:pPr algn="l"/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450" b="0" i="0" dirty="0">
                <a:solidFill>
                  <a:srgbClr val="7FD3F0"/>
                </a:solidFill>
                <a:latin typeface="Courier New" pitchFamily="49" charset="0"/>
              </a:rPr>
              <a:t>class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Meta:</a:t>
            </a:r>
          </a:p>
          <a:p>
            <a:pPr algn="l"/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       model = </a:t>
            </a:r>
            <a:r>
              <a:rPr sz="1450" b="0" i="0" dirty="0" err="1">
                <a:solidFill>
                  <a:srgbClr val="E6EDF3"/>
                </a:solidFill>
                <a:latin typeface="Courier New" pitchFamily="49" charset="0"/>
              </a:rPr>
              <a:t>Aluno</a:t>
            </a:r>
            <a:endParaRPr sz="1450" b="0" i="0" dirty="0">
              <a:solidFill>
                <a:srgbClr val="E6EDF3"/>
              </a:solidFill>
              <a:latin typeface="Courier New" pitchFamily="49" charset="0"/>
            </a:endParaRPr>
          </a:p>
          <a:p>
            <a:pPr algn="l"/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       fields = [</a:t>
            </a:r>
            <a:r>
              <a:rPr sz="1450" b="0" i="0" dirty="0">
                <a:solidFill>
                  <a:srgbClr val="F2C078"/>
                </a:solidFill>
                <a:latin typeface="Courier New" pitchFamily="49" charset="0"/>
              </a:rPr>
              <a:t>"matricula"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, </a:t>
            </a:r>
            <a:r>
              <a:rPr sz="1450" b="0" i="0" dirty="0">
                <a:solidFill>
                  <a:srgbClr val="F2C078"/>
                </a:solidFill>
                <a:latin typeface="Courier New" pitchFamily="49" charset="0"/>
              </a:rPr>
              <a:t>"</a:t>
            </a:r>
            <a:r>
              <a:rPr sz="1450" b="0" i="0" dirty="0" err="1">
                <a:solidFill>
                  <a:srgbClr val="F2C078"/>
                </a:solidFill>
                <a:latin typeface="Courier New" pitchFamily="49" charset="0"/>
              </a:rPr>
              <a:t>nome</a:t>
            </a:r>
            <a:r>
              <a:rPr sz="1450" b="0" i="0" dirty="0">
                <a:solidFill>
                  <a:srgbClr val="F2C078"/>
                </a:solidFill>
                <a:latin typeface="Courier New" pitchFamily="49" charset="0"/>
              </a:rPr>
              <a:t>"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, </a:t>
            </a:r>
            <a:r>
              <a:rPr sz="1450" b="0" i="0" dirty="0">
                <a:solidFill>
                  <a:srgbClr val="F2C078"/>
                </a:solidFill>
                <a:latin typeface="Courier New" pitchFamily="49" charset="0"/>
              </a:rPr>
              <a:t>"email"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,</a:t>
            </a:r>
          </a:p>
          <a:p>
            <a:pPr algn="l"/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                 </a:t>
            </a:r>
            <a:r>
              <a:rPr sz="1450" b="0" i="0" dirty="0">
                <a:solidFill>
                  <a:srgbClr val="F2C078"/>
                </a:solidFill>
                <a:latin typeface="Courier New" pitchFamily="49" charset="0"/>
              </a:rPr>
              <a:t>"</a:t>
            </a:r>
            <a:r>
              <a:rPr sz="1450" b="0" i="0" dirty="0" err="1">
                <a:solidFill>
                  <a:srgbClr val="F2C078"/>
                </a:solidFill>
                <a:latin typeface="Courier New" pitchFamily="49" charset="0"/>
              </a:rPr>
              <a:t>data_nascimento</a:t>
            </a:r>
            <a:r>
              <a:rPr sz="1450" b="0" i="0" dirty="0">
                <a:solidFill>
                  <a:srgbClr val="F2C078"/>
                </a:solidFill>
                <a:latin typeface="Courier New" pitchFamily="49" charset="0"/>
              </a:rPr>
              <a:t>"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, </a:t>
            </a:r>
            <a:r>
              <a:rPr sz="1450" b="0" i="0" dirty="0">
                <a:solidFill>
                  <a:srgbClr val="F2C078"/>
                </a:solidFill>
                <a:latin typeface="Courier New" pitchFamily="49" charset="0"/>
              </a:rPr>
              <a:t>"</a:t>
            </a:r>
            <a:r>
              <a:rPr sz="1450" b="0" i="0" dirty="0" err="1">
                <a:solidFill>
                  <a:srgbClr val="F2C078"/>
                </a:solidFill>
                <a:latin typeface="Courier New" pitchFamily="49" charset="0"/>
              </a:rPr>
              <a:t>ativo</a:t>
            </a:r>
            <a:r>
              <a:rPr sz="1450" b="0" i="0" dirty="0">
                <a:solidFill>
                  <a:srgbClr val="F2C078"/>
                </a:solidFill>
                <a:latin typeface="Courier New" pitchFamily="49" charset="0"/>
              </a:rPr>
              <a:t>"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]</a:t>
            </a:r>
          </a:p>
          <a:p>
            <a:pPr algn="l"/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   </a:t>
            </a:r>
            <a:r>
              <a:rPr sz="1450" b="0" i="0" dirty="0">
                <a:solidFill>
                  <a:srgbClr val="7FD3F0"/>
                </a:solidFill>
                <a:latin typeface="Courier New" pitchFamily="49" charset="0"/>
              </a:rPr>
              <a:t>def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</a:t>
            </a:r>
            <a:r>
              <a:rPr sz="1450" b="0" i="0" dirty="0" err="1">
                <a:solidFill>
                  <a:srgbClr val="E6EDF3"/>
                </a:solidFill>
                <a:latin typeface="Courier New" pitchFamily="49" charset="0"/>
              </a:rPr>
              <a:t>clean_matricula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(self):</a:t>
            </a:r>
          </a:p>
          <a:p>
            <a:pPr algn="l"/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       matricula = </a:t>
            </a:r>
            <a:r>
              <a:rPr sz="1450" b="0" i="0" dirty="0" err="1">
                <a:solidFill>
                  <a:srgbClr val="E6EDF3"/>
                </a:solidFill>
                <a:latin typeface="Courier New" pitchFamily="49" charset="0"/>
              </a:rPr>
              <a:t>self.cleaned_data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[</a:t>
            </a:r>
            <a:r>
              <a:rPr sz="1450" b="0" i="0" dirty="0">
                <a:solidFill>
                  <a:srgbClr val="F2C078"/>
                </a:solidFill>
                <a:latin typeface="Courier New" pitchFamily="49" charset="0"/>
              </a:rPr>
              <a:t>"matricula"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]</a:t>
            </a:r>
          </a:p>
          <a:p>
            <a:pPr algn="l"/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       matricula = </a:t>
            </a:r>
            <a:r>
              <a:rPr sz="1450" b="0" i="0" dirty="0" err="1">
                <a:solidFill>
                  <a:srgbClr val="E6EDF3"/>
                </a:solidFill>
                <a:latin typeface="Courier New" pitchFamily="49" charset="0"/>
              </a:rPr>
              <a:t>matricula.strip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().upper()</a:t>
            </a:r>
          </a:p>
          <a:p>
            <a:pPr algn="l"/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       </a:t>
            </a:r>
            <a:r>
              <a:rPr sz="1450" b="0" i="0" dirty="0">
                <a:solidFill>
                  <a:srgbClr val="7FD3F0"/>
                </a:solidFill>
                <a:latin typeface="Courier New" pitchFamily="49" charset="0"/>
              </a:rPr>
              <a:t>if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</a:t>
            </a:r>
            <a:r>
              <a:rPr sz="1450" b="0" i="0" dirty="0" err="1">
                <a:solidFill>
                  <a:srgbClr val="E6EDF3"/>
                </a:solidFill>
                <a:latin typeface="Courier New" pitchFamily="49" charset="0"/>
              </a:rPr>
              <a:t>len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(matricula) &lt; 4:</a:t>
            </a:r>
          </a:p>
          <a:p>
            <a:pPr algn="l"/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           </a:t>
            </a:r>
            <a:r>
              <a:rPr sz="1450" b="0" i="0" dirty="0">
                <a:solidFill>
                  <a:srgbClr val="7FD3F0"/>
                </a:solidFill>
                <a:latin typeface="Courier New" pitchFamily="49" charset="0"/>
              </a:rPr>
              <a:t>raise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</a:t>
            </a:r>
            <a:r>
              <a:rPr sz="1450" b="0" i="0" dirty="0" err="1">
                <a:solidFill>
                  <a:srgbClr val="E6EDF3"/>
                </a:solidFill>
                <a:latin typeface="Courier New" pitchFamily="49" charset="0"/>
              </a:rPr>
              <a:t>forms.ValidationError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(</a:t>
            </a:r>
          </a:p>
          <a:p>
            <a:pPr algn="l"/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               </a:t>
            </a:r>
            <a:r>
              <a:rPr sz="1450" b="0" i="0" dirty="0">
                <a:solidFill>
                  <a:srgbClr val="F2C078"/>
                </a:solidFill>
                <a:latin typeface="Courier New" pitchFamily="49" charset="0"/>
              </a:rPr>
              <a:t>"Use </a:t>
            </a:r>
            <a:r>
              <a:rPr sz="1450" b="0" i="0" dirty="0" err="1">
                <a:solidFill>
                  <a:srgbClr val="F2C078"/>
                </a:solidFill>
                <a:latin typeface="Courier New" pitchFamily="49" charset="0"/>
              </a:rPr>
              <a:t>ao</a:t>
            </a:r>
            <a:r>
              <a:rPr sz="1450" b="0" i="0" dirty="0">
                <a:solidFill>
                  <a:srgbClr val="F2C078"/>
                </a:solidFill>
                <a:latin typeface="Courier New" pitchFamily="49" charset="0"/>
              </a:rPr>
              <a:t> </a:t>
            </a:r>
            <a:r>
              <a:rPr sz="1450" b="0" i="0" dirty="0" err="1">
                <a:solidFill>
                  <a:srgbClr val="F2C078"/>
                </a:solidFill>
                <a:latin typeface="Courier New" pitchFamily="49" charset="0"/>
              </a:rPr>
              <a:t>menos</a:t>
            </a:r>
            <a:r>
              <a:rPr sz="1450" b="0" i="0" dirty="0">
                <a:solidFill>
                  <a:srgbClr val="F2C078"/>
                </a:solidFill>
                <a:latin typeface="Courier New" pitchFamily="49" charset="0"/>
              </a:rPr>
              <a:t> 4 </a:t>
            </a:r>
            <a:r>
              <a:rPr sz="1450" b="0" i="0" dirty="0" err="1">
                <a:solidFill>
                  <a:srgbClr val="F2C078"/>
                </a:solidFill>
                <a:latin typeface="Courier New" pitchFamily="49" charset="0"/>
              </a:rPr>
              <a:t>caracteres</a:t>
            </a:r>
            <a:r>
              <a:rPr sz="1450" b="0" i="0" dirty="0">
                <a:solidFill>
                  <a:srgbClr val="F2C078"/>
                </a:solidFill>
                <a:latin typeface="Courier New" pitchFamily="49" charset="0"/>
              </a:rPr>
              <a:t>."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)</a:t>
            </a:r>
          </a:p>
          <a:p>
            <a:pPr algn="l"/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       </a:t>
            </a:r>
            <a:r>
              <a:rPr sz="1450" b="0" i="0" dirty="0">
                <a:solidFill>
                  <a:srgbClr val="7FD3F0"/>
                </a:solidFill>
                <a:latin typeface="Courier New" pitchFamily="49" charset="0"/>
              </a:rPr>
              <a:t>return</a:t>
            </a:r>
            <a:r>
              <a:rPr sz="1450" b="0" i="0" dirty="0">
                <a:solidFill>
                  <a:srgbClr val="E6EDF3"/>
                </a:solidFill>
                <a:latin typeface="Courier New" pitchFamily="49" charset="0"/>
              </a:rPr>
              <a:t> matricula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783080"/>
            <a:ext cx="3849624" cy="12801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498079" y="1965960"/>
            <a:ext cx="457200" cy="45720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965960"/>
            <a:ext cx="292608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Desenha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496312"/>
            <a:ext cx="352044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Lê o model e gera cada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&lt;input&gt;</a:t>
            </a:r>
            <a:r>
              <a:rPr sz="1400" b="0" i="0">
                <a:solidFill>
                  <a:srgbClr val="3A3A3A"/>
                </a:solidFill>
              </a:rPr>
              <a:t> com o tipo certo.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246120"/>
            <a:ext cx="3849624" cy="12801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79" y="3429000"/>
            <a:ext cx="457200" cy="45720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429000"/>
            <a:ext cx="292608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Valida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959352"/>
            <a:ext cx="352044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is_valid()</a:t>
            </a:r>
            <a:r>
              <a:rPr sz="1400" b="0" i="0">
                <a:solidFill>
                  <a:srgbClr val="3A3A3A"/>
                </a:solidFill>
              </a:rPr>
              <a:t> roda as regras do model e os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clean_&lt;campo&gt;</a:t>
            </a:r>
            <a:r>
              <a:rPr sz="1400" b="0" i="0">
                <a:solidFill>
                  <a:srgbClr val="3A3A3A"/>
                </a:solidFill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709160"/>
            <a:ext cx="3849624" cy="12801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98079" y="4892040"/>
            <a:ext cx="457200" cy="45720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892040"/>
            <a:ext cx="292608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Converte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5422392"/>
            <a:ext cx="352044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"2024-03-15" vira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date</a:t>
            </a:r>
            <a:r>
              <a:rPr sz="1400" b="0" i="0">
                <a:solidFill>
                  <a:srgbClr val="3A3A3A"/>
                </a:solidFill>
              </a:rPr>
              <a:t>. O resultado fica em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cleaned_data</a:t>
            </a:r>
            <a:r>
              <a:rPr sz="1400" b="0" i="0">
                <a:solidFill>
                  <a:srgbClr val="3A3A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Login e perfis: a proteção está na view</a:t>
            </a:r>
          </a:p>
        </p:txBody>
      </p:sp>
      <p:pic>
        <p:nvPicPr>
          <p:cNvPr id="3" name="Picture 2" descr="usuarios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783080"/>
            <a:ext cx="4937760" cy="1928813"/>
          </a:xfrm>
          <a:prstGeom prst="rect">
            <a:avLst/>
          </a:prstGeom>
          <a:ln w="9525">
            <a:solidFill>
              <a:srgbClr val="C9D3DA"/>
            </a:solidFill>
          </a:ln>
        </p:spPr>
      </p:pic>
      <p:pic>
        <p:nvPicPr>
          <p:cNvPr id="4" name="Picture 3" descr="403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1783080"/>
            <a:ext cx="4937760" cy="1620202"/>
          </a:xfrm>
          <a:prstGeom prst="rect">
            <a:avLst/>
          </a:prstGeom>
          <a:ln w="9525">
            <a:solidFill>
              <a:srgbClr val="C9D3D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014984" y="3767328"/>
            <a:ext cx="49377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1">
                <a:solidFill>
                  <a:srgbClr val="5F6B7A"/>
                </a:solidFill>
              </a:rPr>
              <a:t>admin (coordenação): vê a gestão de usuários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27064" y="3767328"/>
            <a:ext cx="493776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1">
                <a:solidFill>
                  <a:srgbClr val="5F6B7A"/>
                </a:solidFill>
              </a:rPr>
              <a:t>professor: digitou a URL na mão e recebeu 403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" y="4206240"/>
            <a:ext cx="5669280" cy="178308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97864" y="4361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99032" y="4361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00200" y="4361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83664" y="4297679"/>
            <a:ext cx="4617720" cy="27432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100" b="0" i="0">
                <a:solidFill>
                  <a:srgbClr val="9AA5B1"/>
                </a:solidFill>
                <a:latin typeface="Courier New" pitchFamily="49" charset="0"/>
              </a:rPr>
              <a:t>views.py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4663440"/>
            <a:ext cx="5303520" cy="123444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350" b="0" i="0">
                <a:solidFill>
                  <a:srgbClr val="C792EA"/>
                </a:solidFill>
                <a:latin typeface="Courier New" pitchFamily="49" charset="0"/>
              </a:rPr>
              <a:t>@somente_coordenacao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</a:t>
            </a:r>
            <a:r>
              <a:rPr sz="1350" b="0" i="1">
                <a:solidFill>
                  <a:srgbClr val="8B98A5"/>
                </a:solidFill>
                <a:latin typeface="Courier New" pitchFamily="49" charset="0"/>
              </a:rPr>
              <a:t># contas/decorators.py</a:t>
            </a:r>
          </a:p>
          <a:p>
            <a:pPr algn="l"/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def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usuario_lista(request): ...</a:t>
            </a:r>
          </a:p>
          <a:p>
            <a:pPr algn="l"/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sz="1350" b="0" i="0">
                <a:solidFill>
                  <a:srgbClr val="C792EA"/>
                </a:solidFill>
                <a:latin typeface="Courier New" pitchFamily="49" charset="0"/>
              </a:rPr>
              <a:t>@login_required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       </a:t>
            </a:r>
            <a:r>
              <a:rPr sz="1350" b="0" i="1">
                <a:solidFill>
                  <a:srgbClr val="8B98A5"/>
                </a:solidFill>
                <a:latin typeface="Courier New" pitchFamily="49" charset="0"/>
              </a:rPr>
              <a:t># toda view do academico</a:t>
            </a:r>
          </a:p>
          <a:p>
            <a:pPr algn="l"/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def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aluno_lista(request):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4206240"/>
            <a:ext cx="4215384" cy="178308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4297680"/>
            <a:ext cx="3794760" cy="1600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500" b="1" i="0">
                <a:solidFill>
                  <a:srgbClr val="00397B"/>
                </a:solidFill>
              </a:rPr>
              <a:t>Esconder o link é cortesia. </a:t>
            </a:r>
            <a:r>
              <a:rPr sz="1500" b="0" i="0">
                <a:solidFill>
                  <a:srgbClr val="3A3A3A"/>
                </a:solidFill>
              </a:rPr>
              <a:t>A proteção está no decorator: quem digita a URL na mão também é barrado.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Regras que protegem o sistema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783080"/>
            <a:ext cx="4937760" cy="19202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89304" y="205740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hield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2240280"/>
            <a:ext cx="365760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03704" y="2057400"/>
            <a:ext cx="3566160" cy="7315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csrf_token em todo 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" y="2880360"/>
            <a:ext cx="443484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Impede que outro site envie formulários em nome do usuário logado.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783080"/>
            <a:ext cx="4937760" cy="19202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01384" y="205740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rash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240280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15784" y="2057400"/>
            <a:ext cx="3566160" cy="7315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Exclusão só no 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880360"/>
            <a:ext cx="443484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O GET mostra a confirmação. Um link que apaga dados é disparado por robôs.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4984" y="3931920"/>
            <a:ext cx="4937760" cy="19202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289304" y="42062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key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2184" y="4389120"/>
            <a:ext cx="365760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203704" y="4206240"/>
            <a:ext cx="3566160" cy="7315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Nada de SQL com f‑string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9304" y="5029200"/>
            <a:ext cx="443484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O ORM parametriza, como o ? da Entrega 1. Usar .raw() com f‑string zera o item 4.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3931920"/>
            <a:ext cx="4937760" cy="19202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01384" y="42062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database-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438912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15784" y="4206240"/>
            <a:ext cx="3566160" cy="73152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800" b="1" i="0">
                <a:solidFill>
                  <a:srgbClr val="00397B"/>
                </a:solidFill>
              </a:rPr>
              <a:t>on_delete=PROTECT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5029200"/>
            <a:ext cx="4434840" cy="7772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O banco recusa apagar um aluno que tem notas. O histórico não some num clique.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 que o framework assume por vocês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1783080"/>
            <a:ext cx="4480560" cy="11887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7200" b="1" i="0">
                <a:solidFill>
                  <a:srgbClr val="1185AA"/>
                </a:solidFill>
              </a:rPr>
              <a:t>5 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984" y="3017520"/>
            <a:ext cx="4480560" cy="9144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700" b="1" i="0">
                <a:solidFill>
                  <a:srgbClr val="00397B"/>
                </a:solidFill>
              </a:rPr>
              <a:t>requisitos não negociáveis da Entrega 1 viraram responsabilidade do Django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" y="4069080"/>
            <a:ext cx="4480560" cy="18288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5F6B7A"/>
                </a:solidFill>
              </a:rPr>
              <a:t>Exemplos:</a:t>
            </a:r>
          </a:p>
          <a:p>
            <a:pPr marL="256032" indent="-256032" algn="l">
              <a:spcAft>
                <a:spcPts val="300"/>
              </a:spcAft>
              <a:buClr>
                <a:srgbClr val="1185AA"/>
              </a:buClr>
              <a:buFont typeface="Arial"/>
              <a:buChar char="•"/>
            </a:pPr>
            <a:r>
              <a:rPr sz="1350" b="0" i="0">
                <a:solidFill>
                  <a:srgbClr val="00397B"/>
                </a:solidFill>
                <a:latin typeface="Courier New" pitchFamily="49" charset="0"/>
              </a:rPr>
              <a:t>commit()</a:t>
            </a:r>
            <a:r>
              <a:rPr sz="1500" b="0" i="0">
                <a:solidFill>
                  <a:srgbClr val="3A3A3A"/>
                </a:solidFill>
              </a:rPr>
              <a:t> automático, por transação</a:t>
            </a:r>
          </a:p>
          <a:p>
            <a:pPr marL="256032" indent="-256032" algn="l">
              <a:spcAft>
                <a:spcPts val="300"/>
              </a:spcAft>
              <a:buClr>
                <a:srgbClr val="1185AA"/>
              </a:buClr>
              <a:buFont typeface="Arial"/>
              <a:buChar char="•"/>
            </a:pPr>
            <a:r>
              <a:rPr sz="1350" b="0" i="0">
                <a:solidFill>
                  <a:srgbClr val="00397B"/>
                </a:solidFill>
                <a:latin typeface="Courier New" pitchFamily="49" charset="0"/>
              </a:rPr>
              <a:t>PRAGMA foreign_keys</a:t>
            </a:r>
            <a:r>
              <a:rPr sz="1500" b="0" i="0">
                <a:solidFill>
                  <a:srgbClr val="3A3A3A"/>
                </a:solidFill>
              </a:rPr>
              <a:t> sempre ligado</a:t>
            </a:r>
          </a:p>
          <a:p>
            <a:pPr marL="256032" indent="-256032" algn="l">
              <a:spcAft>
                <a:spcPts val="300"/>
              </a:spcAft>
              <a:buClr>
                <a:srgbClr val="1185AA"/>
              </a:buClr>
              <a:buFont typeface="Arial"/>
              <a:buChar char="•"/>
            </a:pPr>
            <a:r>
              <a:rPr sz="1500" b="0" i="0">
                <a:solidFill>
                  <a:srgbClr val="3A3A3A"/>
                </a:solidFill>
              </a:rPr>
              <a:t>UPDATE sempre com WHERE</a:t>
            </a:r>
          </a:p>
          <a:p>
            <a:pPr marL="256032" indent="-256032" algn="l">
              <a:spcAft>
                <a:spcPts val="300"/>
              </a:spcAft>
              <a:buClr>
                <a:srgbClr val="1185AA"/>
              </a:buClr>
              <a:buFont typeface="Arial"/>
              <a:buChar char="•"/>
            </a:pPr>
            <a:r>
              <a:rPr sz="1500" b="0" i="0">
                <a:solidFill>
                  <a:srgbClr val="3A3A3A"/>
                </a:solidFill>
              </a:rPr>
              <a:t>valores sempre parametrizados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783080"/>
            <a:ext cx="5221224" cy="420624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965960"/>
            <a:ext cx="466344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900" b="1" i="0">
                <a:solidFill>
                  <a:srgbClr val="00397B"/>
                </a:solidFill>
              </a:rPr>
              <a:t>Os 2 que continuam com vocês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2697480"/>
            <a:ext cx="457200" cy="45720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697480"/>
            <a:ext cx="411480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700" b="1" i="0">
                <a:solidFill>
                  <a:srgbClr val="1185AA"/>
                </a:solidFill>
              </a:rPr>
              <a:t>Separação de responsabilidades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200400"/>
            <a:ext cx="4114800" cy="10058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A view não monta HTML, o template não consulta o banco e a regra de negócio mora no model.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4297680"/>
            <a:ext cx="457200" cy="45720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297680"/>
            <a:ext cx="411480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700" b="1" i="0">
                <a:solidFill>
                  <a:srgbClr val="1185AA"/>
                </a:solidFill>
              </a:rPr>
              <a:t>Nunca montar SQL na mão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4800600"/>
            <a:ext cx="4114800" cy="10058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O framework não protege quem contorna o framework.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 projeto base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O que vem pronto e o que vocês implementam</a:t>
            </a:r>
          </a:p>
        </p:txBody>
      </p:sp>
      <p:pic>
        <p:nvPicPr>
          <p:cNvPr id="4" name="Picture 3" descr="todo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377440"/>
            <a:ext cx="4754880" cy="2627697"/>
          </a:xfrm>
          <a:prstGeom prst="rect">
            <a:avLst/>
          </a:prstGeom>
          <a:ln w="9525">
            <a:solidFill>
              <a:srgbClr val="C9D3D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014984" y="5074920"/>
            <a:ext cx="4754880" cy="731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1">
                <a:solidFill>
                  <a:srgbClr val="5F6B7A"/>
                </a:solidFill>
              </a:rPr>
              <a:t>Cada tela pendente diz onde implementar e onde está o exemplo pronto.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0" y="2377440"/>
          <a:ext cx="5038344" cy="2752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TODO</a:t>
                      </a:r>
                    </a:p>
                  </a:txBody>
                  <a:tcPr marL="128016" marR="128016" marT="36576" marB="36576" anchor="ctr"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O quê</a:t>
                      </a:r>
                    </a:p>
                  </a:txBody>
                  <a:tcPr marL="128016" marR="128016" marT="36576" marB="36576" anchor="ctr"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Arquivo</a:t>
                      </a:r>
                    </a:p>
                  </a:txBody>
                  <a:tcPr marL="128016" marR="128016" marT="36576" marB="36576" anchor="ctr">
                    <a:solidFill>
                      <a:srgbClr val="003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A3A3A"/>
                          </a:solidFill>
                        </a:rPr>
                        <a:t>1 a 3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A3A3A"/>
                          </a:solidFill>
                        </a:rPr>
                        <a:t>Aluno, Disciplina, Inscricao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models.py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A3A3A"/>
                          </a:solidFill>
                        </a:rPr>
                        <a:t>4 a 6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A3A3A"/>
                          </a:solidFill>
                        </a:rPr>
                        <a:t>Os três ModelForm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forms.py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A3A3A"/>
                          </a:solidFill>
                        </a:rPr>
                        <a:t>7 a 9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A3A3A"/>
                          </a:solidFill>
                        </a:rPr>
                        <a:t>CRUD de aluno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views.py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A3A3A"/>
                          </a:solidFill>
                        </a:rPr>
                        <a:t>10 e 11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A3A3A"/>
                          </a:solidFill>
                        </a:rPr>
                        <a:t>CRUD de disciplina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views.py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A3A3A"/>
                          </a:solidFill>
                        </a:rPr>
                        <a:t>12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A3A3A"/>
                          </a:solidFill>
                        </a:rPr>
                        <a:t>Inscrições e notas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views.py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A3A3A"/>
                          </a:solidFill>
                        </a:rPr>
                        <a:t>13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3A3A3A"/>
                          </a:solidFill>
                        </a:rPr>
                        <a:t>Admin (bônus)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admin.py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0" y="5257800"/>
            <a:ext cx="5038344" cy="6400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250" b="1" i="0">
                <a:solidFill>
                  <a:srgbClr val="00397B"/>
                </a:solidFill>
                <a:latin typeface="Courier New" pitchFamily="49" charset="0"/>
              </a:rPr>
              <a:t>python verificar.py</a:t>
            </a:r>
            <a:r>
              <a:rPr sz="1400" b="0" i="0">
                <a:solidFill>
                  <a:srgbClr val="3A3A3A"/>
                </a:solidFill>
              </a:rPr>
              <a:t> mostra o placar: cada falha diz qual TODO fazer.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Para levar desta aula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783080"/>
            <a:ext cx="10149840" cy="91440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16152" y="1965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eck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2103120"/>
            <a:ext cx="274320" cy="274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75104" y="1828800"/>
            <a:ext cx="8961119" cy="8229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700" b="0" i="0">
                <a:solidFill>
                  <a:srgbClr val="3A3A3A"/>
                </a:solidFill>
              </a:rPr>
              <a:t>Django é RAD na prática: ORM, migrations, admin, login e forms já vêm prontos.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" y="2862072"/>
            <a:ext cx="10149840" cy="91440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16152" y="304495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heck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3182112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75104" y="2907791"/>
            <a:ext cx="8961119" cy="8229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700" b="0" i="0">
                <a:solidFill>
                  <a:srgbClr val="3A3A3A"/>
                </a:solidFill>
              </a:rPr>
              <a:t>Toda requisição percorre o mesmo caminho: URL, view, model e template.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" y="3941063"/>
            <a:ext cx="10149840" cy="91440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216152" y="41239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heck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4261104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75104" y="3986783"/>
            <a:ext cx="8961119" cy="8229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700" b="0" i="0">
                <a:solidFill>
                  <a:srgbClr val="3A3A3A"/>
                </a:solidFill>
              </a:rPr>
              <a:t>O app contas é o gabarito. Abram contas/ e academico/ lado a lado.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" y="5020056"/>
            <a:ext cx="10149840" cy="91440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16152" y="520293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heck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5340096"/>
            <a:ext cx="274320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975104" y="5065776"/>
            <a:ext cx="8961119" cy="8229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700" b="0" i="0">
                <a:solidFill>
                  <a:srgbClr val="3A3A3A"/>
                </a:solidFill>
              </a:rPr>
              <a:t>O framework assume o trabalho mecânico. Separar responsabilidades e não montar SQL continua com vocês.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capa_pratica.pn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21" b="121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Prática com o projeto base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Prática 1: colocar o projeto de pé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713232"/>
            <a:ext cx="1472184" cy="347472"/>
          </a:xfrm>
          <a:prstGeom prst="roundRect">
            <a:avLst>
              <a:gd name="adj" fmla="val 50000"/>
            </a:avLst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≈ 15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" y="1783080"/>
            <a:ext cx="5760720" cy="420624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97864" y="19385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99032" y="19385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00200" y="19385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83664" y="1874519"/>
            <a:ext cx="4709160" cy="27432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100" b="0" i="0">
                <a:solidFill>
                  <a:srgbClr val="9AA5B1"/>
                </a:solidFill>
                <a:latin typeface="Courier New" pitchFamily="49" charset="0"/>
              </a:rPr>
              <a:t>PowerShell, na pasta do projeto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2240280"/>
            <a:ext cx="5394959" cy="3657599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600" b="0" i="1">
                <a:solidFill>
                  <a:srgbClr val="8B98A5"/>
                </a:solidFill>
                <a:latin typeface="Courier New" pitchFamily="49" charset="0"/>
              </a:rPr>
              <a:t># 1. ambiente virtual (uma vez por projeto)</a:t>
            </a:r>
          </a:p>
          <a:p>
            <a:pPr algn="l"/>
            <a:r>
              <a:rPr sz="160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-m venv .venv</a:t>
            </a:r>
          </a:p>
          <a:p>
            <a:pPr algn="l"/>
            <a:r>
              <a:rPr sz="1600" b="0" i="0">
                <a:solidFill>
                  <a:srgbClr val="7FD3F0"/>
                </a:solidFill>
                <a:latin typeface="Courier New" pitchFamily="49" charset="0"/>
              </a:rPr>
              <a:t>.venv\Scripts\Activate.ps1</a:t>
            </a:r>
          </a:p>
          <a:p>
            <a:pPr algn="l"/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sz="1600" b="0" i="1">
                <a:solidFill>
                  <a:srgbClr val="8B98A5"/>
                </a:solidFill>
                <a:latin typeface="Courier New" pitchFamily="49" charset="0"/>
              </a:rPr>
              <a:t># 2. dependências</a:t>
            </a:r>
          </a:p>
          <a:p>
            <a:pPr algn="l"/>
            <a:r>
              <a:rPr sz="1600" b="0" i="0">
                <a:solidFill>
                  <a:srgbClr val="7FD3F0"/>
                </a:solidFill>
                <a:latin typeface="Courier New" pitchFamily="49" charset="0"/>
              </a:rPr>
              <a:t>pip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install -r requirements.txt</a:t>
            </a:r>
          </a:p>
          <a:p>
            <a:pPr algn="l"/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sz="1600" b="0" i="1">
                <a:solidFill>
                  <a:srgbClr val="8B98A5"/>
                </a:solidFill>
                <a:latin typeface="Courier New" pitchFamily="49" charset="0"/>
              </a:rPr>
              <a:t># 3. banco e dados de exemplo</a:t>
            </a:r>
          </a:p>
          <a:p>
            <a:pPr algn="l"/>
            <a:r>
              <a:rPr sz="160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manage.py migrate</a:t>
            </a:r>
          </a:p>
          <a:p>
            <a:pPr algn="l"/>
            <a:r>
              <a:rPr sz="160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manage.py seed_demo</a:t>
            </a:r>
          </a:p>
          <a:p>
            <a:pPr algn="l"/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</a:t>
            </a:r>
          </a:p>
          <a:p>
            <a:pPr algn="l"/>
            <a:r>
              <a:rPr sz="1600" b="0" i="1">
                <a:solidFill>
                  <a:srgbClr val="8B98A5"/>
                </a:solidFill>
                <a:latin typeface="Courier New" pitchFamily="49" charset="0"/>
              </a:rPr>
              <a:t># 4. servidor</a:t>
            </a:r>
          </a:p>
          <a:p>
            <a:pPr algn="l"/>
            <a:r>
              <a:rPr sz="160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600" b="0" i="0">
                <a:solidFill>
                  <a:srgbClr val="E6EDF3"/>
                </a:solidFill>
                <a:latin typeface="Courier New" pitchFamily="49" charset="0"/>
              </a:rPr>
              <a:t> manage.py runserver</a:t>
            </a:r>
          </a:p>
        </p:txBody>
      </p:sp>
      <p:pic>
        <p:nvPicPr>
          <p:cNvPr id="10" name="Picture 9" descr="login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256" y="1783080"/>
            <a:ext cx="2676698" cy="2240280"/>
          </a:xfrm>
          <a:prstGeom prst="rect">
            <a:avLst/>
          </a:prstGeom>
          <a:ln w="9525">
            <a:solidFill>
              <a:srgbClr val="C9D3DA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7040880" y="4206240"/>
            <a:ext cx="4123944" cy="178308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0" y="4297680"/>
            <a:ext cx="3749039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1" i="0">
                <a:solidFill>
                  <a:srgbClr val="00397B"/>
                </a:solidFill>
              </a:rPr>
              <a:t>Pronto quando: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4663440"/>
            <a:ext cx="3749039" cy="12801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marL="256032" indent="-256032" algn="l">
              <a:spcAft>
                <a:spcPts val="200"/>
              </a:spcAft>
              <a:buClr>
                <a:srgbClr val="1185AA"/>
              </a:buClr>
              <a:buFont typeface="Arial"/>
              <a:buChar char="•"/>
            </a:pPr>
            <a:r>
              <a:rPr sz="1400" b="0" i="0">
                <a:solidFill>
                  <a:srgbClr val="3A3A3A"/>
                </a:solidFill>
              </a:rPr>
              <a:t>o prompt começa com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(.venv)</a:t>
            </a:r>
          </a:p>
          <a:p>
            <a:pPr marL="256032" indent="-256032" algn="l">
              <a:spcAft>
                <a:spcPts val="200"/>
              </a:spcAft>
              <a:buClr>
                <a:srgbClr val="1185AA"/>
              </a:buClr>
              <a:buFont typeface="Arial"/>
              <a:buChar char="•"/>
            </a:pP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127.0.0.1:8000</a:t>
            </a:r>
            <a:r>
              <a:rPr sz="1400" b="0" i="0">
                <a:solidFill>
                  <a:srgbClr val="3A3A3A"/>
                </a:solidFill>
              </a:rPr>
              <a:t> abre o login</a:t>
            </a:r>
          </a:p>
          <a:p>
            <a:pPr marL="256032" indent="-256032" algn="l">
              <a:spcAft>
                <a:spcPts val="200"/>
              </a:spcAft>
              <a:buClr>
                <a:srgbClr val="1185AA"/>
              </a:buClr>
              <a:buFont typeface="Arial"/>
              <a:buChar char="•"/>
            </a:pP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admin</a:t>
            </a:r>
            <a:r>
              <a:rPr sz="1400" b="0" i="0">
                <a:solidFill>
                  <a:srgbClr val="3A3A3A"/>
                </a:solidFill>
              </a:rPr>
              <a:t> /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escola2024</a:t>
            </a:r>
            <a:r>
              <a:rPr sz="1400" b="0" i="0">
                <a:solidFill>
                  <a:srgbClr val="3A3A3A"/>
                </a:solidFill>
              </a:rPr>
              <a:t> entra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Prática 2: explorar o sistema e o código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92640" y="713232"/>
            <a:ext cx="1472184" cy="347472"/>
          </a:xfrm>
          <a:prstGeom prst="roundRect">
            <a:avLst>
              <a:gd name="adj" fmla="val 50000"/>
            </a:avLst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≈ 15 min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" y="1783080"/>
            <a:ext cx="6035040" cy="932688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97864" y="2002536"/>
            <a:ext cx="475488" cy="475488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3664" y="1837943"/>
            <a:ext cx="5029200" cy="8229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Entrem como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admin</a:t>
            </a:r>
            <a:r>
              <a:rPr sz="1400" b="0" i="0">
                <a:solidFill>
                  <a:srgbClr val="3A3A3A"/>
                </a:solidFill>
              </a:rPr>
              <a:t> e depois como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professor</a:t>
            </a:r>
            <a:r>
              <a:rPr sz="1400" b="0" i="0">
                <a:solidFill>
                  <a:srgbClr val="3A3A3A"/>
                </a:solidFill>
              </a:rPr>
              <a:t>. Com o professor, digitem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/contas/usuarios/</a:t>
            </a:r>
            <a:r>
              <a:rPr sz="1400" b="0" i="0">
                <a:solidFill>
                  <a:srgbClr val="3A3A3A"/>
                </a:solidFill>
              </a:rPr>
              <a:t> na mão.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" y="2862072"/>
            <a:ext cx="6035040" cy="932688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97864" y="3081528"/>
            <a:ext cx="475488" cy="475488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2916936"/>
            <a:ext cx="5029200" cy="8229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Sigam o fio: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contas/urls.py</a:t>
            </a:r>
            <a:r>
              <a:rPr sz="1400" b="0" i="0">
                <a:solidFill>
                  <a:srgbClr val="3A3A3A"/>
                </a:solidFill>
              </a:rPr>
              <a:t>, depois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usuario_lista</a:t>
            </a:r>
            <a:r>
              <a:rPr sz="1400" b="0" i="0">
                <a:solidFill>
                  <a:srgbClr val="3A3A3A"/>
                </a:solidFill>
              </a:rPr>
              <a:t> em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contas/views.py</a:t>
            </a:r>
            <a:r>
              <a:rPr sz="1400" b="0" i="0">
                <a:solidFill>
                  <a:srgbClr val="3A3A3A"/>
                </a:solidFill>
              </a:rPr>
              <a:t>, depois o template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usuario_lista.html</a:t>
            </a:r>
            <a:r>
              <a:rPr sz="1400" b="0" i="0">
                <a:solidFill>
                  <a:srgbClr val="3A3A3A"/>
                </a:solidFill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4984" y="3941063"/>
            <a:ext cx="6035040" cy="932688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97864" y="4160520"/>
            <a:ext cx="475488" cy="475488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664" y="3995927"/>
            <a:ext cx="5029200" cy="8229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Abram o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escola.sqlite3</a:t>
            </a:r>
            <a:r>
              <a:rPr sz="1400" b="0" i="0">
                <a:solidFill>
                  <a:srgbClr val="3A3A3A"/>
                </a:solidFill>
              </a:rPr>
              <a:t> no DB Browser e encontrem a tabela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usuario</a:t>
            </a:r>
            <a:r>
              <a:rPr sz="1400" b="0" i="0">
                <a:solidFill>
                  <a:srgbClr val="3A3A3A"/>
                </a:solidFill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4984" y="5020056"/>
            <a:ext cx="6035040" cy="932688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97864" y="5239512"/>
            <a:ext cx="475488" cy="475488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83664" y="5074920"/>
            <a:ext cx="5029200" cy="82296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Rodem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python verificar.py</a:t>
            </a:r>
            <a:r>
              <a:rPr sz="1400" b="0" i="0">
                <a:solidFill>
                  <a:srgbClr val="3A3A3A"/>
                </a:solidFill>
              </a:rPr>
              <a:t>. As falhas são o mapa dos TODOs.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057400"/>
            <a:ext cx="3758184" cy="3931920"/>
          </a:xfrm>
          <a:prstGeom prst="rect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680960" y="178308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question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920240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80960" y="2468880"/>
            <a:ext cx="324612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Para discutir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880360"/>
            <a:ext cx="3246120" cy="301752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Por que o professor recebe 403, e não é mandado de volta para a tela de login?</a:t>
            </a:r>
          </a:p>
          <a:p>
            <a:pPr algn="l">
              <a:spcBef>
                <a:spcPts val="1800"/>
              </a:spcBef>
            </a:pPr>
            <a:r>
              <a:rPr sz="1500" b="0" i="1">
                <a:solidFill>
                  <a:srgbClr val="FFFFFF"/>
                </a:solidFill>
              </a:rPr>
              <a:t>Dica: leia o comentário do decorator em </a:t>
            </a:r>
            <a:r>
              <a:rPr sz="1350" b="0" i="1">
                <a:solidFill>
                  <a:srgbClr val="FFFFFF"/>
                </a:solidFill>
                <a:latin typeface="Courier New" pitchFamily="49" charset="0"/>
              </a:rPr>
              <a:t>contas/decorators.py</a:t>
            </a:r>
            <a:r>
              <a:rPr sz="1500" b="0" i="1">
                <a:solidFill>
                  <a:srgbClr val="FFFFF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Prática 3: TODOs 1 a 3 em grupo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52560" y="713232"/>
            <a:ext cx="2112264" cy="347472"/>
          </a:xfrm>
          <a:prstGeom prst="roundRect">
            <a:avLst>
              <a:gd name="adj" fmla="val 50000"/>
            </a:avLst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até o fim da aula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" y="1783080"/>
            <a:ext cx="5120640" cy="1261872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97864" y="1965960"/>
            <a:ext cx="457200" cy="45720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37944" y="1938528"/>
            <a:ext cx="411480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600" b="1" i="0">
                <a:solidFill>
                  <a:srgbClr val="00397B"/>
                </a:solidFill>
              </a:rPr>
              <a:t>Modelem os três juntos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7944" y="2395728"/>
            <a:ext cx="4114800" cy="62179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150" b="0" i="0">
                <a:solidFill>
                  <a:srgbClr val="00397B"/>
                </a:solidFill>
                <a:latin typeface="Courier New" pitchFamily="49" charset="0"/>
              </a:rPr>
              <a:t>Aluno</a:t>
            </a:r>
            <a:r>
              <a:rPr sz="1300" b="0" i="0">
                <a:solidFill>
                  <a:srgbClr val="3A3A3A"/>
                </a:solidFill>
              </a:rPr>
              <a:t>, </a:t>
            </a:r>
            <a:r>
              <a:rPr sz="1150" b="0" i="0">
                <a:solidFill>
                  <a:srgbClr val="00397B"/>
                </a:solidFill>
                <a:latin typeface="Courier New" pitchFamily="49" charset="0"/>
              </a:rPr>
              <a:t>Disciplina</a:t>
            </a:r>
            <a:r>
              <a:rPr sz="1300" b="0" i="0">
                <a:solidFill>
                  <a:srgbClr val="3A3A3A"/>
                </a:solidFill>
              </a:rPr>
              <a:t> e </a:t>
            </a:r>
            <a:r>
              <a:rPr sz="1150" b="0" i="0">
                <a:solidFill>
                  <a:srgbClr val="00397B"/>
                </a:solidFill>
                <a:latin typeface="Courier New" pitchFamily="49" charset="0"/>
              </a:rPr>
              <a:t>Inscricao</a:t>
            </a:r>
            <a:r>
              <a:rPr sz="1300" b="0" i="0">
                <a:solidFill>
                  <a:srgbClr val="3A3A3A"/>
                </a:solidFill>
              </a:rPr>
              <a:t>, seguindo as docstrings de </a:t>
            </a:r>
            <a:r>
              <a:rPr sz="1150" b="0" i="0">
                <a:solidFill>
                  <a:srgbClr val="00397B"/>
                </a:solidFill>
                <a:latin typeface="Courier New" pitchFamily="49" charset="0"/>
              </a:rPr>
              <a:t>academico/models.py</a:t>
            </a:r>
            <a:r>
              <a:rPr sz="1300" b="0" i="0">
                <a:solidFill>
                  <a:srgbClr val="3A3A3A"/>
                </a:solidFill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" y="3200400"/>
            <a:ext cx="5120640" cy="1261872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97864" y="3383280"/>
            <a:ext cx="457200" cy="45720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944" y="3355848"/>
            <a:ext cx="411480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600" b="1" i="0">
                <a:solidFill>
                  <a:srgbClr val="00397B"/>
                </a:solidFill>
              </a:rPr>
              <a:t>Descomentem o ordering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7944" y="3813048"/>
            <a:ext cx="4114800" cy="62179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E declarem a </a:t>
            </a:r>
            <a:r>
              <a:rPr sz="1150" b="0" i="0">
                <a:solidFill>
                  <a:srgbClr val="00397B"/>
                </a:solidFill>
                <a:latin typeface="Courier New" pitchFamily="49" charset="0"/>
              </a:rPr>
              <a:t>UniqueConstraint</a:t>
            </a:r>
            <a:r>
              <a:rPr sz="1300" b="0" i="0">
                <a:solidFill>
                  <a:srgbClr val="3A3A3A"/>
                </a:solidFill>
              </a:rPr>
              <a:t> no </a:t>
            </a:r>
            <a:r>
              <a:rPr sz="1150" b="0" i="0">
                <a:solidFill>
                  <a:srgbClr val="00397B"/>
                </a:solidFill>
                <a:latin typeface="Courier New" pitchFamily="49" charset="0"/>
              </a:rPr>
              <a:t>Meta</a:t>
            </a:r>
            <a:r>
              <a:rPr sz="1300" b="0" i="0">
                <a:solidFill>
                  <a:srgbClr val="3A3A3A"/>
                </a:solidFill>
              </a:rPr>
              <a:t> da inscrição.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" y="4617720"/>
            <a:ext cx="5120640" cy="1261872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97864" y="4800600"/>
            <a:ext cx="457200" cy="457200"/>
          </a:xfrm>
          <a:prstGeom prst="ellipse">
            <a:avLst/>
          </a:prstGeom>
          <a:solidFill>
            <a:srgbClr val="118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37944" y="4773168"/>
            <a:ext cx="4114800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600" b="1" i="0">
                <a:solidFill>
                  <a:srgbClr val="00397B"/>
                </a:solidFill>
              </a:rPr>
              <a:t>Migrem uma vez só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7944" y="5230368"/>
            <a:ext cx="4114800" cy="621792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300" b="0" i="0">
                <a:solidFill>
                  <a:srgbClr val="3A3A3A"/>
                </a:solidFill>
              </a:rPr>
              <a:t>Uma única migration limpa para os três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83080"/>
            <a:ext cx="4764024" cy="1783080"/>
          </a:xfrm>
          <a:prstGeom prst="roundRect">
            <a:avLst>
              <a:gd name="adj" fmla="val 2500"/>
            </a:avLst>
          </a:prstGeom>
          <a:solidFill>
            <a:srgbClr val="1E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83680" y="19385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784848" y="19385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986016" y="19385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69480" y="1874519"/>
            <a:ext cx="3712464" cy="27432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100" b="0" i="0">
                <a:solidFill>
                  <a:srgbClr val="9AA5B1"/>
                </a:solidFill>
                <a:latin typeface="Courier New" pitchFamily="49" charset="0"/>
              </a:rPr>
              <a:t>terminal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240280"/>
            <a:ext cx="4398264" cy="1234440"/>
          </a:xfrm>
          <a:prstGeom prst="rect">
            <a:avLst/>
          </a:prstGeom>
          <a:noFill/>
        </p:spPr>
        <p:txBody>
          <a:bodyPr wrap="none" lIns="0" tIns="18288" rIns="0" bIns="18288" anchor="t">
            <a:noAutofit/>
          </a:bodyPr>
          <a:lstStyle/>
          <a:p>
            <a:pPr algn="l"/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manage.py makemigrations academico</a:t>
            </a:r>
          </a:p>
          <a:p>
            <a:pPr algn="l"/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manage.py migrate</a:t>
            </a:r>
          </a:p>
          <a:p>
            <a:pPr algn="l"/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manage.py sqlmigrate academico 0001</a:t>
            </a:r>
          </a:p>
          <a:p>
            <a:pPr algn="l"/>
            <a:r>
              <a:rPr sz="1350" b="0" i="0">
                <a:solidFill>
                  <a:srgbClr val="7FD3F0"/>
                </a:solidFill>
                <a:latin typeface="Courier New" pitchFamily="49" charset="0"/>
              </a:rPr>
              <a:t>python</a:t>
            </a:r>
            <a:r>
              <a:rPr sz="1350" b="0" i="0">
                <a:solidFill>
                  <a:srgbClr val="E6EDF3"/>
                </a:solidFill>
                <a:latin typeface="Courier New" pitchFamily="49" charset="0"/>
              </a:rPr>
              <a:t> verificar.py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794760"/>
            <a:ext cx="4764024" cy="2176272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29400" y="40233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check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160520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0" y="4023360"/>
            <a:ext cx="3657600" cy="548640"/>
          </a:xfrm>
          <a:prstGeom prst="rect">
            <a:avLst/>
          </a:prstGeom>
          <a:noFill/>
        </p:spPr>
        <p:txBody>
          <a:bodyPr wrap="square" lIns="0" tIns="18288" rIns="0" bIns="18288" anchor="ctr">
            <a:noAutofit/>
          </a:bodyPr>
          <a:lstStyle/>
          <a:p>
            <a:pPr algn="l"/>
            <a:r>
              <a:rPr sz="1600" b="1" i="0">
                <a:solidFill>
                  <a:srgbClr val="00397B"/>
                </a:solidFill>
              </a:rPr>
              <a:t>Pronto quando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754880"/>
            <a:ext cx="4343400" cy="109728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0" i="0">
                <a:solidFill>
                  <a:srgbClr val="3A3A3A"/>
                </a:solidFill>
              </a:rPr>
              <a:t>o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sqlmigrate</a:t>
            </a:r>
            <a:r>
              <a:rPr sz="1400" b="0" i="0">
                <a:solidFill>
                  <a:srgbClr val="3A3A3A"/>
                </a:solidFill>
              </a:rPr>
              <a:t> mostra as três tabelas e o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verificar.py</a:t>
            </a:r>
            <a:r>
              <a:rPr sz="1400" b="0" i="0">
                <a:solidFill>
                  <a:srgbClr val="3A3A3A"/>
                </a:solidFill>
              </a:rPr>
              <a:t> passa nos testes de modelo.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Se der errado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14984" y="1783080"/>
          <a:ext cx="1014984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Mensagem</a:t>
                      </a:r>
                    </a:p>
                  </a:txBody>
                  <a:tcPr marL="128016" marR="128016" marT="36576" marB="36576" anchor="ctr"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O que fazer</a:t>
                      </a:r>
                    </a:p>
                  </a:txBody>
                  <a:tcPr marL="128016" marR="128016" marT="36576" marB="36576" anchor="ctr">
                    <a:solidFill>
                      <a:srgbClr val="0039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No module named 'django'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Ative o </a:t>
                      </a:r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.venv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 (passo 1 da prática).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python não é reconhecido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Reinstale o Python marcando "Add python.exe to PATH".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execução de scripts foi desabilitada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Set-ExecutionPolicy RemoteSigned -Scope CurrentUser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That port is already in use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python manage.py runserver 8001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no such table: aluno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Faltou </a:t>
                      </a:r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makemigrations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 e </a:t>
                      </a:r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migrate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 dos TODOs 1 a 3.</a:t>
                      </a:r>
                    </a:p>
                  </a:txBody>
                  <a:tcPr marL="128016" marR="12801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Quero recomeçar do zero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Apague o </a:t>
                      </a:r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escola.sqlite3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 e rode </a:t>
                      </a:r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migrate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 e </a:t>
                      </a:r>
                      <a:r>
                        <a:rPr sz="1250" b="0" i="0">
                          <a:solidFill>
                            <a:srgbClr val="00397B"/>
                          </a:solidFill>
                          <a:latin typeface="Courier New" pitchFamily="49" charset="0"/>
                        </a:rPr>
                        <a:t>seed_demo</a:t>
                      </a:r>
                      <a:r>
                        <a:rPr sz="1400" b="0" i="0">
                          <a:solidFill>
                            <a:srgbClr val="3A3A3A"/>
                          </a:solidFill>
                        </a:rPr>
                        <a:t>.</a:t>
                      </a:r>
                    </a:p>
                  </a:txBody>
                  <a:tcPr marL="128016" marR="128016" marT="36576" marB="36576" anchor="ctr">
                    <a:solidFill>
                      <a:srgbClr val="E3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14984" y="5577840"/>
            <a:ext cx="1014984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400" b="1" i="0">
                <a:solidFill>
                  <a:srgbClr val="00397B"/>
                </a:solidFill>
              </a:rPr>
              <a:t>Lista completa: </a:t>
            </a:r>
            <a:r>
              <a:rPr sz="1250" b="0" i="0">
                <a:solidFill>
                  <a:srgbClr val="00397B"/>
                </a:solidFill>
                <a:latin typeface="Courier New" pitchFamily="49" charset="0"/>
              </a:rPr>
              <a:t>material/09-erros-comuns.md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Para o próximo encontro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828800"/>
            <a:ext cx="3200400" cy="31089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289304" y="21488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book-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474" y="2366010"/>
            <a:ext cx="434340" cy="4343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9304" y="3200400"/>
            <a:ext cx="269748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900" b="1" i="0">
                <a:solidFill>
                  <a:srgbClr val="00397B"/>
                </a:solidFill>
              </a:rPr>
              <a:t>Leitura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9304" y="3749039"/>
            <a:ext cx="2697480" cy="14630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Textos 02 (models), 03 (ORM) e 04 (forms) da pasta </a:t>
            </a:r>
            <a:r>
              <a:rPr sz="1350" b="0" i="0">
                <a:solidFill>
                  <a:srgbClr val="00397B"/>
                </a:solidFill>
                <a:latin typeface="Courier New" pitchFamily="49" charset="0"/>
              </a:rPr>
              <a:t>material/</a:t>
            </a:r>
            <a:r>
              <a:rPr sz="1500" b="0" i="0">
                <a:solidFill>
                  <a:srgbClr val="3A3A3A"/>
                </a:solidFill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9704" y="1828800"/>
            <a:ext cx="3200400" cy="31089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764024" y="21488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tasks-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194" y="2366010"/>
            <a:ext cx="434340" cy="4343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64024" y="3200400"/>
            <a:ext cx="269748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900" b="1" i="0">
                <a:solidFill>
                  <a:srgbClr val="00397B"/>
                </a:solidFill>
              </a:rPr>
              <a:t>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3749039"/>
            <a:ext cx="2697480" cy="14630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Fechar os TODOs 1 a 3 e começar os formulários (4 a 6).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4423" y="1828800"/>
            <a:ext cx="3200400" cy="3108960"/>
          </a:xfrm>
          <a:prstGeom prst="roundRect">
            <a:avLst>
              <a:gd name="adj" fmla="val 3500"/>
            </a:avLst>
          </a:prstGeom>
          <a:solidFill>
            <a:srgbClr val="E3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38744" y="2148840"/>
            <a:ext cx="868680" cy="8686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users-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914" y="2366010"/>
            <a:ext cx="434340" cy="4343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38744" y="3200400"/>
            <a:ext cx="2697480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900" b="1" i="0">
                <a:solidFill>
                  <a:srgbClr val="00397B"/>
                </a:solidFill>
              </a:rPr>
              <a:t>Grupo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3749039"/>
            <a:ext cx="2697480" cy="1463040"/>
          </a:xfrm>
          <a:prstGeom prst="rect">
            <a:avLst/>
          </a:prstGeom>
          <a:noFill/>
        </p:spPr>
        <p:txBody>
          <a:bodyPr wrap="square" lIns="0" tIns="18288" rIns="0" bIns="18288" anchor="t">
            <a:noAutofit/>
          </a:bodyPr>
          <a:lstStyle/>
          <a:p>
            <a:pPr algn="l"/>
            <a:r>
              <a:rPr sz="1500" b="0" i="0">
                <a:solidFill>
                  <a:srgbClr val="3A3A3A"/>
                </a:solidFill>
              </a:rPr>
              <a:t>Dividir o CRUD de aluno (TODOs 7 a 9): é o bloco que mais vale.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Resposta: decisão ou repetição?</a:t>
            </a:r>
          </a:p>
        </p:txBody>
      </p:sp>
      <p:sp>
        <p:nvSpPr>
          <p:cNvPr id="9001" name="codigo fundo"/>
          <p:cNvSpPr/>
          <p:nvPr/>
        </p:nvSpPr>
        <p:spPr>
          <a:xfrm>
            <a:off x="1014984" y="1783080"/>
            <a:ext cx="5394960" cy="3657600"/>
          </a:xfrm>
          <a:prstGeom prst="roundRect">
            <a:avLst>
              <a:gd name="adj" fmla="val 4651"/>
            </a:avLst>
          </a:prstGeom>
          <a:solidFill>
            <a:srgbClr val="1E2433"/>
          </a:solidFill>
          <a:ln>
            <a:noFill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002" name="forma"/>
          <p:cNvSpPr/>
          <p:nvPr/>
        </p:nvSpPr>
        <p:spPr>
          <a:xfrm>
            <a:off x="1228954" y="193761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003" name="forma"/>
          <p:cNvSpPr/>
          <p:nvPr/>
        </p:nvSpPr>
        <p:spPr>
          <a:xfrm>
            <a:off x="1419149" y="193761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004" name="forma"/>
          <p:cNvSpPr/>
          <p:nvPr/>
        </p:nvSpPr>
        <p:spPr>
          <a:xfrm>
            <a:off x="1609344" y="193761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005" name="codigo rotulo"/>
          <p:cNvSpPr txBox="1"/>
          <p:nvPr/>
        </p:nvSpPr>
        <p:spPr>
          <a:xfrm>
            <a:off x="1870862" y="1854403"/>
            <a:ext cx="4325112" cy="28529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pt-BR" sz="1150" dirty="0">
                <a:solidFill>
                  <a:srgbClr val="8B949E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entrega1/crud_aluno.py</a:t>
            </a:r>
            <a:endParaRPr lang="pt-BR" sz="900" dirty="0"/>
          </a:p>
        </p:txBody>
      </p:sp>
      <p:sp>
        <p:nvSpPr>
          <p:cNvPr id="9006" name="codigo texto"/>
          <p:cNvSpPr txBox="1"/>
          <p:nvPr/>
        </p:nvSpPr>
        <p:spPr>
          <a:xfrm>
            <a:off x="1300277" y="2282342"/>
            <a:ext cx="4919472" cy="306324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1500" dirty="0">
                <a:solidFill>
                  <a:srgbClr val="6E7681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import sqlite3</a:t>
            </a:r>
            <a:endParaRPr lang="pt-BR" sz="1500" dirty="0"/>
          </a:p>
          <a:p>
            <a:pPr marL="0" indent="0">
              <a:buNone/>
            </a:pPr>
            <a:endParaRPr lang="pt-BR" sz="1500" dirty="0"/>
          </a:p>
          <a:p>
            <a:pPr marL="0" indent="0">
              <a:buNone/>
            </a:pPr>
            <a:r>
              <a:rPr lang="pt-BR" sz="1500" dirty="0">
                <a:solidFill>
                  <a:srgbClr val="6E7681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conexao = sqlite3.connect("escola.db")</a:t>
            </a:r>
            <a:endParaRPr lang="pt-BR" sz="1500" dirty="0"/>
          </a:p>
          <a:p>
            <a:pPr marL="0" indent="0">
              <a:buNone/>
            </a:pPr>
            <a:r>
              <a:rPr lang="pt-BR" sz="1500" dirty="0">
                <a:solidFill>
                  <a:srgbClr val="6E7681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conexao.execute("PRAGMA foreign_keys = ON")</a:t>
            </a:r>
            <a:endParaRPr lang="pt-BR" sz="1500" dirty="0"/>
          </a:p>
          <a:p>
            <a:pPr marL="0" indent="0">
              <a:buNone/>
            </a:pPr>
            <a:r>
              <a:rPr lang="pt-BR" sz="1500" dirty="0">
                <a:solidFill>
                  <a:srgbClr val="6E7681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cursor = conexao.cursor()</a:t>
            </a:r>
            <a:endParaRPr lang="pt-BR" sz="1500" dirty="0"/>
          </a:p>
          <a:p>
            <a:pPr marL="0" indent="0">
              <a:buNone/>
            </a:pPr>
            <a:r>
              <a:rPr lang="pt-BR" sz="1500" dirty="0">
                <a:solidFill>
                  <a:srgbClr val="6E7681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cursor.execute(</a:t>
            </a:r>
            <a:endParaRPr lang="pt-BR" sz="1500" dirty="0"/>
          </a:p>
          <a:p>
            <a:pPr marL="0" indent="0">
              <a:buNone/>
            </a:pPr>
            <a:r>
              <a:rPr lang="pt-BR" sz="1500" dirty="0">
                <a:solidFill>
                  <a:srgbClr val="6E7681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   "INSERT INTO </a:t>
            </a:r>
            <a:r>
              <a:rPr lang="pt-BR" sz="1500" b="1" dirty="0">
                <a:solidFill>
                  <a:srgbClr val="7EE787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aluno (matricula, nome)</a:t>
            </a:r>
            <a:r>
              <a:rPr lang="pt-BR" sz="1500" dirty="0">
                <a:solidFill>
                  <a:srgbClr val="6E7681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"</a:t>
            </a:r>
            <a:endParaRPr lang="pt-BR" sz="1500" dirty="0"/>
          </a:p>
          <a:p>
            <a:pPr marL="0" indent="0">
              <a:buNone/>
            </a:pPr>
            <a:r>
              <a:rPr lang="pt-BR" sz="1500" dirty="0">
                <a:solidFill>
                  <a:srgbClr val="6E7681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   "VALUES (?, ?)",</a:t>
            </a:r>
            <a:endParaRPr lang="pt-BR" sz="1500" dirty="0"/>
          </a:p>
          <a:p>
            <a:pPr marL="0" indent="0">
              <a:buNone/>
            </a:pPr>
            <a:r>
              <a:rPr lang="pt-BR" sz="1500" dirty="0">
                <a:solidFill>
                  <a:srgbClr val="6E7681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   </a:t>
            </a:r>
            <a:r>
              <a:rPr lang="pt-BR" sz="1500" b="1" dirty="0">
                <a:solidFill>
                  <a:srgbClr val="7EE787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(matricula, nome)</a:t>
            </a:r>
            <a:r>
              <a:rPr lang="pt-BR" sz="1500" dirty="0">
                <a:solidFill>
                  <a:srgbClr val="6E7681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,</a:t>
            </a:r>
            <a:endParaRPr lang="pt-BR" sz="1500" dirty="0"/>
          </a:p>
          <a:p>
            <a:pPr marL="0" indent="0">
              <a:buNone/>
            </a:pPr>
            <a:r>
              <a:rPr lang="pt-BR" sz="1500" dirty="0">
                <a:solidFill>
                  <a:srgbClr val="6E7681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)</a:t>
            </a:r>
            <a:endParaRPr lang="pt-BR" sz="1500" dirty="0"/>
          </a:p>
          <a:p>
            <a:pPr marL="0" indent="0">
              <a:buNone/>
            </a:pPr>
            <a:r>
              <a:rPr lang="pt-BR" sz="1500" dirty="0">
                <a:solidFill>
                  <a:srgbClr val="6E7681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conexao.commit()</a:t>
            </a:r>
            <a:endParaRPr lang="pt-BR" sz="1500" dirty="0"/>
          </a:p>
          <a:p>
            <a:pPr marL="0" indent="0">
              <a:buNone/>
            </a:pPr>
            <a:r>
              <a:rPr lang="pt-BR" sz="1500" dirty="0">
                <a:solidFill>
                  <a:srgbClr val="6E7681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conexao.close()</a:t>
            </a:r>
            <a:endParaRPr lang="pt-BR" sz="1500" dirty="0"/>
          </a:p>
        </p:txBody>
      </p:sp>
      <p:sp>
        <p:nvSpPr>
          <p:cNvPr id="9007" name="painel"/>
          <p:cNvSpPr/>
          <p:nvPr/>
        </p:nvSpPr>
        <p:spPr>
          <a:xfrm>
            <a:off x="6720840" y="1783080"/>
            <a:ext cx="4443984" cy="1737360"/>
          </a:xfrm>
          <a:prstGeom prst="roundRect">
            <a:avLst>
              <a:gd name="adj" fmla="val 4651"/>
            </a:avLst>
          </a:prstGeom>
          <a:solidFill>
            <a:srgbClr val="E3EFF1"/>
          </a:solidFill>
          <a:ln>
            <a:noFill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008" name="texto"/>
          <p:cNvSpPr txBox="1"/>
          <p:nvPr/>
        </p:nvSpPr>
        <p:spPr>
          <a:xfrm>
            <a:off x="6995160" y="2002536"/>
            <a:ext cx="3895344" cy="1298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00397B"/>
                </a:solidFill>
              </a:rPr>
              <a:t>Decisão de vocês (em verde)</a:t>
            </a:r>
            <a:endParaRPr lang="pt-BR" sz="1800" dirty="0"/>
          </a:p>
          <a:p>
            <a:pPr marL="0" indent="0">
              <a:spcAft>
                <a:spcPts val="600"/>
              </a:spcAft>
              <a:buNone/>
            </a:pPr>
            <a:r>
              <a:rPr lang="pt-BR" sz="1500" dirty="0">
                <a:solidFill>
                  <a:srgbClr val="3A3A3A"/>
                </a:solidFill>
              </a:rPr>
              <a:t>A tabela, as colunas e os valores que entram. E as regras: o que é obrigatório e o que não pode repetir.</a:t>
            </a:r>
            <a:endParaRPr lang="pt-BR" sz="1500" dirty="0"/>
          </a:p>
        </p:txBody>
      </p:sp>
      <p:sp>
        <p:nvSpPr>
          <p:cNvPr id="9009" name="painel"/>
          <p:cNvSpPr/>
          <p:nvPr/>
        </p:nvSpPr>
        <p:spPr>
          <a:xfrm>
            <a:off x="6720840" y="3703320"/>
            <a:ext cx="4443984" cy="1737360"/>
          </a:xfrm>
          <a:prstGeom prst="roundRect">
            <a:avLst>
              <a:gd name="adj" fmla="val 4651"/>
            </a:avLst>
          </a:prstGeom>
          <a:solidFill>
            <a:srgbClr val="E3EFF1"/>
          </a:solidFill>
          <a:ln>
            <a:noFill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010" name="texto"/>
          <p:cNvSpPr txBox="1"/>
          <p:nvPr/>
        </p:nvSpPr>
        <p:spPr>
          <a:xfrm>
            <a:off x="6995160" y="3922776"/>
            <a:ext cx="3895344" cy="1298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00397B"/>
                </a:solidFill>
              </a:rPr>
              <a:t>Repetição (em cinza)</a:t>
            </a:r>
            <a:endParaRPr lang="pt-BR" sz="1800" dirty="0"/>
          </a:p>
          <a:p>
            <a:pPr marL="0" indent="0">
              <a:spcAft>
                <a:spcPts val="600"/>
              </a:spcAft>
              <a:buNone/>
            </a:pPr>
            <a:r>
              <a:rPr lang="pt-BR" sz="1300" dirty="0">
                <a:solidFill>
                  <a:srgbClr val="00397B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connect</a:t>
            </a:r>
            <a:r>
              <a:rPr lang="pt-BR" sz="1500" dirty="0">
                <a:solidFill>
                  <a:srgbClr val="3A3A3A"/>
                </a:solidFill>
              </a:rPr>
              <a:t xml:space="preserve">, </a:t>
            </a:r>
            <a:r>
              <a:rPr lang="pt-BR" sz="1300" dirty="0">
                <a:solidFill>
                  <a:srgbClr val="00397B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PRAGMA</a:t>
            </a:r>
            <a:r>
              <a:rPr lang="pt-BR" sz="1500" dirty="0">
                <a:solidFill>
                  <a:srgbClr val="3A3A3A"/>
                </a:solidFill>
              </a:rPr>
              <a:t xml:space="preserve">, </a:t>
            </a:r>
            <a:r>
              <a:rPr lang="pt-BR" sz="1300" dirty="0">
                <a:solidFill>
                  <a:srgbClr val="00397B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cursor</a:t>
            </a:r>
            <a:r>
              <a:rPr lang="pt-BR" sz="1500" dirty="0">
                <a:solidFill>
                  <a:srgbClr val="3A3A3A"/>
                </a:solidFill>
              </a:rPr>
              <a:t xml:space="preserve">, </a:t>
            </a:r>
            <a:r>
              <a:rPr lang="pt-BR" sz="1300" dirty="0">
                <a:solidFill>
                  <a:srgbClr val="00397B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execute</a:t>
            </a:r>
            <a:r>
              <a:rPr lang="pt-BR" sz="1500" dirty="0">
                <a:solidFill>
                  <a:srgbClr val="3A3A3A"/>
                </a:solidFill>
              </a:rPr>
              <a:t xml:space="preserve"> com </a:t>
            </a:r>
            <a:r>
              <a:rPr lang="pt-BR" sz="1300" dirty="0">
                <a:solidFill>
                  <a:srgbClr val="00397B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?</a:t>
            </a:r>
            <a:r>
              <a:rPr lang="pt-BR" sz="1500" dirty="0">
                <a:solidFill>
                  <a:srgbClr val="3A3A3A"/>
                </a:solidFill>
              </a:rPr>
              <a:t xml:space="preserve">, </a:t>
            </a:r>
            <a:r>
              <a:rPr lang="pt-BR" sz="1300" dirty="0">
                <a:solidFill>
                  <a:srgbClr val="00397B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commit</a:t>
            </a:r>
            <a:r>
              <a:rPr lang="pt-BR" sz="1500" dirty="0">
                <a:solidFill>
                  <a:srgbClr val="3A3A3A"/>
                </a:solidFill>
              </a:rPr>
              <a:t xml:space="preserve"> e </a:t>
            </a:r>
            <a:r>
              <a:rPr lang="pt-BR" sz="1300" dirty="0">
                <a:solidFill>
                  <a:srgbClr val="00397B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close</a:t>
            </a:r>
            <a:r>
              <a:rPr lang="pt-BR" sz="1500" dirty="0">
                <a:solidFill>
                  <a:srgbClr val="3A3A3A"/>
                </a:solidFill>
              </a:rPr>
              <a:t>: a mesma cerimônia em toda função. É ela que o Django assume.</a:t>
            </a:r>
            <a:endParaRPr lang="pt-BR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Resposta: 403 ou login?</a:t>
            </a:r>
          </a:p>
        </p:txBody>
      </p:sp>
      <p:sp>
        <p:nvSpPr>
          <p:cNvPr id="9011" name="painel"/>
          <p:cNvSpPr/>
          <p:nvPr/>
        </p:nvSpPr>
        <p:spPr>
          <a:xfrm>
            <a:off x="1014984" y="1783080"/>
            <a:ext cx="4983480" cy="2103120"/>
          </a:xfrm>
          <a:prstGeom prst="roundRect">
            <a:avLst>
              <a:gd name="adj" fmla="val 4651"/>
            </a:avLst>
          </a:prstGeom>
          <a:solidFill>
            <a:srgbClr val="E3EFF1"/>
          </a:solidFill>
          <a:ln>
            <a:noFill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012" name="texto"/>
          <p:cNvSpPr txBox="1"/>
          <p:nvPr/>
        </p:nvSpPr>
        <p:spPr>
          <a:xfrm>
            <a:off x="1289304" y="2002536"/>
            <a:ext cx="4434840" cy="1664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00397B"/>
                </a:solidFill>
              </a:rPr>
              <a:t>Login: “não sei quem você é”</a:t>
            </a:r>
            <a:endParaRPr lang="pt-BR" sz="1800" dirty="0"/>
          </a:p>
          <a:p>
            <a:pPr marL="0" indent="0">
              <a:spcAft>
                <a:spcPts val="600"/>
              </a:spcAft>
              <a:buNone/>
            </a:pPr>
            <a:r>
              <a:rPr lang="pt-BR" sz="1500" dirty="0">
                <a:solidFill>
                  <a:srgbClr val="3A3A3A"/>
                </a:solidFill>
              </a:rPr>
              <a:t>Visitante sem sessão. O decorator manda para a tela de login e guarda para onde ele queria ir.</a:t>
            </a:r>
            <a:endParaRPr lang="pt-BR" sz="1500" dirty="0"/>
          </a:p>
        </p:txBody>
      </p:sp>
      <p:sp>
        <p:nvSpPr>
          <p:cNvPr id="9013" name="painel"/>
          <p:cNvSpPr/>
          <p:nvPr/>
        </p:nvSpPr>
        <p:spPr>
          <a:xfrm>
            <a:off x="6181344" y="1783080"/>
            <a:ext cx="4983480" cy="2103120"/>
          </a:xfrm>
          <a:prstGeom prst="roundRect">
            <a:avLst>
              <a:gd name="adj" fmla="val 4651"/>
            </a:avLst>
          </a:prstGeom>
          <a:solidFill>
            <a:srgbClr val="E3EFF1"/>
          </a:solidFill>
          <a:ln>
            <a:noFill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014" name="texto"/>
          <p:cNvSpPr txBox="1"/>
          <p:nvPr/>
        </p:nvSpPr>
        <p:spPr>
          <a:xfrm>
            <a:off x="6455664" y="2002536"/>
            <a:ext cx="4434840" cy="1664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00397B"/>
                </a:solidFill>
              </a:rPr>
              <a:t>403: “sei quem você é, e você não pode”</a:t>
            </a:r>
            <a:endParaRPr lang="pt-BR" sz="1800" dirty="0"/>
          </a:p>
          <a:p>
            <a:pPr marL="0" indent="0">
              <a:spcAft>
                <a:spcPts val="600"/>
              </a:spcAft>
              <a:buNone/>
            </a:pPr>
            <a:r>
              <a:rPr lang="pt-BR" sz="1500" dirty="0">
                <a:solidFill>
                  <a:srgbClr val="3A3A3A"/>
                </a:solidFill>
              </a:rPr>
              <a:t>Professor logado, sem perfil de coordenação. Mandá-lo ao login não adianta: ele entra de novo e cai na mesma tela, num loop.</a:t>
            </a:r>
            <a:endParaRPr lang="pt-BR" sz="1500" dirty="0"/>
          </a:p>
        </p:txBody>
      </p:sp>
      <p:sp>
        <p:nvSpPr>
          <p:cNvPr id="9015" name="codigo fundo"/>
          <p:cNvSpPr/>
          <p:nvPr/>
        </p:nvSpPr>
        <p:spPr>
          <a:xfrm>
            <a:off x="1014984" y="4069080"/>
            <a:ext cx="10149840" cy="1508760"/>
          </a:xfrm>
          <a:prstGeom prst="roundRect">
            <a:avLst>
              <a:gd name="adj" fmla="val 4651"/>
            </a:avLst>
          </a:prstGeom>
          <a:solidFill>
            <a:srgbClr val="1E2433"/>
          </a:solidFill>
          <a:ln>
            <a:noFill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016" name="forma"/>
          <p:cNvSpPr/>
          <p:nvPr/>
        </p:nvSpPr>
        <p:spPr>
          <a:xfrm>
            <a:off x="1228954" y="4223614"/>
            <a:ext cx="118872" cy="118872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017" name="forma"/>
          <p:cNvSpPr/>
          <p:nvPr/>
        </p:nvSpPr>
        <p:spPr>
          <a:xfrm>
            <a:off x="1419149" y="4223614"/>
            <a:ext cx="118872" cy="118872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018" name="forma"/>
          <p:cNvSpPr/>
          <p:nvPr/>
        </p:nvSpPr>
        <p:spPr>
          <a:xfrm>
            <a:off x="1609344" y="4223614"/>
            <a:ext cx="118872" cy="118872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019" name="codigo rotulo"/>
          <p:cNvSpPr txBox="1"/>
          <p:nvPr/>
        </p:nvSpPr>
        <p:spPr>
          <a:xfrm>
            <a:off x="1870862" y="4140403"/>
            <a:ext cx="9079992" cy="28529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pt-BR" sz="1150" dirty="0">
                <a:solidFill>
                  <a:srgbClr val="8B949E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contas/decorators.py · resumido</a:t>
            </a:r>
            <a:endParaRPr lang="pt-BR" sz="900" dirty="0"/>
          </a:p>
        </p:txBody>
      </p:sp>
      <p:sp>
        <p:nvSpPr>
          <p:cNvPr id="9020" name="codigo texto"/>
          <p:cNvSpPr txBox="1"/>
          <p:nvPr/>
        </p:nvSpPr>
        <p:spPr>
          <a:xfrm>
            <a:off x="1300277" y="4568342"/>
            <a:ext cx="9674352" cy="914400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pt-BR" sz="1300" dirty="0">
                <a:solidFill>
                  <a:srgbClr val="7DCFFF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if</a:t>
            </a:r>
            <a:r>
              <a:rPr lang="pt-BR" sz="1300" dirty="0">
                <a:solidFill>
                  <a:srgbClr val="E6EDF3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</a:t>
            </a:r>
            <a:r>
              <a:rPr lang="pt-BR" sz="1300" dirty="0">
                <a:solidFill>
                  <a:srgbClr val="7DCFFF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not</a:t>
            </a:r>
            <a:r>
              <a:rPr lang="pt-BR" sz="1300" dirty="0">
                <a:solidFill>
                  <a:srgbClr val="E6EDF3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request.user.is_authenticated:</a:t>
            </a:r>
            <a:endParaRPr lang="pt-BR" sz="1300" dirty="0"/>
          </a:p>
          <a:p>
            <a:pPr marL="0" indent="0">
              <a:buNone/>
            </a:pPr>
            <a:r>
              <a:rPr lang="pt-BR" sz="1300" dirty="0">
                <a:solidFill>
                  <a:srgbClr val="E6EDF3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   </a:t>
            </a:r>
            <a:r>
              <a:rPr lang="pt-BR" sz="1300" dirty="0">
                <a:solidFill>
                  <a:srgbClr val="7DCFFF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return</a:t>
            </a:r>
            <a:r>
              <a:rPr lang="pt-BR" sz="1300" dirty="0">
                <a:solidFill>
                  <a:srgbClr val="E6EDF3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redirect_to_login(request.get_full_path())</a:t>
            </a:r>
            <a:r>
              <a:rPr lang="pt-BR" sz="1300" i="1" dirty="0">
                <a:solidFill>
                  <a:srgbClr val="8B949E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  # login</a:t>
            </a:r>
            <a:endParaRPr lang="pt-BR" sz="1300" dirty="0"/>
          </a:p>
          <a:p>
            <a:pPr marL="0" indent="0">
              <a:buNone/>
            </a:pPr>
            <a:r>
              <a:rPr lang="pt-BR" sz="1300" dirty="0">
                <a:solidFill>
                  <a:srgbClr val="7DCFFF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if</a:t>
            </a:r>
            <a:r>
              <a:rPr lang="pt-BR" sz="1300" dirty="0">
                <a:solidFill>
                  <a:srgbClr val="E6EDF3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</a:t>
            </a:r>
            <a:r>
              <a:rPr lang="pt-BR" sz="1300" dirty="0">
                <a:solidFill>
                  <a:srgbClr val="7DCFFF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not</a:t>
            </a:r>
            <a:r>
              <a:rPr lang="pt-BR" sz="1300" dirty="0">
                <a:solidFill>
                  <a:srgbClr val="E6EDF3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request.user.eh_coordenacao:</a:t>
            </a:r>
            <a:endParaRPr lang="pt-BR" sz="1300" dirty="0"/>
          </a:p>
          <a:p>
            <a:pPr marL="0" indent="0">
              <a:buNone/>
            </a:pPr>
            <a:r>
              <a:rPr lang="pt-BR" sz="1300" dirty="0">
                <a:solidFill>
                  <a:srgbClr val="E6EDF3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   </a:t>
            </a:r>
            <a:r>
              <a:rPr lang="pt-BR" sz="1300" dirty="0">
                <a:solidFill>
                  <a:srgbClr val="7DCFFF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raise</a:t>
            </a:r>
            <a:r>
              <a:rPr lang="pt-BR" sz="1300" dirty="0">
                <a:solidFill>
                  <a:srgbClr val="E6EDF3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PermissionDenied(</a:t>
            </a:r>
            <a:r>
              <a:rPr lang="pt-BR" sz="1300" dirty="0">
                <a:solidFill>
                  <a:srgbClr val="F0C674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"Acesso restrito a coordenacao."</a:t>
            </a:r>
            <a:r>
              <a:rPr lang="pt-BR" sz="1300" dirty="0">
                <a:solidFill>
                  <a:srgbClr val="E6EDF3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>)</a:t>
            </a:r>
            <a:r>
              <a:rPr lang="pt-BR" sz="1300" i="1" dirty="0">
                <a:solidFill>
                  <a:srgbClr val="8B949E"/>
                </a:solidFill>
                <a:latin typeface="Courier New" pitchFamily="49" charset="0"/>
                <a:ea typeface="Courier New" pitchFamily="49" charset="0"/>
                <a:cs typeface="Courier New" pitchFamily="49" charset="0"/>
              </a:rPr>
              <a:t xml:space="preserve">   # 403</a:t>
            </a:r>
            <a:endParaRPr lang="pt-B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urquoise">
      <a:dk1>
        <a:srgbClr val="00397B"/>
      </a:dk1>
      <a:lt1>
        <a:sysClr val="window" lastClr="FFFFFF"/>
      </a:lt1>
      <a:dk2>
        <a:srgbClr val="1185AA"/>
      </a:dk2>
      <a:lt2>
        <a:srgbClr val="E7E6E6"/>
      </a:lt2>
      <a:accent1>
        <a:srgbClr val="54C8E1"/>
      </a:accent1>
      <a:accent2>
        <a:srgbClr val="9FE8ED"/>
      </a:accent2>
      <a:accent3>
        <a:srgbClr val="E3EFF1"/>
      </a:accent3>
      <a:accent4>
        <a:srgbClr val="F6F8F9"/>
      </a:accent4>
      <a:accent5>
        <a:srgbClr val="892900"/>
      </a:accent5>
      <a:accent6>
        <a:srgbClr val="D06110"/>
      </a:accent6>
      <a:hlink>
        <a:srgbClr val="FFD5BD"/>
      </a:hlink>
      <a:folHlink>
        <a:srgbClr val="FCBCA1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9C68FFAA6024E4FBE5245EFE14C3298" ma:contentTypeVersion="6" ma:contentTypeDescription="Crie um novo documento." ma:contentTypeScope="" ma:versionID="c2f01723a21f77ea3ba6882863f8787d">
  <xsd:schema xmlns:xsd="http://www.w3.org/2001/XMLSchema" xmlns:xs="http://www.w3.org/2001/XMLSchema" xmlns:p="http://schemas.microsoft.com/office/2006/metadata/properties" xmlns:ns2="aba8cfd3-0e2a-498b-9936-afff2b0b9a35" xmlns:ns3="fa6369a1-fbee-4d60-a0aa-f62bc4a54af7" targetNamespace="http://schemas.microsoft.com/office/2006/metadata/properties" ma:root="true" ma:fieldsID="b3947502280aa2c81f14f7fcd9e17c8f" ns2:_="" ns3:_="">
    <xsd:import namespace="aba8cfd3-0e2a-498b-9936-afff2b0b9a35"/>
    <xsd:import namespace="fa6369a1-fbee-4d60-a0aa-f62bc4a54af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a8cfd3-0e2a-498b-9936-afff2b0b9a3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6369a1-fbee-4d60-a0aa-f62bc4a54a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716B6D-9707-4BF3-AF6B-25E2692F3F1C}">
  <ds:schemaRefs>
    <ds:schemaRef ds:uri="http://www.w3.org/XML/1998/namespace"/>
    <ds:schemaRef ds:uri="http://schemas.microsoft.com/office/2006/documentManagement/types"/>
    <ds:schemaRef ds:uri="http://purl.org/dc/terms/"/>
    <ds:schemaRef ds:uri="b017d371-911f-4fdd-abca-ea8ff9772a96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6ffe2548-0475-49cc-9e90-f51d36b700ed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FD83E13-AC61-4D64-A181-537F08F08D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F1BADD-6D89-492D-BFAC-31183C6EC3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a8cfd3-0e2a-498b-9936-afff2b0b9a35"/>
    <ds:schemaRef ds:uri="fa6369a1-fbee-4d60-a0aa-f62bc4a54a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599</TotalTime>
  <Words>6619</Words>
  <Application>Microsoft Office PowerPoint</Application>
  <PresentationFormat>Ecrã Panorâmico</PresentationFormat>
  <Paragraphs>690</Paragraphs>
  <Slides>29</Slides>
  <Notes>29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Ramany Domingos Oliveira</dc:creator>
  <cp:lastModifiedBy>Max William Alves</cp:lastModifiedBy>
  <cp:revision>14</cp:revision>
  <dcterms:created xsi:type="dcterms:W3CDTF">2023-06-20T11:30:28Z</dcterms:created>
  <dcterms:modified xsi:type="dcterms:W3CDTF">2026-10-16T01:57:56Z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0x01010009C68FFAA6024E4FBE5245EFE14C3298</vt:lpwstr>
  </property>
  <property fmtid="{D5CDD505-2E9C-101B-9397-08002B2CF9AE}" pid="3" name="MediaServiceImageTags">
    <vt:lpwstr/>
  </property>
</Properties>
</file>